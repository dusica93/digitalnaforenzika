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omments/comment1.xml" ContentType="application/vnd.openxmlformats-officedocument.presentationml.comments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3"/>
  </p:notesMasterIdLst>
  <p:sldIdLst>
    <p:sldId id="256" r:id="rId2"/>
    <p:sldId id="258" r:id="rId3"/>
    <p:sldId id="259" r:id="rId4"/>
    <p:sldId id="281" r:id="rId5"/>
    <p:sldId id="261" r:id="rId6"/>
    <p:sldId id="283" r:id="rId7"/>
    <p:sldId id="284" r:id="rId8"/>
    <p:sldId id="262" r:id="rId9"/>
    <p:sldId id="264" r:id="rId10"/>
    <p:sldId id="285" r:id="rId11"/>
    <p:sldId id="286" r:id="rId12"/>
    <p:sldId id="278" r:id="rId13"/>
    <p:sldId id="273" r:id="rId14"/>
    <p:sldId id="287" r:id="rId15"/>
    <p:sldId id="288" r:id="rId16"/>
    <p:sldId id="268" r:id="rId17"/>
    <p:sldId id="289" r:id="rId18"/>
    <p:sldId id="290" r:id="rId19"/>
    <p:sldId id="279" r:id="rId20"/>
    <p:sldId id="270" r:id="rId21"/>
    <p:sldId id="280" r:id="rId2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Dusica Milanovic" initials="DM" lastIdx="1" clrIdx="0">
    <p:extLst>
      <p:ext uri="{19B8F6BF-5375-455C-9EA6-DF929625EA0E}">
        <p15:presenceInfo xmlns:p15="http://schemas.microsoft.com/office/powerpoint/2012/main" userId="S-1-5-21-4059487225-3364380010-2372780548-7774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67953" autoAdjust="0"/>
  </p:normalViewPr>
  <p:slideViewPr>
    <p:cSldViewPr snapToGrid="0">
      <p:cViewPr varScale="1">
        <p:scale>
          <a:sx n="58" d="100"/>
          <a:sy n="58" d="100"/>
        </p:scale>
        <p:origin x="1618" y="3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0-03-22T20:03:32.143" idx="1">
    <p:pos x="10" y="10"/>
    <p:text/>
    <p:extLst>
      <p:ext uri="{C676402C-5697-4E1C-873F-D02D1690AC5C}">
        <p15:threadingInfo xmlns:p15="http://schemas.microsoft.com/office/powerpoint/2012/main" timeZoneBias="-60"/>
      </p:ext>
    </p:extLst>
  </p:cm>
</p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2FB4F46-507B-41FF-8F20-C4458D4DADAE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DB28AC9-BAD4-472A-9095-C606D319C3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06220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28AC9-BAD4-472A-9095-C606D319C324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724036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Tema mog </a:t>
            </a:r>
            <a:r>
              <a:rPr lang="en-US" dirty="0" err="1"/>
              <a:t>seminarskog</a:t>
            </a:r>
            <a:r>
              <a:rPr lang="en-US" dirty="0"/>
              <a:t> rada </a:t>
            </a:r>
            <a:r>
              <a:rPr lang="en-US" dirty="0" err="1"/>
              <a:t>odnosi</a:t>
            </a:r>
            <a:r>
              <a:rPr lang="en-US" dirty="0"/>
              <a:t> se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forenzičku</a:t>
            </a:r>
            <a:r>
              <a:rPr lang="en-US" dirty="0"/>
              <a:t> </a:t>
            </a:r>
            <a:r>
              <a:rPr lang="en-US" dirty="0" err="1"/>
              <a:t>analizu</a:t>
            </a:r>
            <a:r>
              <a:rPr lang="en-US" dirty="0"/>
              <a:t> storage </a:t>
            </a:r>
            <a:r>
              <a:rPr lang="en-US" dirty="0" err="1"/>
              <a:t>medijuma</a:t>
            </a:r>
            <a:r>
              <a:rPr lang="en-US" dirty="0"/>
              <a:t>, </a:t>
            </a:r>
            <a:r>
              <a:rPr lang="en-US" dirty="0" err="1"/>
              <a:t>sa</a:t>
            </a:r>
            <a:r>
              <a:rPr lang="en-US" dirty="0"/>
              <a:t> </a:t>
            </a:r>
            <a:r>
              <a:rPr lang="en-US" dirty="0" err="1"/>
              <a:t>posebnim</a:t>
            </a:r>
            <a:r>
              <a:rPr lang="en-US" dirty="0"/>
              <a:t> </a:t>
            </a:r>
            <a:r>
              <a:rPr lang="en-US" dirty="0" err="1"/>
              <a:t>fokusom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RAW </a:t>
            </a:r>
            <a:r>
              <a:rPr lang="en-US" dirty="0" err="1"/>
              <a:t>pristup</a:t>
            </a:r>
            <a:r>
              <a:rPr lang="en-US" dirty="0"/>
              <a:t> </a:t>
            </a:r>
            <a:r>
              <a:rPr lang="en-US" dirty="0" err="1"/>
              <a:t>podacima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strukturu</a:t>
            </a:r>
            <a:r>
              <a:rPr lang="en-US" dirty="0"/>
              <a:t> Master Boot Record-a, </a:t>
            </a:r>
            <a:r>
              <a:rPr lang="en-US" dirty="0" err="1"/>
              <a:t>odnosno</a:t>
            </a:r>
            <a:r>
              <a:rPr lang="en-US" dirty="0"/>
              <a:t> MBR-a.</a:t>
            </a:r>
          </a:p>
          <a:p>
            <a:r>
              <a:rPr lang="en-US" dirty="0"/>
              <a:t>U </a:t>
            </a:r>
            <a:r>
              <a:rPr lang="en-US" dirty="0" err="1"/>
              <a:t>teorijskom</a:t>
            </a:r>
            <a:r>
              <a:rPr lang="en-US" dirty="0"/>
              <a:t> </a:t>
            </a:r>
            <a:r>
              <a:rPr lang="en-US" dirty="0" err="1"/>
              <a:t>delu</a:t>
            </a:r>
            <a:r>
              <a:rPr lang="en-US" dirty="0"/>
              <a:t> rada </a:t>
            </a:r>
            <a:r>
              <a:rPr lang="en-US" dirty="0" err="1"/>
              <a:t>analizirala</a:t>
            </a:r>
            <a:r>
              <a:rPr lang="en-US" dirty="0"/>
              <a:t> </a:t>
            </a:r>
            <a:r>
              <a:rPr lang="en-US" dirty="0" err="1"/>
              <a:t>sam</a:t>
            </a:r>
            <a:r>
              <a:rPr lang="en-US" dirty="0"/>
              <a:t> </a:t>
            </a:r>
            <a:r>
              <a:rPr lang="en-US" dirty="0" err="1"/>
              <a:t>način</a:t>
            </a:r>
            <a:r>
              <a:rPr lang="en-US" dirty="0"/>
              <a:t> </a:t>
            </a:r>
            <a:r>
              <a:rPr lang="en-US" dirty="0" err="1"/>
              <a:t>organizacije</a:t>
            </a:r>
            <a:r>
              <a:rPr lang="en-US" dirty="0"/>
              <a:t> </a:t>
            </a:r>
            <a:r>
              <a:rPr lang="en-US" dirty="0" err="1"/>
              <a:t>podataka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disku</a:t>
            </a:r>
            <a:r>
              <a:rPr lang="en-US" dirty="0"/>
              <a:t>, </a:t>
            </a:r>
            <a:r>
              <a:rPr lang="en-US" dirty="0" err="1"/>
              <a:t>kao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dva</a:t>
            </a:r>
            <a:r>
              <a:rPr lang="en-US" dirty="0"/>
              <a:t> </a:t>
            </a:r>
            <a:r>
              <a:rPr lang="en-US" dirty="0" err="1"/>
              <a:t>najčešće</a:t>
            </a:r>
            <a:r>
              <a:rPr lang="en-US" dirty="0"/>
              <a:t> </a:t>
            </a:r>
            <a:r>
              <a:rPr lang="en-US" dirty="0" err="1"/>
              <a:t>korišćena</a:t>
            </a:r>
            <a:r>
              <a:rPr lang="en-US" dirty="0"/>
              <a:t> </a:t>
            </a:r>
            <a:r>
              <a:rPr lang="en-US" dirty="0" err="1"/>
              <a:t>datotečna</a:t>
            </a:r>
            <a:r>
              <a:rPr lang="en-US" dirty="0"/>
              <a:t> </a:t>
            </a:r>
            <a:r>
              <a:rPr lang="en-US" dirty="0" err="1"/>
              <a:t>sistema</a:t>
            </a:r>
            <a:r>
              <a:rPr lang="en-US" dirty="0"/>
              <a:t> u Windows </a:t>
            </a:r>
            <a:r>
              <a:rPr lang="en-US" dirty="0" err="1"/>
              <a:t>okruženju</a:t>
            </a:r>
            <a:r>
              <a:rPr lang="en-US" dirty="0"/>
              <a:t> – FAT32 </a:t>
            </a:r>
            <a:r>
              <a:rPr lang="en-US" dirty="0" err="1"/>
              <a:t>i</a:t>
            </a:r>
            <a:r>
              <a:rPr lang="en-US" dirty="0"/>
              <a:t> NTFS – </a:t>
            </a:r>
            <a:r>
              <a:rPr lang="en-US" dirty="0" err="1"/>
              <a:t>sa</a:t>
            </a:r>
            <a:r>
              <a:rPr lang="en-US" dirty="0"/>
              <a:t> </a:t>
            </a:r>
            <a:r>
              <a:rPr lang="en-US" dirty="0" err="1"/>
              <a:t>ciljem</a:t>
            </a:r>
            <a:r>
              <a:rPr lang="en-US" dirty="0"/>
              <a:t> da se </a:t>
            </a:r>
            <a:r>
              <a:rPr lang="en-US" dirty="0" err="1"/>
              <a:t>razume</a:t>
            </a:r>
            <a:r>
              <a:rPr lang="en-US" dirty="0"/>
              <a:t> </a:t>
            </a:r>
            <a:r>
              <a:rPr lang="en-US" dirty="0" err="1"/>
              <a:t>njihovo</a:t>
            </a:r>
            <a:r>
              <a:rPr lang="en-US" dirty="0"/>
              <a:t> </a:t>
            </a:r>
            <a:r>
              <a:rPr lang="en-US" dirty="0" err="1"/>
              <a:t>ponašanje</a:t>
            </a:r>
            <a:r>
              <a:rPr lang="en-US" dirty="0"/>
              <a:t> </a:t>
            </a:r>
            <a:r>
              <a:rPr lang="en-US" dirty="0" err="1"/>
              <a:t>prilikom</a:t>
            </a:r>
            <a:r>
              <a:rPr lang="en-US" dirty="0"/>
              <a:t> </a:t>
            </a:r>
            <a:r>
              <a:rPr lang="en-US" dirty="0" err="1"/>
              <a:t>manipulacije</a:t>
            </a:r>
            <a:r>
              <a:rPr lang="en-US" dirty="0"/>
              <a:t> </a:t>
            </a:r>
            <a:r>
              <a:rPr lang="en-US" dirty="0" err="1"/>
              <a:t>particijama</a:t>
            </a:r>
            <a:r>
              <a:rPr lang="en-US" dirty="0"/>
              <a:t>.</a:t>
            </a:r>
          </a:p>
          <a:p>
            <a:r>
              <a:rPr lang="en-US" dirty="0" err="1"/>
              <a:t>Praktični</a:t>
            </a:r>
            <a:r>
              <a:rPr lang="en-US" dirty="0"/>
              <a:t> deo rada </a:t>
            </a:r>
            <a:r>
              <a:rPr lang="en-US" dirty="0" err="1"/>
              <a:t>obuhvata</a:t>
            </a:r>
            <a:r>
              <a:rPr lang="en-US" dirty="0"/>
              <a:t> </a:t>
            </a:r>
            <a:r>
              <a:rPr lang="en-US" dirty="0" err="1"/>
              <a:t>demonstraciju</a:t>
            </a:r>
            <a:r>
              <a:rPr lang="en-US" dirty="0"/>
              <a:t> </a:t>
            </a:r>
            <a:r>
              <a:rPr lang="en-US" dirty="0" err="1"/>
              <a:t>sakrivanja</a:t>
            </a:r>
            <a:r>
              <a:rPr lang="en-US" dirty="0"/>
              <a:t> </a:t>
            </a:r>
            <a:r>
              <a:rPr lang="en-US" dirty="0" err="1"/>
              <a:t>particije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dva</a:t>
            </a:r>
            <a:r>
              <a:rPr lang="en-US" dirty="0"/>
              <a:t> </a:t>
            </a:r>
            <a:r>
              <a:rPr lang="en-US" dirty="0" err="1"/>
              <a:t>načina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 err="1"/>
              <a:t>prvo</a:t>
            </a:r>
            <a:r>
              <a:rPr lang="en-US" dirty="0"/>
              <a:t> </a:t>
            </a:r>
            <a:r>
              <a:rPr lang="en-US" dirty="0" err="1"/>
              <a:t>ručno</a:t>
            </a:r>
            <a:r>
              <a:rPr lang="en-US" dirty="0"/>
              <a:t>, </a:t>
            </a:r>
            <a:r>
              <a:rPr lang="en-US" dirty="0" err="1"/>
              <a:t>korišćenjem</a:t>
            </a:r>
            <a:r>
              <a:rPr lang="en-US" dirty="0"/>
              <a:t> </a:t>
            </a:r>
            <a:r>
              <a:rPr lang="en-US" dirty="0" err="1"/>
              <a:t>heksadecimalnog</a:t>
            </a:r>
            <a:r>
              <a:rPr lang="en-US" dirty="0"/>
              <a:t> </a:t>
            </a:r>
            <a:r>
              <a:rPr lang="en-US" dirty="0" err="1"/>
              <a:t>editora</a:t>
            </a:r>
            <a:r>
              <a:rPr lang="en-US" dirty="0"/>
              <a:t> </a:t>
            </a:r>
            <a:r>
              <a:rPr lang="en-US" dirty="0" err="1"/>
              <a:t>HxD</a:t>
            </a:r>
            <a:r>
              <a:rPr lang="en-US" dirty="0"/>
              <a:t>, </a:t>
            </a:r>
            <a:r>
              <a:rPr lang="en-US" dirty="0" err="1"/>
              <a:t>i</a:t>
            </a:r>
            <a:r>
              <a:rPr lang="en-US" dirty="0"/>
              <a:t> </a:t>
            </a:r>
          </a:p>
          <a:p>
            <a:r>
              <a:rPr lang="en-US" dirty="0" err="1"/>
              <a:t>drugo</a:t>
            </a:r>
            <a:r>
              <a:rPr lang="en-US" dirty="0"/>
              <a:t> – </a:t>
            </a:r>
            <a:r>
              <a:rPr lang="en-US" dirty="0" err="1"/>
              <a:t>programskim</a:t>
            </a:r>
            <a:r>
              <a:rPr lang="en-US" dirty="0"/>
              <a:t> </a:t>
            </a:r>
            <a:r>
              <a:rPr lang="en-US" dirty="0" err="1"/>
              <a:t>putem</a:t>
            </a:r>
            <a:r>
              <a:rPr lang="en-US" dirty="0"/>
              <a:t>, </a:t>
            </a:r>
            <a:r>
              <a:rPr lang="en-US" dirty="0" err="1"/>
              <a:t>implementacijom</a:t>
            </a:r>
            <a:r>
              <a:rPr lang="en-US" dirty="0"/>
              <a:t> </a:t>
            </a:r>
            <a:r>
              <a:rPr lang="en-US" dirty="0" err="1"/>
              <a:t>sopstvenog</a:t>
            </a:r>
            <a:r>
              <a:rPr lang="en-US" dirty="0"/>
              <a:t> C++ </a:t>
            </a:r>
            <a:r>
              <a:rPr lang="en-US" dirty="0" err="1"/>
              <a:t>rešenja</a:t>
            </a:r>
            <a:r>
              <a:rPr lang="en-US" dirty="0"/>
              <a:t> </a:t>
            </a:r>
            <a:r>
              <a:rPr lang="en-US" dirty="0" err="1"/>
              <a:t>sa</a:t>
            </a:r>
            <a:r>
              <a:rPr lang="en-US" dirty="0"/>
              <a:t> </a:t>
            </a:r>
            <a:r>
              <a:rPr lang="en-US" dirty="0" err="1"/>
              <a:t>direktnim</a:t>
            </a:r>
            <a:r>
              <a:rPr lang="en-US" dirty="0"/>
              <a:t> RAW </a:t>
            </a:r>
            <a:r>
              <a:rPr lang="en-US" dirty="0" err="1"/>
              <a:t>pristupom</a:t>
            </a:r>
            <a:r>
              <a:rPr lang="en-US" dirty="0"/>
              <a:t> </a:t>
            </a:r>
            <a:r>
              <a:rPr lang="en-US" dirty="0" err="1"/>
              <a:t>fizičkom</a:t>
            </a:r>
            <a:r>
              <a:rPr lang="en-US" dirty="0"/>
              <a:t> </a:t>
            </a:r>
            <a:r>
              <a:rPr lang="en-US" dirty="0" err="1"/>
              <a:t>disku</a:t>
            </a:r>
            <a:r>
              <a:rPr lang="en-US" dirty="0"/>
              <a:t>.</a:t>
            </a:r>
          </a:p>
          <a:p>
            <a:r>
              <a:rPr lang="en-US" dirty="0" err="1"/>
              <a:t>Posebna</a:t>
            </a:r>
            <a:r>
              <a:rPr lang="en-US" dirty="0"/>
              <a:t> </a:t>
            </a:r>
            <a:r>
              <a:rPr lang="en-US" dirty="0" err="1"/>
              <a:t>pažnja</a:t>
            </a:r>
            <a:r>
              <a:rPr lang="en-US" dirty="0"/>
              <a:t> </a:t>
            </a:r>
            <a:r>
              <a:rPr lang="en-US" dirty="0" err="1"/>
              <a:t>posvećena</a:t>
            </a:r>
            <a:r>
              <a:rPr lang="en-US" dirty="0"/>
              <a:t> je </a:t>
            </a:r>
            <a:r>
              <a:rPr lang="en-US" dirty="0" err="1"/>
              <a:t>analizi</a:t>
            </a:r>
            <a:r>
              <a:rPr lang="en-US" dirty="0"/>
              <a:t> </a:t>
            </a:r>
            <a:r>
              <a:rPr lang="en-US" dirty="0" err="1"/>
              <a:t>ponašanja</a:t>
            </a:r>
            <a:r>
              <a:rPr lang="en-US" dirty="0"/>
              <a:t> </a:t>
            </a:r>
            <a:r>
              <a:rPr lang="en-US" dirty="0" err="1"/>
              <a:t>različitih</a:t>
            </a:r>
            <a:r>
              <a:rPr lang="en-US" dirty="0"/>
              <a:t> </a:t>
            </a:r>
            <a:r>
              <a:rPr lang="en-US" dirty="0" err="1"/>
              <a:t>verzija</a:t>
            </a:r>
            <a:r>
              <a:rPr lang="en-US" dirty="0"/>
              <a:t> Windows </a:t>
            </a:r>
            <a:r>
              <a:rPr lang="en-US" dirty="0" err="1"/>
              <a:t>operativnih</a:t>
            </a:r>
            <a:r>
              <a:rPr lang="en-US" dirty="0"/>
              <a:t> </a:t>
            </a:r>
            <a:r>
              <a:rPr lang="en-US" dirty="0" err="1"/>
              <a:t>sistema</a:t>
            </a:r>
            <a:r>
              <a:rPr lang="en-US" dirty="0"/>
              <a:t>, </a:t>
            </a:r>
            <a:r>
              <a:rPr lang="en-US" dirty="0" err="1"/>
              <a:t>kako</a:t>
            </a:r>
            <a:r>
              <a:rPr lang="en-US" dirty="0"/>
              <a:t> bi se </a:t>
            </a:r>
            <a:r>
              <a:rPr lang="en-US" dirty="0" err="1"/>
              <a:t>utvrdilo</a:t>
            </a:r>
            <a:r>
              <a:rPr lang="en-US" dirty="0"/>
              <a:t> da li je </a:t>
            </a:r>
            <a:r>
              <a:rPr lang="en-US" dirty="0" err="1"/>
              <a:t>ovakva</a:t>
            </a:r>
            <a:r>
              <a:rPr lang="en-US" dirty="0"/>
              <a:t> </a:t>
            </a:r>
            <a:r>
              <a:rPr lang="en-US" dirty="0" err="1"/>
              <a:t>manipulacija</a:t>
            </a:r>
            <a:r>
              <a:rPr lang="en-US" dirty="0"/>
              <a:t> </a:t>
            </a:r>
            <a:r>
              <a:rPr lang="en-US" dirty="0" err="1"/>
              <a:t>univerzalno</a:t>
            </a:r>
            <a:r>
              <a:rPr lang="en-US" dirty="0"/>
              <a:t> </a:t>
            </a:r>
            <a:r>
              <a:rPr lang="en-US" dirty="0" err="1"/>
              <a:t>primenljiva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28AC9-BAD4-472A-9095-C606D319C324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748898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RAW </a:t>
            </a:r>
            <a:r>
              <a:rPr lang="en-US" dirty="0" err="1"/>
              <a:t>pristup</a:t>
            </a:r>
            <a:r>
              <a:rPr lang="en-US" dirty="0"/>
              <a:t> </a:t>
            </a:r>
            <a:r>
              <a:rPr lang="en-US" dirty="0" err="1"/>
              <a:t>podacima</a:t>
            </a:r>
            <a:r>
              <a:rPr lang="en-US" dirty="0"/>
              <a:t> </a:t>
            </a:r>
            <a:r>
              <a:rPr lang="en-US" dirty="0" err="1"/>
              <a:t>podrazumeva</a:t>
            </a:r>
            <a:r>
              <a:rPr lang="en-US" dirty="0"/>
              <a:t> </a:t>
            </a:r>
            <a:r>
              <a:rPr lang="en-US" dirty="0" err="1"/>
              <a:t>direktan</a:t>
            </a:r>
            <a:r>
              <a:rPr lang="en-US" dirty="0"/>
              <a:t> </a:t>
            </a:r>
            <a:r>
              <a:rPr lang="en-US" dirty="0" err="1"/>
              <a:t>pristup</a:t>
            </a:r>
            <a:r>
              <a:rPr lang="en-US" dirty="0"/>
              <a:t> </a:t>
            </a:r>
            <a:r>
              <a:rPr lang="en-US" dirty="0" err="1"/>
              <a:t>fizičkim</a:t>
            </a:r>
            <a:r>
              <a:rPr lang="en-US" dirty="0"/>
              <a:t> </a:t>
            </a:r>
            <a:r>
              <a:rPr lang="en-US" dirty="0" err="1"/>
              <a:t>sektorima</a:t>
            </a:r>
            <a:r>
              <a:rPr lang="en-US" dirty="0"/>
              <a:t> </a:t>
            </a:r>
            <a:r>
              <a:rPr lang="en-US" dirty="0" err="1"/>
              <a:t>diska</a:t>
            </a:r>
            <a:r>
              <a:rPr lang="en-US" dirty="0"/>
              <a:t>, </a:t>
            </a:r>
            <a:r>
              <a:rPr lang="en-US" dirty="0" err="1"/>
              <a:t>odnosno</a:t>
            </a:r>
            <a:r>
              <a:rPr lang="en-US" dirty="0"/>
              <a:t> LBA </a:t>
            </a:r>
            <a:r>
              <a:rPr lang="en-US" dirty="0" err="1"/>
              <a:t>adresama</a:t>
            </a:r>
            <a:r>
              <a:rPr lang="en-US" dirty="0"/>
              <a:t>, bez </a:t>
            </a:r>
            <a:r>
              <a:rPr lang="en-US" dirty="0" err="1"/>
              <a:t>oslanjanja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logičke</a:t>
            </a:r>
            <a:r>
              <a:rPr lang="en-US" dirty="0"/>
              <a:t> </a:t>
            </a:r>
            <a:r>
              <a:rPr lang="en-US" dirty="0" err="1"/>
              <a:t>mehanizme</a:t>
            </a:r>
            <a:r>
              <a:rPr lang="en-US" dirty="0"/>
              <a:t> </a:t>
            </a:r>
            <a:r>
              <a:rPr lang="en-US" dirty="0" err="1"/>
              <a:t>operativnog</a:t>
            </a:r>
            <a:r>
              <a:rPr lang="en-US" dirty="0"/>
              <a:t> </a:t>
            </a:r>
            <a:r>
              <a:rPr lang="en-US" dirty="0" err="1"/>
              <a:t>sistema</a:t>
            </a:r>
            <a:r>
              <a:rPr lang="en-US" dirty="0"/>
              <a:t>.</a:t>
            </a:r>
          </a:p>
          <a:p>
            <a:r>
              <a:rPr lang="en-US" dirty="0"/>
              <a:t>Za </a:t>
            </a:r>
            <a:r>
              <a:rPr lang="en-US" dirty="0" err="1"/>
              <a:t>razliku</a:t>
            </a:r>
            <a:r>
              <a:rPr lang="en-US" dirty="0"/>
              <a:t> od </a:t>
            </a:r>
            <a:r>
              <a:rPr lang="en-US" dirty="0" err="1"/>
              <a:t>standardnog</a:t>
            </a:r>
            <a:r>
              <a:rPr lang="en-US" dirty="0"/>
              <a:t> </a:t>
            </a:r>
            <a:r>
              <a:rPr lang="en-US" dirty="0" err="1"/>
              <a:t>pristupa</a:t>
            </a:r>
            <a:r>
              <a:rPr lang="en-US" dirty="0"/>
              <a:t> </a:t>
            </a:r>
            <a:r>
              <a:rPr lang="en-US" dirty="0" err="1"/>
              <a:t>preko</a:t>
            </a:r>
            <a:r>
              <a:rPr lang="en-US" dirty="0"/>
              <a:t> </a:t>
            </a:r>
            <a:r>
              <a:rPr lang="en-US" dirty="0" err="1"/>
              <a:t>datotečnog</a:t>
            </a:r>
            <a:r>
              <a:rPr lang="en-US" dirty="0"/>
              <a:t> </a:t>
            </a:r>
            <a:r>
              <a:rPr lang="en-US" dirty="0" err="1"/>
              <a:t>sistema</a:t>
            </a:r>
            <a:r>
              <a:rPr lang="en-US" dirty="0"/>
              <a:t>, </a:t>
            </a:r>
            <a:r>
              <a:rPr lang="en-US" dirty="0" err="1"/>
              <a:t>ovde</a:t>
            </a:r>
            <a:r>
              <a:rPr lang="en-US" dirty="0"/>
              <a:t> </a:t>
            </a:r>
            <a:r>
              <a:rPr lang="en-US" dirty="0" err="1"/>
              <a:t>zaobilazimo</a:t>
            </a:r>
            <a:r>
              <a:rPr lang="en-US" dirty="0"/>
              <a:t> </a:t>
            </a:r>
            <a:r>
              <a:rPr lang="en-US" dirty="0" err="1"/>
              <a:t>strukture</a:t>
            </a:r>
            <a:r>
              <a:rPr lang="en-US" dirty="0"/>
              <a:t> </a:t>
            </a:r>
            <a:r>
              <a:rPr lang="en-US" dirty="0" err="1"/>
              <a:t>kao</a:t>
            </a:r>
            <a:r>
              <a:rPr lang="en-US" dirty="0"/>
              <a:t> </a:t>
            </a:r>
            <a:r>
              <a:rPr lang="en-US" dirty="0" err="1"/>
              <a:t>što</a:t>
            </a:r>
            <a:r>
              <a:rPr lang="en-US" dirty="0"/>
              <a:t> </a:t>
            </a:r>
            <a:r>
              <a:rPr lang="en-US" dirty="0" err="1"/>
              <a:t>su</a:t>
            </a:r>
            <a:r>
              <a:rPr lang="en-US" dirty="0"/>
              <a:t> NTFS </a:t>
            </a:r>
            <a:r>
              <a:rPr lang="en-US" dirty="0" err="1"/>
              <a:t>ili</a:t>
            </a:r>
            <a:r>
              <a:rPr lang="en-US" dirty="0"/>
              <a:t> FAT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čitamo</a:t>
            </a:r>
            <a:r>
              <a:rPr lang="en-US" dirty="0"/>
              <a:t> </a:t>
            </a:r>
            <a:r>
              <a:rPr lang="en-US" dirty="0" err="1"/>
              <a:t>podatke</a:t>
            </a:r>
            <a:r>
              <a:rPr lang="en-US" dirty="0"/>
              <a:t> </a:t>
            </a:r>
            <a:r>
              <a:rPr lang="en-US" dirty="0" err="1"/>
              <a:t>tačno</a:t>
            </a:r>
            <a:r>
              <a:rPr lang="en-US" dirty="0"/>
              <a:t> </a:t>
            </a:r>
            <a:r>
              <a:rPr lang="en-US" dirty="0" err="1"/>
              <a:t>onako</a:t>
            </a:r>
            <a:r>
              <a:rPr lang="en-US" dirty="0"/>
              <a:t> </a:t>
            </a:r>
            <a:r>
              <a:rPr lang="en-US" dirty="0" err="1"/>
              <a:t>kako</a:t>
            </a:r>
            <a:r>
              <a:rPr lang="en-US" dirty="0"/>
              <a:t> </a:t>
            </a:r>
            <a:r>
              <a:rPr lang="en-US" dirty="0" err="1"/>
              <a:t>su</a:t>
            </a:r>
            <a:r>
              <a:rPr lang="en-US" dirty="0"/>
              <a:t> </a:t>
            </a:r>
            <a:r>
              <a:rPr lang="en-US" dirty="0" err="1"/>
              <a:t>fizički</a:t>
            </a:r>
            <a:r>
              <a:rPr lang="en-US" dirty="0"/>
              <a:t> </a:t>
            </a:r>
            <a:r>
              <a:rPr lang="en-US" dirty="0" err="1"/>
              <a:t>zapisani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disku</a:t>
            </a:r>
            <a:r>
              <a:rPr lang="en-US" dirty="0"/>
              <a:t>.</a:t>
            </a:r>
          </a:p>
          <a:p>
            <a:r>
              <a:rPr lang="en-US" dirty="0"/>
              <a:t>To </a:t>
            </a:r>
            <a:r>
              <a:rPr lang="en-US" dirty="0" err="1"/>
              <a:t>znači</a:t>
            </a:r>
            <a:r>
              <a:rPr lang="en-US" dirty="0"/>
              <a:t> da </a:t>
            </a:r>
            <a:r>
              <a:rPr lang="en-US" dirty="0" err="1"/>
              <a:t>možemo</a:t>
            </a:r>
            <a:r>
              <a:rPr lang="en-US" dirty="0"/>
              <a:t> </a:t>
            </a:r>
            <a:r>
              <a:rPr lang="en-US" dirty="0" err="1"/>
              <a:t>videti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podatke</a:t>
            </a:r>
            <a:r>
              <a:rPr lang="en-US" dirty="0"/>
              <a:t> </a:t>
            </a:r>
            <a:r>
              <a:rPr lang="en-US" dirty="0" err="1"/>
              <a:t>koje</a:t>
            </a:r>
            <a:r>
              <a:rPr lang="en-US" dirty="0"/>
              <a:t> </a:t>
            </a:r>
            <a:r>
              <a:rPr lang="en-US" dirty="0" err="1"/>
              <a:t>operativni</a:t>
            </a:r>
            <a:r>
              <a:rPr lang="en-US" dirty="0"/>
              <a:t> </a:t>
            </a:r>
            <a:r>
              <a:rPr lang="en-US" dirty="0" err="1"/>
              <a:t>sistem</a:t>
            </a:r>
            <a:r>
              <a:rPr lang="en-US" dirty="0"/>
              <a:t> ne </a:t>
            </a:r>
            <a:r>
              <a:rPr lang="en-US" dirty="0" err="1"/>
              <a:t>prikazuje</a:t>
            </a:r>
            <a:r>
              <a:rPr lang="en-US" dirty="0"/>
              <a:t> — </a:t>
            </a:r>
            <a:r>
              <a:rPr lang="en-US" dirty="0" err="1"/>
              <a:t>na</a:t>
            </a:r>
            <a:r>
              <a:rPr lang="en-US" dirty="0"/>
              <a:t> primer </a:t>
            </a:r>
            <a:r>
              <a:rPr lang="en-US" dirty="0" err="1"/>
              <a:t>skrivene</a:t>
            </a:r>
            <a:r>
              <a:rPr lang="en-US" dirty="0"/>
              <a:t> </a:t>
            </a:r>
            <a:r>
              <a:rPr lang="en-US" dirty="0" err="1"/>
              <a:t>particije</a:t>
            </a:r>
            <a:r>
              <a:rPr lang="en-US" dirty="0"/>
              <a:t>, </a:t>
            </a:r>
            <a:r>
              <a:rPr lang="en-US" dirty="0" err="1"/>
              <a:t>obrisane</a:t>
            </a:r>
            <a:r>
              <a:rPr lang="en-US" dirty="0"/>
              <a:t> </a:t>
            </a:r>
            <a:r>
              <a:rPr lang="en-US" dirty="0" err="1"/>
              <a:t>fajlove</a:t>
            </a:r>
            <a:r>
              <a:rPr lang="en-US" dirty="0"/>
              <a:t> </a:t>
            </a:r>
            <a:r>
              <a:rPr lang="en-US" dirty="0" err="1"/>
              <a:t>ili</a:t>
            </a:r>
            <a:r>
              <a:rPr lang="en-US" dirty="0"/>
              <a:t> </a:t>
            </a:r>
            <a:r>
              <a:rPr lang="en-US" dirty="0" err="1"/>
              <a:t>neaktivne</a:t>
            </a:r>
            <a:r>
              <a:rPr lang="en-US" dirty="0"/>
              <a:t> </a:t>
            </a:r>
            <a:r>
              <a:rPr lang="en-US" dirty="0" err="1"/>
              <a:t>zapise</a:t>
            </a:r>
            <a:r>
              <a:rPr lang="en-US" dirty="0"/>
              <a:t> u MBR </a:t>
            </a:r>
            <a:r>
              <a:rPr lang="en-US" dirty="0" err="1"/>
              <a:t>tabeli</a:t>
            </a:r>
            <a:r>
              <a:rPr lang="en-US" dirty="0"/>
              <a:t>.</a:t>
            </a:r>
          </a:p>
          <a:p>
            <a:r>
              <a:rPr lang="en-US" dirty="0"/>
              <a:t>RAW </a:t>
            </a:r>
            <a:r>
              <a:rPr lang="en-US" dirty="0" err="1"/>
              <a:t>pristup</a:t>
            </a:r>
            <a:r>
              <a:rPr lang="en-US" dirty="0"/>
              <a:t> ne </a:t>
            </a:r>
            <a:r>
              <a:rPr lang="en-US" dirty="0" err="1"/>
              <a:t>zavisi</a:t>
            </a:r>
            <a:r>
              <a:rPr lang="en-US" dirty="0"/>
              <a:t> od </a:t>
            </a:r>
            <a:r>
              <a:rPr lang="en-US" dirty="0" err="1"/>
              <a:t>datotečnog</a:t>
            </a:r>
            <a:r>
              <a:rPr lang="en-US" dirty="0"/>
              <a:t> </a:t>
            </a:r>
            <a:r>
              <a:rPr lang="en-US" dirty="0" err="1"/>
              <a:t>sistema</a:t>
            </a:r>
            <a:r>
              <a:rPr lang="en-US" dirty="0"/>
              <a:t>, </a:t>
            </a:r>
            <a:r>
              <a:rPr lang="en-US" dirty="0" err="1"/>
              <a:t>jer</a:t>
            </a:r>
            <a:r>
              <a:rPr lang="en-US" dirty="0"/>
              <a:t> se </a:t>
            </a:r>
            <a:r>
              <a:rPr lang="en-US" dirty="0" err="1"/>
              <a:t>radi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nivou</a:t>
            </a:r>
            <a:r>
              <a:rPr lang="en-US" dirty="0"/>
              <a:t> </a:t>
            </a:r>
            <a:r>
              <a:rPr lang="en-US" dirty="0" err="1"/>
              <a:t>sektora</a:t>
            </a:r>
            <a:r>
              <a:rPr lang="en-US" dirty="0"/>
              <a:t>, </a:t>
            </a:r>
            <a:r>
              <a:rPr lang="en-US" dirty="0" err="1"/>
              <a:t>što</a:t>
            </a:r>
            <a:r>
              <a:rPr lang="en-US" dirty="0"/>
              <a:t> ga </a:t>
            </a:r>
            <a:r>
              <a:rPr lang="en-US" dirty="0" err="1"/>
              <a:t>čini</a:t>
            </a:r>
            <a:r>
              <a:rPr lang="en-US" dirty="0"/>
              <a:t> </a:t>
            </a:r>
            <a:r>
              <a:rPr lang="en-US" dirty="0" err="1"/>
              <a:t>ključnim</a:t>
            </a:r>
            <a:r>
              <a:rPr lang="en-US" dirty="0"/>
              <a:t> u </a:t>
            </a:r>
            <a:r>
              <a:rPr lang="en-US" dirty="0" err="1"/>
              <a:t>digitalnoj</a:t>
            </a:r>
            <a:r>
              <a:rPr lang="en-US" dirty="0"/>
              <a:t> </a:t>
            </a:r>
            <a:r>
              <a:rPr lang="en-US" dirty="0" err="1"/>
              <a:t>forenzici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incident response </a:t>
            </a:r>
            <a:r>
              <a:rPr lang="en-US" dirty="0" err="1"/>
              <a:t>procesima</a:t>
            </a:r>
            <a:r>
              <a:rPr lang="en-US" dirty="0"/>
              <a:t>.</a:t>
            </a:r>
          </a:p>
          <a:p>
            <a:r>
              <a:rPr lang="en-US" dirty="0"/>
              <a:t>U </a:t>
            </a:r>
            <a:r>
              <a:rPr lang="en-US" dirty="0" err="1"/>
              <a:t>praktičnom</a:t>
            </a:r>
            <a:r>
              <a:rPr lang="en-US" dirty="0"/>
              <a:t> </a:t>
            </a:r>
            <a:r>
              <a:rPr lang="en-US" dirty="0" err="1"/>
              <a:t>delu</a:t>
            </a:r>
            <a:r>
              <a:rPr lang="en-US" dirty="0"/>
              <a:t> rada </a:t>
            </a:r>
            <a:r>
              <a:rPr lang="en-US" dirty="0" err="1"/>
              <a:t>upravo</a:t>
            </a:r>
            <a:r>
              <a:rPr lang="en-US" dirty="0"/>
              <a:t> </a:t>
            </a:r>
            <a:r>
              <a:rPr lang="en-US" dirty="0" err="1"/>
              <a:t>sam</a:t>
            </a:r>
            <a:r>
              <a:rPr lang="en-US" dirty="0"/>
              <a:t> </a:t>
            </a:r>
            <a:r>
              <a:rPr lang="en-US" dirty="0" err="1"/>
              <a:t>koristila</a:t>
            </a:r>
            <a:r>
              <a:rPr lang="en-US" dirty="0"/>
              <a:t> RAW </a:t>
            </a:r>
            <a:r>
              <a:rPr lang="en-US" dirty="0" err="1"/>
              <a:t>pristup</a:t>
            </a:r>
            <a:r>
              <a:rPr lang="en-US" dirty="0"/>
              <a:t> za </a:t>
            </a:r>
            <a:r>
              <a:rPr lang="en-US" dirty="0" err="1"/>
              <a:t>direktnu</a:t>
            </a:r>
            <a:r>
              <a:rPr lang="en-US" dirty="0"/>
              <a:t> </a:t>
            </a:r>
            <a:r>
              <a:rPr lang="en-US" dirty="0" err="1"/>
              <a:t>izmenu</a:t>
            </a:r>
            <a:r>
              <a:rPr lang="en-US" dirty="0"/>
              <a:t> MBR </a:t>
            </a:r>
            <a:r>
              <a:rPr lang="en-US" dirty="0" err="1"/>
              <a:t>zapisa</a:t>
            </a:r>
            <a:r>
              <a:rPr lang="en-US" dirty="0"/>
              <a:t>, </a:t>
            </a:r>
            <a:r>
              <a:rPr lang="en-US" dirty="0" err="1"/>
              <a:t>čime</a:t>
            </a:r>
            <a:r>
              <a:rPr lang="en-US" dirty="0"/>
              <a:t> </a:t>
            </a:r>
            <a:r>
              <a:rPr lang="en-US" dirty="0" err="1"/>
              <a:t>sam</a:t>
            </a:r>
            <a:r>
              <a:rPr lang="en-US" dirty="0"/>
              <a:t> </a:t>
            </a:r>
            <a:r>
              <a:rPr lang="en-US" dirty="0" err="1"/>
              <a:t>demonstrirala</a:t>
            </a:r>
            <a:r>
              <a:rPr lang="en-US" dirty="0"/>
              <a:t> </a:t>
            </a:r>
            <a:r>
              <a:rPr lang="en-US" dirty="0" err="1"/>
              <a:t>razliku</a:t>
            </a:r>
            <a:r>
              <a:rPr lang="en-US" dirty="0"/>
              <a:t> </a:t>
            </a:r>
            <a:r>
              <a:rPr lang="en-US" dirty="0" err="1"/>
              <a:t>između</a:t>
            </a:r>
            <a:r>
              <a:rPr lang="en-US" dirty="0"/>
              <a:t> </a:t>
            </a:r>
            <a:r>
              <a:rPr lang="en-US" dirty="0" err="1"/>
              <a:t>fizičkog</a:t>
            </a:r>
            <a:r>
              <a:rPr lang="en-US" dirty="0"/>
              <a:t> </a:t>
            </a:r>
            <a:r>
              <a:rPr lang="en-US" dirty="0" err="1"/>
              <a:t>stanja</a:t>
            </a:r>
            <a:r>
              <a:rPr lang="en-US" dirty="0"/>
              <a:t> </a:t>
            </a:r>
            <a:r>
              <a:rPr lang="en-US" dirty="0" err="1"/>
              <a:t>diska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načina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koji ga </a:t>
            </a:r>
            <a:r>
              <a:rPr lang="en-US" dirty="0" err="1"/>
              <a:t>operativni</a:t>
            </a:r>
            <a:r>
              <a:rPr lang="en-US" dirty="0"/>
              <a:t> </a:t>
            </a:r>
            <a:r>
              <a:rPr lang="en-US" dirty="0" err="1"/>
              <a:t>sistem</a:t>
            </a:r>
            <a:r>
              <a:rPr lang="en-US" dirty="0"/>
              <a:t> </a:t>
            </a:r>
            <a:r>
              <a:rPr lang="en-US" dirty="0" err="1"/>
              <a:t>interpretira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28AC9-BAD4-472A-9095-C606D319C324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39212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 fontAlgn="base"/>
            <a:r>
              <a:rPr lang="en-US" dirty="0"/>
              <a:t>MBR je </a:t>
            </a:r>
            <a:r>
              <a:rPr lang="en-US" dirty="0" err="1"/>
              <a:t>prvi</a:t>
            </a:r>
            <a:r>
              <a:rPr lang="en-US" dirty="0"/>
              <a:t> </a:t>
            </a:r>
            <a:r>
              <a:rPr lang="en-US" dirty="0" err="1"/>
              <a:t>sektor</a:t>
            </a:r>
            <a:r>
              <a:rPr lang="en-US" dirty="0"/>
              <a:t> </a:t>
            </a:r>
            <a:r>
              <a:rPr lang="en-US" dirty="0" err="1"/>
              <a:t>diska</a:t>
            </a:r>
            <a:r>
              <a:rPr lang="en-US" dirty="0"/>
              <a:t>, </a:t>
            </a:r>
            <a:r>
              <a:rPr lang="en-US" dirty="0" err="1"/>
              <a:t>veličine</a:t>
            </a:r>
            <a:r>
              <a:rPr lang="en-US" dirty="0"/>
              <a:t> 512 </a:t>
            </a:r>
            <a:r>
              <a:rPr lang="en-US" dirty="0" err="1"/>
              <a:t>bajtova</a:t>
            </a:r>
            <a:r>
              <a:rPr lang="en-US" dirty="0"/>
              <a:t>,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sadrži</a:t>
            </a:r>
            <a:r>
              <a:rPr lang="en-US" dirty="0"/>
              <a:t> boot </a:t>
            </a:r>
            <a:r>
              <a:rPr lang="en-US" dirty="0" err="1"/>
              <a:t>kod</a:t>
            </a:r>
            <a:r>
              <a:rPr lang="en-US" dirty="0"/>
              <a:t>, </a:t>
            </a:r>
            <a:r>
              <a:rPr lang="en-US" dirty="0" err="1"/>
              <a:t>tabelu</a:t>
            </a:r>
            <a:r>
              <a:rPr lang="en-US" dirty="0"/>
              <a:t> </a:t>
            </a:r>
            <a:r>
              <a:rPr lang="en-US" dirty="0" err="1"/>
              <a:t>particija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potpis</a:t>
            </a:r>
            <a:r>
              <a:rPr lang="en-US" dirty="0"/>
              <a:t> 0x55AA.</a:t>
            </a:r>
            <a:br>
              <a:rPr lang="en-US" dirty="0"/>
            </a:br>
            <a:r>
              <a:rPr lang="en-US" dirty="0" err="1"/>
              <a:t>Particiona</a:t>
            </a:r>
            <a:r>
              <a:rPr lang="en-US" dirty="0"/>
              <a:t> </a:t>
            </a:r>
            <a:r>
              <a:rPr lang="en-US" dirty="0" err="1"/>
              <a:t>tabela</a:t>
            </a:r>
            <a:r>
              <a:rPr lang="en-US" dirty="0"/>
              <a:t> </a:t>
            </a:r>
            <a:r>
              <a:rPr lang="en-US" dirty="0" err="1"/>
              <a:t>ima</a:t>
            </a:r>
            <a:r>
              <a:rPr lang="en-US" dirty="0"/>
              <a:t> </a:t>
            </a:r>
            <a:r>
              <a:rPr lang="en-US" dirty="0" err="1"/>
              <a:t>četiri</a:t>
            </a:r>
            <a:r>
              <a:rPr lang="en-US" dirty="0"/>
              <a:t> </a:t>
            </a:r>
            <a:r>
              <a:rPr lang="en-US" dirty="0" err="1"/>
              <a:t>unosa</a:t>
            </a:r>
            <a:r>
              <a:rPr lang="en-US" dirty="0"/>
              <a:t> po 16 </a:t>
            </a:r>
            <a:r>
              <a:rPr lang="en-US" dirty="0" err="1"/>
              <a:t>bajtova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 err="1"/>
              <a:t>Izmenom</a:t>
            </a:r>
            <a:r>
              <a:rPr lang="en-US" dirty="0"/>
              <a:t> </a:t>
            </a:r>
            <a:r>
              <a:rPr lang="en-US" dirty="0" err="1"/>
              <a:t>polja</a:t>
            </a:r>
            <a:r>
              <a:rPr lang="en-US" dirty="0"/>
              <a:t> Partition Type u </a:t>
            </a:r>
            <a:r>
              <a:rPr lang="en-US" dirty="0" err="1"/>
              <a:t>toj</a:t>
            </a:r>
            <a:r>
              <a:rPr lang="en-US" dirty="0"/>
              <a:t> </a:t>
            </a:r>
            <a:r>
              <a:rPr lang="en-US" dirty="0" err="1"/>
              <a:t>tabeli</a:t>
            </a:r>
            <a:r>
              <a:rPr lang="en-US" dirty="0"/>
              <a:t> </a:t>
            </a:r>
            <a:r>
              <a:rPr lang="en-US" dirty="0" err="1"/>
              <a:t>moguće</a:t>
            </a:r>
            <a:r>
              <a:rPr lang="en-US" dirty="0"/>
              <a:t> je </a:t>
            </a:r>
            <a:r>
              <a:rPr lang="en-US" dirty="0" err="1"/>
              <a:t>sakriti</a:t>
            </a:r>
            <a:r>
              <a:rPr lang="en-US" dirty="0"/>
              <a:t> </a:t>
            </a:r>
            <a:r>
              <a:rPr lang="en-US" dirty="0" err="1"/>
              <a:t>particiju</a:t>
            </a:r>
            <a:r>
              <a:rPr lang="en-US" dirty="0"/>
              <a:t>, </a:t>
            </a:r>
            <a:r>
              <a:rPr lang="en-US" dirty="0" err="1"/>
              <a:t>jer</a:t>
            </a:r>
            <a:r>
              <a:rPr lang="en-US" dirty="0"/>
              <a:t> </a:t>
            </a:r>
            <a:r>
              <a:rPr lang="en-US" dirty="0" err="1"/>
              <a:t>operativni</a:t>
            </a:r>
            <a:r>
              <a:rPr lang="en-US" dirty="0"/>
              <a:t> </a:t>
            </a:r>
            <a:r>
              <a:rPr lang="en-US" dirty="0" err="1"/>
              <a:t>sistem</a:t>
            </a:r>
            <a:r>
              <a:rPr lang="en-US" dirty="0"/>
              <a:t> </a:t>
            </a:r>
            <a:r>
              <a:rPr lang="en-US" dirty="0" err="1"/>
              <a:t>drugačije</a:t>
            </a:r>
            <a:r>
              <a:rPr lang="en-US" dirty="0"/>
              <a:t> </a:t>
            </a:r>
            <a:r>
              <a:rPr lang="en-US" dirty="0" err="1"/>
              <a:t>interpretira</a:t>
            </a:r>
            <a:r>
              <a:rPr lang="en-US" dirty="0"/>
              <a:t> </a:t>
            </a:r>
            <a:r>
              <a:rPr lang="en-US" dirty="0" err="1"/>
              <a:t>njen</a:t>
            </a:r>
            <a:r>
              <a:rPr lang="en-US" dirty="0"/>
              <a:t> tip.</a:t>
            </a:r>
            <a:endParaRPr lang="sr-Latn-R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28AC9-BAD4-472A-9095-C606D319C324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894446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AE8B5A-DBFA-571F-8D9D-A56FAB7B30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C1B1CE-8A2F-37C1-B134-F2E5B0FF01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D24E4B-1487-9EF0-8CE7-9626C7E53A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Master Boot Record (MBR)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predstavlja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prvi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sektor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particionisanom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disku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veličinu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od 512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bajtova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Struktura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MBR-a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sastoji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iz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tri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osnovna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dela:</a:t>
            </a:r>
            <a:endParaRPr lang="en-US" sz="11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endParaRPr lang="en-US" sz="11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1"/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Bootstrap Code Area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– </a:t>
            </a:r>
            <a:r>
              <a:rPr lang="sr-Cyrl-RS" sz="1200" b="1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bajtovi</a:t>
            </a:r>
            <a:r>
              <a:rPr lang="sr-Cyrl-RS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0–445 (446 </a:t>
            </a:r>
            <a:r>
              <a:rPr lang="sr-Cyrl-RS" sz="1200" b="1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bajtova</a:t>
            </a:r>
            <a:r>
              <a:rPr lang="sr-Cyrl-RS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</a:t>
            </a:r>
            <a:r>
              <a:rPr lang="sr-Cyrl-R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deo koji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sadrži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programski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kod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za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pokretanje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sistema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(446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bajtova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),</a:t>
            </a:r>
            <a:endParaRPr lang="en-US" sz="11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1"/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Master Partition Table (MPT)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– </a:t>
            </a:r>
            <a:r>
              <a:rPr lang="en-US" sz="1200" b="1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bajtovi</a:t>
            </a:r>
            <a:r>
              <a:rPr lang="en-US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446-509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-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tabela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particija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koja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sadrži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informacije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rasporedu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particija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disku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(64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bajta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):</a:t>
            </a:r>
            <a:endParaRPr lang="en-US" sz="11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1"/>
            <a:r>
              <a:rPr lang="sr-Cyrl-R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Tačno</a:t>
            </a:r>
            <a:r>
              <a:rPr lang="sr-Cyrl-R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sr-Cyrl-R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 </a:t>
            </a:r>
            <a:r>
              <a:rPr lang="sr-Cyrl-R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unosa</a:t>
            </a:r>
            <a:r>
              <a:rPr lang="sr-Cyrl-R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sr-Cyrl-R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svaki</a:t>
            </a:r>
            <a:r>
              <a:rPr lang="sr-Cyrl-R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sr-Cyrl-R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</a:t>
            </a:r>
            <a:r>
              <a:rPr lang="sr-Cyrl-R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sr-Cyrl-R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16 </a:t>
            </a:r>
            <a:r>
              <a:rPr lang="sr-Cyrl-R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bajtova</a:t>
            </a:r>
            <a:r>
              <a:rPr lang="sr-Cyrl-R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→ </a:t>
            </a:r>
            <a:r>
              <a:rPr lang="sr-Cyrl-R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ukupno</a:t>
            </a:r>
            <a:r>
              <a:rPr lang="sr-Cyrl-R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64 </a:t>
            </a:r>
            <a:r>
              <a:rPr lang="sr-Cyrl-R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bajta</a:t>
            </a:r>
            <a:r>
              <a:rPr lang="sr-Cyrl-R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endParaRPr lang="en-US" sz="11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1"/>
            <a:r>
              <a:rPr lang="sr-Cyrl-R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Svaki</a:t>
            </a:r>
            <a:r>
              <a:rPr lang="sr-Cyrl-R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sr-Cyrl-R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unos</a:t>
            </a:r>
            <a:r>
              <a:rPr lang="sr-Cyrl-R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sr-Cyrl-R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opisuje</a:t>
            </a:r>
            <a:r>
              <a:rPr lang="sr-Cyrl-R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sr-Cyrl-R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jednu</a:t>
            </a:r>
            <a:r>
              <a:rPr lang="sr-Cyrl-R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sr-Cyrl-R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particiju</a:t>
            </a:r>
            <a:r>
              <a:rPr lang="sr-Cyrl-R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</a:t>
            </a:r>
            <a:r>
              <a:rPr lang="sr-Cyrl-R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primarnu</a:t>
            </a:r>
            <a:r>
              <a:rPr lang="sr-Cyrl-R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sr-Cyrl-R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ili</a:t>
            </a:r>
            <a:r>
              <a:rPr lang="sr-Cyrl-R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sr-Cyrl-R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proširenu</a:t>
            </a:r>
            <a:r>
              <a:rPr lang="sr-Cyrl-R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).</a:t>
            </a:r>
            <a:endParaRPr lang="en-US" sz="11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1"/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Boot </a:t>
            </a:r>
            <a:r>
              <a:rPr lang="en-US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potpis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–</a:t>
            </a:r>
            <a:r>
              <a:rPr lang="en-US" sz="1200" b="1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bajtovi</a:t>
            </a:r>
            <a:r>
              <a:rPr lang="en-US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510-511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poslednja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dva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bajta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sektora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čije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vrednosti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0x55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0xAA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označavaju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 je disk boot-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abilan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en-US" sz="11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sr-Latn-RS" dirty="0"/>
          </a:p>
          <a:p>
            <a:endParaRPr lang="sr-Latn-RS" dirty="0"/>
          </a:p>
          <a:p>
            <a:endParaRPr lang="sr-Latn-RS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sr-Latn-R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F68969-E4C2-6567-6C51-654FB78684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28AC9-BAD4-472A-9095-C606D319C324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89289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A6DC2F-63F3-A162-35DA-5C47002D85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627D43-D27C-DB8B-5BF9-C5CE0C2397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5A8DFD-2ED0-01B5-9953-C9E5443769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 </a:t>
            </a:r>
            <a:r>
              <a:rPr lang="en-US" dirty="0" err="1"/>
              <a:t>forenzičkoj</a:t>
            </a:r>
            <a:r>
              <a:rPr lang="en-US" dirty="0"/>
              <a:t> </a:t>
            </a:r>
            <a:r>
              <a:rPr lang="en-US" dirty="0" err="1"/>
              <a:t>analizi</a:t>
            </a:r>
            <a:r>
              <a:rPr lang="en-US" dirty="0"/>
              <a:t>, </a:t>
            </a:r>
            <a:r>
              <a:rPr lang="en-US" dirty="0" err="1"/>
              <a:t>posebna</a:t>
            </a:r>
            <a:r>
              <a:rPr lang="en-US" dirty="0"/>
              <a:t> </a:t>
            </a:r>
            <a:r>
              <a:rPr lang="en-US" dirty="0" err="1"/>
              <a:t>pažnja</a:t>
            </a:r>
            <a:r>
              <a:rPr lang="en-US" dirty="0"/>
              <a:t> se </a:t>
            </a:r>
            <a:r>
              <a:rPr lang="en-US" dirty="0" err="1"/>
              <a:t>posvećuje</a:t>
            </a:r>
            <a:r>
              <a:rPr lang="en-US" dirty="0"/>
              <a:t> Master Partition Table (MPT)  – </a:t>
            </a:r>
            <a:r>
              <a:rPr lang="en-US" dirty="0" err="1"/>
              <a:t>tabeli</a:t>
            </a:r>
            <a:r>
              <a:rPr lang="en-US" dirty="0"/>
              <a:t> </a:t>
            </a:r>
            <a:r>
              <a:rPr lang="en-US" dirty="0" err="1"/>
              <a:t>particija</a:t>
            </a:r>
            <a:r>
              <a:rPr lang="en-US" dirty="0"/>
              <a:t>, </a:t>
            </a:r>
            <a:r>
              <a:rPr lang="en-US" dirty="0" err="1"/>
              <a:t>jer</a:t>
            </a:r>
            <a:r>
              <a:rPr lang="en-US" dirty="0"/>
              <a:t> </a:t>
            </a:r>
            <a:r>
              <a:rPr lang="en-US" dirty="0" err="1"/>
              <a:t>ona</a:t>
            </a:r>
            <a:r>
              <a:rPr lang="en-US" dirty="0"/>
              <a:t> </a:t>
            </a:r>
            <a:r>
              <a:rPr lang="en-US" dirty="0" err="1"/>
              <a:t>sadrži</a:t>
            </a:r>
            <a:r>
              <a:rPr lang="en-US" dirty="0"/>
              <a:t> </a:t>
            </a:r>
            <a:r>
              <a:rPr lang="en-US" dirty="0" err="1"/>
              <a:t>informacije</a:t>
            </a:r>
            <a:r>
              <a:rPr lang="en-US" dirty="0"/>
              <a:t> o </a:t>
            </a:r>
            <a:r>
              <a:rPr lang="en-US" dirty="0" err="1"/>
              <a:t>početku</a:t>
            </a:r>
            <a:r>
              <a:rPr lang="en-US" dirty="0"/>
              <a:t>, </a:t>
            </a:r>
            <a:r>
              <a:rPr lang="en-US" dirty="0" err="1"/>
              <a:t>veličini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tipu</a:t>
            </a:r>
            <a:r>
              <a:rPr lang="en-US" dirty="0"/>
              <a:t> </a:t>
            </a:r>
            <a:r>
              <a:rPr lang="en-US" dirty="0" err="1"/>
              <a:t>svake</a:t>
            </a:r>
            <a:r>
              <a:rPr lang="en-US" dirty="0"/>
              <a:t> </a:t>
            </a:r>
            <a:r>
              <a:rPr lang="en-US" dirty="0" err="1"/>
              <a:t>particije</a:t>
            </a:r>
            <a:r>
              <a:rPr lang="en-US" dirty="0"/>
              <a:t>. 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Kao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što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se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vidi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sr-Latn-R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prethodnoj</a:t>
            </a:r>
            <a:r>
              <a:rPr lang="sr-Latn-R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tabeli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particiona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tabela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se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nalazi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između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offseta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0x1BE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0x1FD </a:t>
            </a:r>
            <a:r>
              <a:rPr lang="sr-Cyrl-R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koja sadrži četiri 16-bajtna unosa sa informacijama o particijama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sr-Cyrl-R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 MBR šemi particionisanja (sektor 0), partition table počinje na offsetu 446 i ima 4 unosa, svaki po 16 bajtova. U svakom 16-bajtnom unosu postoji polje Partition Type (1 bajt) koje OS koristi da odluči kakvu particiju gleda (FAT, NTFS, extended, “hidden” varijante itd.).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sr-Latn-RS" dirty="0"/>
              <a:t>Na slici vidimo </a:t>
            </a:r>
            <a:r>
              <a:rPr lang="sr-Latn-C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Prikaz MBR particione tabele dobijen programskom analizom RAW sektora diska i na njoj se </a:t>
            </a:r>
            <a:r>
              <a:rPr lang="en-US" dirty="0" err="1"/>
              <a:t>vidi</a:t>
            </a:r>
            <a:r>
              <a:rPr lang="en-US" dirty="0"/>
              <a:t> da je Type polje </a:t>
            </a:r>
            <a:r>
              <a:rPr lang="en-US" dirty="0" err="1"/>
              <a:t>inicijalno</a:t>
            </a:r>
            <a:r>
              <a:rPr lang="en-US" dirty="0"/>
              <a:t> 07, </a:t>
            </a:r>
            <a:r>
              <a:rPr lang="en-US" dirty="0" err="1"/>
              <a:t>što</a:t>
            </a:r>
            <a:r>
              <a:rPr lang="en-US" dirty="0"/>
              <a:t> </a:t>
            </a:r>
            <a:r>
              <a:rPr lang="en-US" dirty="0" err="1"/>
              <a:t>označava</a:t>
            </a:r>
            <a:r>
              <a:rPr lang="en-US" dirty="0"/>
              <a:t> NTFS </a:t>
            </a:r>
            <a:r>
              <a:rPr lang="en-US" dirty="0" err="1"/>
              <a:t>particiju</a:t>
            </a:r>
            <a:r>
              <a:rPr lang="en-US" dirty="0"/>
              <a:t>,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upravo</a:t>
            </a:r>
            <a:r>
              <a:rPr lang="en-US" dirty="0"/>
              <a:t> ta </a:t>
            </a:r>
            <a:r>
              <a:rPr lang="en-US" dirty="0" err="1"/>
              <a:t>vrednost</a:t>
            </a:r>
            <a:r>
              <a:rPr lang="en-US" dirty="0"/>
              <a:t> je </a:t>
            </a:r>
            <a:r>
              <a:rPr lang="en-US" dirty="0" err="1"/>
              <a:t>promenjena</a:t>
            </a:r>
            <a:r>
              <a:rPr lang="en-US" dirty="0"/>
              <a:t> u 17.</a:t>
            </a:r>
            <a:endParaRPr lang="sr-Latn-C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sr-Cyrl-R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Prvi particioni unos (entry #1) sadrži validne metapodatke koji ukazuju na postojanje aktivne particije određenog tipa fajl-sistema, dok zapisi sa vrednostima 0x00 u preostalim particionim unosima (entry #2–#4) ukazuju na to da na disku ne postoje dodatne particije, odnosno da storage uređaj sadrži jednu primarnu particiju.</a:t>
            </a:r>
            <a:endParaRPr lang="sr-Latn-R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sr-Cyrl-R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Zapis </a:t>
            </a:r>
            <a:r>
              <a:rPr lang="sr-Cyrl-R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07 </a:t>
            </a:r>
            <a:r>
              <a:rPr lang="sr-Cyrl-R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za tip particije označava da se radi o NTFS particiji. </a:t>
            </a:r>
            <a:endParaRPr lang="sr-Latn-R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sr-Latn-R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sr-Latn-C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MPT - predstavlja strukturu podataka na disku koja sadrži informacije o rasporedu particija i omogućava operativnom sistemu da identifikuje i pristupi pojedinačnim particijama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dirty="0" err="1"/>
              <a:t>Analizom</a:t>
            </a:r>
            <a:r>
              <a:rPr lang="en-US" dirty="0"/>
              <a:t> </a:t>
            </a:r>
            <a:r>
              <a:rPr lang="en-US" dirty="0" err="1"/>
              <a:t>ovih</a:t>
            </a:r>
            <a:r>
              <a:rPr lang="en-US" dirty="0"/>
              <a:t> </a:t>
            </a:r>
            <a:r>
              <a:rPr lang="en-US" dirty="0" err="1"/>
              <a:t>podataka</a:t>
            </a:r>
            <a:r>
              <a:rPr lang="en-US" dirty="0"/>
              <a:t> </a:t>
            </a:r>
            <a:r>
              <a:rPr lang="en-US" dirty="0" err="1"/>
              <a:t>moguće</a:t>
            </a:r>
            <a:r>
              <a:rPr lang="en-US" dirty="0"/>
              <a:t> je </a:t>
            </a:r>
            <a:r>
              <a:rPr lang="en-US" dirty="0" err="1"/>
              <a:t>identifikovati</a:t>
            </a:r>
            <a:r>
              <a:rPr lang="en-US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izbrisane</a:t>
            </a:r>
            <a:r>
              <a:rPr lang="en-US" dirty="0"/>
              <a:t> </a:t>
            </a:r>
            <a:r>
              <a:rPr lang="en-US" dirty="0" err="1"/>
              <a:t>ili</a:t>
            </a:r>
            <a:r>
              <a:rPr lang="en-US" dirty="0"/>
              <a:t> </a:t>
            </a:r>
            <a:r>
              <a:rPr lang="en-US" dirty="0" err="1"/>
              <a:t>skrivene</a:t>
            </a:r>
            <a:r>
              <a:rPr lang="en-US" dirty="0"/>
              <a:t> </a:t>
            </a:r>
            <a:r>
              <a:rPr lang="en-US" dirty="0" err="1"/>
              <a:t>particije</a:t>
            </a:r>
            <a:r>
              <a:rPr lang="en-US" dirty="0"/>
              <a:t>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nelogične</a:t>
            </a:r>
            <a:r>
              <a:rPr lang="en-US" dirty="0"/>
              <a:t> </a:t>
            </a:r>
            <a:r>
              <a:rPr lang="en-US" dirty="0" err="1"/>
              <a:t>granice</a:t>
            </a:r>
            <a:r>
              <a:rPr lang="en-US" dirty="0"/>
              <a:t> </a:t>
            </a:r>
            <a:r>
              <a:rPr lang="en-US" dirty="0" err="1"/>
              <a:t>particija</a:t>
            </a:r>
            <a:r>
              <a:rPr lang="en-US" dirty="0"/>
              <a:t>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neslaganja</a:t>
            </a:r>
            <a:r>
              <a:rPr lang="en-US" dirty="0"/>
              <a:t> </a:t>
            </a:r>
            <a:r>
              <a:rPr lang="en-US" dirty="0" err="1"/>
              <a:t>između</a:t>
            </a:r>
            <a:r>
              <a:rPr lang="en-US" dirty="0"/>
              <a:t> </a:t>
            </a:r>
            <a:r>
              <a:rPr lang="en-US" dirty="0" err="1"/>
              <a:t>prijavljenog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stvarnog</a:t>
            </a:r>
            <a:r>
              <a:rPr lang="en-US" dirty="0"/>
              <a:t> </a:t>
            </a:r>
            <a:r>
              <a:rPr lang="en-US" dirty="0" err="1"/>
              <a:t>stanja</a:t>
            </a:r>
            <a:r>
              <a:rPr lang="en-US" dirty="0"/>
              <a:t> </a:t>
            </a:r>
            <a:r>
              <a:rPr lang="en-US" dirty="0" err="1"/>
              <a:t>diska</a:t>
            </a:r>
            <a:r>
              <a:rPr lang="en-US" dirty="0"/>
              <a:t>.</a:t>
            </a:r>
            <a:endParaRPr lang="sr-Latn-RS" dirty="0"/>
          </a:p>
          <a:p>
            <a:endParaRPr lang="sr-Latn-R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sr-Latn-RS" dirty="0"/>
          </a:p>
          <a:p>
            <a:endParaRPr lang="sr-Latn-C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8F0C01-4EF1-BD8B-60AC-7766A7CD8A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28AC9-BAD4-472A-9095-C606D319C324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967073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 fontAlgn="base"/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Nakon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fizičke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organizacije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diska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MBR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strukture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sledeći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nivo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apstrakcije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predstavlja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datotečni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sistem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 </a:t>
            </a:r>
          </a:p>
          <a:p>
            <a:pPr rtl="0" fontAlgn="base"/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Datotečni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sistem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definiše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način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organizacije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pristupa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podacima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unutar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particije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On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omogućava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operativnom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sistemu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da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radi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datotekama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direktorijumima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bez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potrebe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da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poznaje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njihovu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fizičku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lokaciju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disku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 </a:t>
            </a:r>
          </a:p>
          <a:p>
            <a:pPr rtl="0" fontAlgn="base"/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Drugim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rečima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datotečni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sistem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predstavlja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vezu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između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fizičkih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sektora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logičkog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prikaza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fajlova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 </a:t>
            </a:r>
          </a:p>
          <a:p>
            <a:pPr rtl="0" fontAlgn="base"/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Korisnik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vidi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fajl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imenom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putanjom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ali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datotečni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sistem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upravlja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klasterima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alokacijom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prostora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metapodacima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 </a:t>
            </a:r>
          </a:p>
          <a:p>
            <a:pPr rtl="0" fontAlgn="base"/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FAT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NTFS se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razlikuju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po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strukturi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bezbednosnim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mehanizmima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forenzičkom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značaju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što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direktan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uticaj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način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interpretacije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podataka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manipulacije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particijama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 </a:t>
            </a:r>
          </a:p>
          <a:p>
            <a:endParaRPr lang="en-US" dirty="0"/>
          </a:p>
          <a:p>
            <a:r>
              <a:rPr lang="en-US" dirty="0" err="1"/>
              <a:t>Osnovni</a:t>
            </a:r>
            <a:r>
              <a:rPr lang="en-US" dirty="0"/>
              <a:t> </a:t>
            </a:r>
            <a:r>
              <a:rPr lang="en-US" dirty="0" err="1"/>
              <a:t>elementi</a:t>
            </a:r>
            <a:r>
              <a:rPr lang="en-US" dirty="0"/>
              <a:t> </a:t>
            </a:r>
            <a:r>
              <a:rPr lang="en-US" dirty="0" err="1"/>
              <a:t>svakog</a:t>
            </a:r>
            <a:r>
              <a:rPr lang="en-US" dirty="0"/>
              <a:t> </a:t>
            </a:r>
            <a:r>
              <a:rPr lang="en-US" dirty="0" err="1"/>
              <a:t>datotečnog</a:t>
            </a:r>
            <a:r>
              <a:rPr lang="en-US" dirty="0"/>
              <a:t> </a:t>
            </a:r>
            <a:r>
              <a:rPr lang="en-US" dirty="0" err="1"/>
              <a:t>sistema</a:t>
            </a:r>
            <a:r>
              <a:rPr lang="en-US" dirty="0"/>
              <a:t> </a:t>
            </a:r>
            <a:r>
              <a:rPr lang="en-US" dirty="0" err="1"/>
              <a:t>su</a:t>
            </a:r>
            <a:r>
              <a:rPr lang="en-US" dirty="0"/>
              <a:t> </a:t>
            </a:r>
            <a:r>
              <a:rPr lang="en-US" dirty="0" err="1"/>
              <a:t>datoteke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direktorijumi</a:t>
            </a:r>
            <a:r>
              <a:rPr lang="en-US" dirty="0"/>
              <a:t>. </a:t>
            </a:r>
            <a:r>
              <a:rPr lang="en-US" dirty="0" err="1"/>
              <a:t>Datoteka</a:t>
            </a:r>
            <a:r>
              <a:rPr lang="en-US" dirty="0"/>
              <a:t> </a:t>
            </a:r>
            <a:r>
              <a:rPr lang="en-US" dirty="0" err="1"/>
              <a:t>predstavlja</a:t>
            </a:r>
            <a:r>
              <a:rPr lang="en-US" dirty="0"/>
              <a:t> </a:t>
            </a:r>
            <a:r>
              <a:rPr lang="en-US" dirty="0" err="1"/>
              <a:t>logičku</a:t>
            </a:r>
            <a:r>
              <a:rPr lang="en-US" dirty="0"/>
              <a:t> </a:t>
            </a:r>
            <a:r>
              <a:rPr lang="en-US" dirty="0" err="1"/>
              <a:t>celinu</a:t>
            </a:r>
            <a:r>
              <a:rPr lang="en-US" dirty="0"/>
              <a:t> </a:t>
            </a:r>
            <a:r>
              <a:rPr lang="en-US" dirty="0" err="1"/>
              <a:t>podataka</a:t>
            </a:r>
            <a:r>
              <a:rPr lang="en-US" dirty="0"/>
              <a:t> </a:t>
            </a:r>
            <a:r>
              <a:rPr lang="en-US" dirty="0" err="1"/>
              <a:t>koja</a:t>
            </a:r>
            <a:r>
              <a:rPr lang="en-US" dirty="0"/>
              <a:t> </a:t>
            </a:r>
            <a:r>
              <a:rPr lang="en-US" dirty="0" err="1"/>
              <a:t>ima</a:t>
            </a:r>
            <a:r>
              <a:rPr lang="en-US" dirty="0"/>
              <a:t> </a:t>
            </a:r>
            <a:r>
              <a:rPr lang="en-US" dirty="0" err="1"/>
              <a:t>ime</a:t>
            </a:r>
            <a:r>
              <a:rPr lang="en-US" dirty="0"/>
              <a:t>, </a:t>
            </a:r>
            <a:r>
              <a:rPr lang="en-US" dirty="0" err="1"/>
              <a:t>veličinu</a:t>
            </a:r>
            <a:r>
              <a:rPr lang="en-US" dirty="0"/>
              <a:t>, </a:t>
            </a:r>
            <a:r>
              <a:rPr lang="en-US" dirty="0" err="1"/>
              <a:t>vremenske</a:t>
            </a:r>
            <a:r>
              <a:rPr lang="en-US" dirty="0"/>
              <a:t> </a:t>
            </a:r>
            <a:r>
              <a:rPr lang="en-US" dirty="0" err="1"/>
              <a:t>atribute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druge</a:t>
            </a:r>
            <a:r>
              <a:rPr lang="en-US" dirty="0"/>
              <a:t> </a:t>
            </a:r>
            <a:r>
              <a:rPr lang="en-US" dirty="0" err="1"/>
              <a:t>metapodatke</a:t>
            </a:r>
            <a:r>
              <a:rPr lang="en-US" dirty="0"/>
              <a:t>. </a:t>
            </a:r>
            <a:r>
              <a:rPr lang="en-US" dirty="0" err="1"/>
              <a:t>Direktorijumi</a:t>
            </a:r>
            <a:r>
              <a:rPr lang="en-US" dirty="0"/>
              <a:t> </a:t>
            </a:r>
            <a:r>
              <a:rPr lang="en-US" dirty="0" err="1"/>
              <a:t>omogućavaju</a:t>
            </a:r>
            <a:r>
              <a:rPr lang="en-US" dirty="0"/>
              <a:t> </a:t>
            </a:r>
            <a:r>
              <a:rPr lang="en-US" dirty="0" err="1"/>
              <a:t>hijerarhijsku</a:t>
            </a:r>
            <a:r>
              <a:rPr lang="en-US" dirty="0"/>
              <a:t> </a:t>
            </a:r>
            <a:r>
              <a:rPr lang="en-US" dirty="0" err="1"/>
              <a:t>organizaciju</a:t>
            </a:r>
            <a:r>
              <a:rPr lang="en-US" dirty="0"/>
              <a:t> </a:t>
            </a:r>
            <a:r>
              <a:rPr lang="en-US" dirty="0" err="1"/>
              <a:t>datoteka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služe</a:t>
            </a:r>
            <a:r>
              <a:rPr lang="en-US" dirty="0"/>
              <a:t> </a:t>
            </a:r>
            <a:r>
              <a:rPr lang="en-US" dirty="0" err="1"/>
              <a:t>kao</a:t>
            </a:r>
            <a:r>
              <a:rPr lang="en-US" dirty="0"/>
              <a:t> </a:t>
            </a:r>
            <a:r>
              <a:rPr lang="en-US" dirty="0" err="1"/>
              <a:t>način</a:t>
            </a:r>
            <a:r>
              <a:rPr lang="en-US" dirty="0"/>
              <a:t> </a:t>
            </a:r>
            <a:r>
              <a:rPr lang="en-US" dirty="0" err="1"/>
              <a:t>grupisanja</a:t>
            </a:r>
            <a:r>
              <a:rPr lang="en-US" dirty="0"/>
              <a:t> </a:t>
            </a:r>
            <a:r>
              <a:rPr lang="en-US" dirty="0" err="1"/>
              <a:t>povezanih</a:t>
            </a:r>
            <a:r>
              <a:rPr lang="en-US" dirty="0"/>
              <a:t> </a:t>
            </a:r>
            <a:r>
              <a:rPr lang="en-US" dirty="0" err="1"/>
              <a:t>podataka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28AC9-BAD4-472A-9095-C606D319C324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140040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FAT je </a:t>
            </a:r>
            <a:r>
              <a:rPr lang="en-US" dirty="0" err="1"/>
              <a:t>jednostavan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široko</a:t>
            </a:r>
            <a:r>
              <a:rPr lang="en-US" dirty="0"/>
              <a:t> </a:t>
            </a:r>
            <a:r>
              <a:rPr lang="en-US" dirty="0" err="1"/>
              <a:t>kompatibilan</a:t>
            </a:r>
            <a:r>
              <a:rPr lang="en-US" dirty="0"/>
              <a:t> </a:t>
            </a:r>
            <a:r>
              <a:rPr lang="en-US" dirty="0" err="1"/>
              <a:t>datotečni</a:t>
            </a:r>
            <a:r>
              <a:rPr lang="en-US" dirty="0"/>
              <a:t> </a:t>
            </a:r>
            <a:r>
              <a:rPr lang="en-US" dirty="0" err="1"/>
              <a:t>sistem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 err="1"/>
              <a:t>Njegova</a:t>
            </a:r>
            <a:r>
              <a:rPr lang="en-US" dirty="0"/>
              <a:t> </a:t>
            </a:r>
            <a:r>
              <a:rPr lang="en-US" dirty="0" err="1"/>
              <a:t>osnovna</a:t>
            </a:r>
            <a:r>
              <a:rPr lang="en-US" dirty="0"/>
              <a:t> </a:t>
            </a:r>
            <a:r>
              <a:rPr lang="en-US" dirty="0" err="1"/>
              <a:t>karakteristika</a:t>
            </a:r>
            <a:r>
              <a:rPr lang="en-US" dirty="0"/>
              <a:t> je FAT </a:t>
            </a:r>
            <a:r>
              <a:rPr lang="en-US" dirty="0" err="1"/>
              <a:t>tabela</a:t>
            </a:r>
            <a:r>
              <a:rPr lang="en-US" dirty="0"/>
              <a:t> </a:t>
            </a:r>
            <a:r>
              <a:rPr lang="en-US" dirty="0" err="1"/>
              <a:t>koja</a:t>
            </a:r>
            <a:r>
              <a:rPr lang="en-US" dirty="0"/>
              <a:t> </a:t>
            </a:r>
            <a:r>
              <a:rPr lang="en-US" dirty="0" err="1"/>
              <a:t>povezuje</a:t>
            </a:r>
            <a:r>
              <a:rPr lang="en-US" dirty="0"/>
              <a:t> </a:t>
            </a:r>
            <a:r>
              <a:rPr lang="en-US" dirty="0" err="1"/>
              <a:t>klastere</a:t>
            </a:r>
            <a:r>
              <a:rPr lang="en-US" dirty="0"/>
              <a:t> </a:t>
            </a:r>
            <a:r>
              <a:rPr lang="en-US" dirty="0" err="1"/>
              <a:t>datoteka</a:t>
            </a:r>
            <a:endParaRPr lang="sr-Latn-R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FAT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datotečni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sistem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sastoji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od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sledećih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osnovnih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komponenti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Boot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sektor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–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sadrži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osnovne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informacije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datotečnom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sistemu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parametre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potrebne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za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njegovo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učitavanje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;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FAT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tabela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–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centralna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struktura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koja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povezuje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klastere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datoteka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;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Root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direktorijuma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–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osnovni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direktorijum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koji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sadrži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informacije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datotekama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poddirektorijumima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;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 region – deo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diska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kojem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nalaze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stvarni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podaci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datoteka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en-US" dirty="0" err="1"/>
              <a:t>Zbog</a:t>
            </a:r>
            <a:r>
              <a:rPr lang="en-US" dirty="0"/>
              <a:t> </a:t>
            </a:r>
            <a:r>
              <a:rPr lang="en-US" dirty="0" err="1"/>
              <a:t>svoje</a:t>
            </a:r>
            <a:r>
              <a:rPr lang="en-US" dirty="0"/>
              <a:t> </a:t>
            </a:r>
            <a:r>
              <a:rPr lang="en-US" dirty="0" err="1"/>
              <a:t>jednostavne</a:t>
            </a:r>
            <a:r>
              <a:rPr lang="en-US" dirty="0"/>
              <a:t> </a:t>
            </a:r>
            <a:r>
              <a:rPr lang="en-US" dirty="0" err="1"/>
              <a:t>strukture</a:t>
            </a:r>
            <a:r>
              <a:rPr lang="en-US" dirty="0"/>
              <a:t> </a:t>
            </a:r>
            <a:r>
              <a:rPr lang="en-US" dirty="0" err="1"/>
              <a:t>često</a:t>
            </a:r>
            <a:r>
              <a:rPr lang="en-US" dirty="0"/>
              <a:t> se </a:t>
            </a:r>
            <a:r>
              <a:rPr lang="en-US" dirty="0" err="1"/>
              <a:t>koristi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USB </a:t>
            </a:r>
            <a:r>
              <a:rPr lang="en-US" dirty="0" err="1"/>
              <a:t>uređajima</a:t>
            </a:r>
            <a:r>
              <a:rPr lang="en-US" dirty="0"/>
              <a:t>.</a:t>
            </a:r>
            <a:endParaRPr lang="sr-Latn-RS" dirty="0"/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Ova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hijerarhija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pokazuje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kako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FAT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sistem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organizuje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podatke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 od boot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sektora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FAT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tabela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do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direktorijuma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fajlova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28AC9-BAD4-472A-9095-C606D319C324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569457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E4E59A-6567-AAF5-A94C-39F773ECB0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18B285-E8E4-C41D-9487-FAF0A2B3BF0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78315F-CDC0-B439-E06B-F11C7E3F85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NTFS je </a:t>
            </a:r>
            <a:r>
              <a:rPr lang="en-US" dirty="0" err="1"/>
              <a:t>savremeni</a:t>
            </a:r>
            <a:r>
              <a:rPr lang="en-US" dirty="0"/>
              <a:t> Windows </a:t>
            </a:r>
            <a:r>
              <a:rPr lang="en-US" dirty="0" err="1"/>
              <a:t>datotečni</a:t>
            </a:r>
            <a:r>
              <a:rPr lang="en-US" dirty="0"/>
              <a:t> </a:t>
            </a:r>
            <a:r>
              <a:rPr lang="en-US" dirty="0" err="1"/>
              <a:t>sistem</a:t>
            </a:r>
            <a:r>
              <a:rPr lang="en-US" dirty="0"/>
              <a:t> </a:t>
            </a:r>
            <a:r>
              <a:rPr lang="en-US" dirty="0" err="1"/>
              <a:t>čija</a:t>
            </a:r>
            <a:r>
              <a:rPr lang="en-US" dirty="0"/>
              <a:t> je </a:t>
            </a:r>
            <a:r>
              <a:rPr lang="en-US" dirty="0" err="1"/>
              <a:t>centralna</a:t>
            </a:r>
            <a:r>
              <a:rPr lang="en-US" dirty="0"/>
              <a:t> </a:t>
            </a:r>
            <a:r>
              <a:rPr lang="en-US" dirty="0" err="1"/>
              <a:t>struktura</a:t>
            </a:r>
            <a:r>
              <a:rPr lang="en-US" dirty="0"/>
              <a:t> Master File Table.</a:t>
            </a:r>
            <a:br>
              <a:rPr lang="en-US" dirty="0"/>
            </a:br>
            <a:r>
              <a:rPr lang="en-US" dirty="0" err="1"/>
              <a:t>Svaka</a:t>
            </a:r>
            <a:r>
              <a:rPr lang="en-US" dirty="0"/>
              <a:t> </a:t>
            </a:r>
            <a:r>
              <a:rPr lang="en-US" dirty="0" err="1"/>
              <a:t>datoteka</a:t>
            </a:r>
            <a:r>
              <a:rPr lang="en-US" dirty="0"/>
              <a:t> </a:t>
            </a:r>
            <a:r>
              <a:rPr lang="en-US" dirty="0" err="1"/>
              <a:t>ima</a:t>
            </a:r>
            <a:r>
              <a:rPr lang="en-US" dirty="0"/>
              <a:t> </a:t>
            </a:r>
            <a:r>
              <a:rPr lang="en-US" dirty="0" err="1"/>
              <a:t>svoj</a:t>
            </a:r>
            <a:r>
              <a:rPr lang="en-US" dirty="0"/>
              <a:t> </a:t>
            </a:r>
            <a:r>
              <a:rPr lang="en-US" dirty="0" err="1"/>
              <a:t>zapis</a:t>
            </a:r>
            <a:r>
              <a:rPr lang="en-US" dirty="0"/>
              <a:t> u MFT-u </a:t>
            </a:r>
            <a:r>
              <a:rPr lang="en-US" dirty="0" err="1"/>
              <a:t>sa</a:t>
            </a:r>
            <a:r>
              <a:rPr lang="en-US" dirty="0"/>
              <a:t> </a:t>
            </a:r>
            <a:r>
              <a:rPr lang="en-US" dirty="0" err="1"/>
              <a:t>bogatim</a:t>
            </a:r>
            <a:r>
              <a:rPr lang="en-US" dirty="0"/>
              <a:t> </a:t>
            </a:r>
            <a:r>
              <a:rPr lang="en-US" dirty="0" err="1"/>
              <a:t>metapodacima</a:t>
            </a:r>
            <a:r>
              <a:rPr lang="en-US" dirty="0"/>
              <a:t>.</a:t>
            </a:r>
            <a:r>
              <a:rPr lang="sr-Latn-RS" dirty="0"/>
              <a:t> </a:t>
            </a:r>
            <a:r>
              <a:rPr lang="en-US" dirty="0"/>
              <a:t>MFT </a:t>
            </a:r>
            <a:r>
              <a:rPr lang="en-US" dirty="0" err="1"/>
              <a:t>sadrži</a:t>
            </a:r>
            <a:r>
              <a:rPr lang="en-US" dirty="0"/>
              <a:t> </a:t>
            </a:r>
            <a:r>
              <a:rPr lang="en-US" dirty="0" err="1"/>
              <a:t>zapise</a:t>
            </a:r>
            <a:r>
              <a:rPr lang="en-US" dirty="0"/>
              <a:t> o </a:t>
            </a:r>
            <a:r>
              <a:rPr lang="en-US" dirty="0" err="1"/>
              <a:t>svim</a:t>
            </a:r>
            <a:r>
              <a:rPr lang="en-US" dirty="0"/>
              <a:t> </a:t>
            </a:r>
            <a:r>
              <a:rPr lang="en-US" dirty="0" err="1"/>
              <a:t>datotekama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direktorijumima</a:t>
            </a:r>
            <a:r>
              <a:rPr lang="en-US" dirty="0"/>
              <a:t>, </a:t>
            </a:r>
            <a:r>
              <a:rPr lang="en-US" dirty="0" err="1"/>
              <a:t>uključujući</a:t>
            </a:r>
            <a:r>
              <a:rPr lang="en-US" dirty="0"/>
              <a:t> </a:t>
            </a:r>
            <a:r>
              <a:rPr lang="en-US" dirty="0" err="1"/>
              <a:t>njihove</a:t>
            </a:r>
            <a:r>
              <a:rPr lang="en-US" dirty="0"/>
              <a:t> </a:t>
            </a:r>
            <a:r>
              <a:rPr lang="en-US" dirty="0" err="1"/>
              <a:t>atribute</a:t>
            </a:r>
            <a:r>
              <a:rPr lang="en-US" dirty="0"/>
              <a:t>, </a:t>
            </a:r>
            <a:r>
              <a:rPr lang="en-US" dirty="0" err="1"/>
              <a:t>lokaciju</a:t>
            </a:r>
            <a:r>
              <a:rPr lang="en-US" dirty="0"/>
              <a:t> </a:t>
            </a:r>
            <a:r>
              <a:rPr lang="en-US" dirty="0" err="1"/>
              <a:t>podataka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bezbednosne</a:t>
            </a:r>
            <a:r>
              <a:rPr lang="en-US" dirty="0"/>
              <a:t> </a:t>
            </a:r>
            <a:r>
              <a:rPr lang="en-US" dirty="0" err="1"/>
              <a:t>informacije</a:t>
            </a:r>
            <a:r>
              <a:rPr lang="en-US" dirty="0"/>
              <a:t>.</a:t>
            </a:r>
          </a:p>
          <a:p>
            <a:r>
              <a:rPr lang="en-US" dirty="0" err="1"/>
              <a:t>Svaki</a:t>
            </a:r>
            <a:r>
              <a:rPr lang="en-US" dirty="0"/>
              <a:t> MFT </a:t>
            </a:r>
            <a:r>
              <a:rPr lang="en-US" dirty="0" err="1"/>
              <a:t>zapis</a:t>
            </a:r>
            <a:r>
              <a:rPr lang="en-US" dirty="0"/>
              <a:t> </a:t>
            </a:r>
            <a:r>
              <a:rPr lang="en-US" dirty="0" err="1"/>
              <a:t>ima</a:t>
            </a:r>
            <a:r>
              <a:rPr lang="en-US" dirty="0"/>
              <a:t> </a:t>
            </a:r>
            <a:r>
              <a:rPr lang="en-US" dirty="0" err="1"/>
              <a:t>fiksnu</a:t>
            </a:r>
            <a:r>
              <a:rPr lang="en-US" dirty="0"/>
              <a:t> </a:t>
            </a:r>
            <a:r>
              <a:rPr lang="en-US" dirty="0" err="1"/>
              <a:t>veličinu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može</a:t>
            </a:r>
            <a:r>
              <a:rPr lang="en-US" dirty="0"/>
              <a:t> </a:t>
            </a:r>
            <a:r>
              <a:rPr lang="en-US" dirty="0" err="1"/>
              <a:t>sadržati</a:t>
            </a:r>
            <a:r>
              <a:rPr lang="en-US" dirty="0"/>
              <a:t> </a:t>
            </a:r>
            <a:r>
              <a:rPr lang="en-US" dirty="0" err="1"/>
              <a:t>više</a:t>
            </a:r>
            <a:r>
              <a:rPr lang="en-US" dirty="0"/>
              <a:t> </a:t>
            </a:r>
            <a:r>
              <a:rPr lang="en-US" dirty="0" err="1"/>
              <a:t>atributa</a:t>
            </a:r>
            <a:r>
              <a:rPr lang="en-US" dirty="0"/>
              <a:t>, </a:t>
            </a:r>
            <a:r>
              <a:rPr lang="en-US" dirty="0" err="1"/>
              <a:t>kao</a:t>
            </a:r>
            <a:r>
              <a:rPr lang="en-US" dirty="0"/>
              <a:t> </a:t>
            </a:r>
            <a:r>
              <a:rPr lang="en-US" dirty="0" err="1"/>
              <a:t>što</a:t>
            </a:r>
            <a:r>
              <a:rPr lang="en-US" dirty="0"/>
              <a:t> </a:t>
            </a:r>
            <a:r>
              <a:rPr lang="en-US" dirty="0" err="1"/>
              <a:t>su</a:t>
            </a:r>
            <a:r>
              <a:rPr lang="en-US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informacije</a:t>
            </a:r>
            <a:r>
              <a:rPr lang="en-US" dirty="0"/>
              <a:t> o </a:t>
            </a:r>
            <a:r>
              <a:rPr lang="en-US" dirty="0" err="1"/>
              <a:t>imenu</a:t>
            </a:r>
            <a:r>
              <a:rPr lang="en-US" dirty="0"/>
              <a:t> </a:t>
            </a:r>
            <a:r>
              <a:rPr lang="en-US" dirty="0" err="1"/>
              <a:t>datoteke</a:t>
            </a:r>
            <a:r>
              <a:rPr lang="en-US" dirty="0"/>
              <a:t>;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bezbednosni</a:t>
            </a:r>
            <a:r>
              <a:rPr lang="en-US" dirty="0"/>
              <a:t> </a:t>
            </a:r>
            <a:r>
              <a:rPr lang="en-US" dirty="0" err="1"/>
              <a:t>deskriptori</a:t>
            </a:r>
            <a:r>
              <a:rPr lang="en-US" dirty="0"/>
              <a:t>;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vremenski</a:t>
            </a:r>
            <a:r>
              <a:rPr lang="en-US" dirty="0"/>
              <a:t> </a:t>
            </a:r>
            <a:r>
              <a:rPr lang="en-US" dirty="0" err="1"/>
              <a:t>žigovi</a:t>
            </a:r>
            <a:r>
              <a:rPr lang="en-US" dirty="0"/>
              <a:t>;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pokazivači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klastere</a:t>
            </a:r>
            <a:r>
              <a:rPr lang="en-US" dirty="0"/>
              <a:t> u </a:t>
            </a:r>
            <a:r>
              <a:rPr lang="en-US" dirty="0" err="1"/>
              <a:t>kojima</a:t>
            </a:r>
            <a:r>
              <a:rPr lang="en-US" dirty="0"/>
              <a:t> se </a:t>
            </a:r>
            <a:r>
              <a:rPr lang="en-US" dirty="0" err="1"/>
              <a:t>nalaze</a:t>
            </a:r>
            <a:r>
              <a:rPr lang="en-US" dirty="0"/>
              <a:t> </a:t>
            </a:r>
            <a:r>
              <a:rPr lang="en-US" dirty="0" err="1"/>
              <a:t>podaci</a:t>
            </a:r>
            <a:r>
              <a:rPr lang="en-US" dirty="0"/>
              <a:t>.</a:t>
            </a:r>
          </a:p>
          <a:p>
            <a:r>
              <a:rPr lang="en-US" dirty="0"/>
              <a:t>NTFS </a:t>
            </a:r>
            <a:r>
              <a:rPr lang="en-US" dirty="0" err="1"/>
              <a:t>podržava</a:t>
            </a:r>
            <a:r>
              <a:rPr lang="en-US" dirty="0"/>
              <a:t> NTFS </a:t>
            </a:r>
            <a:r>
              <a:rPr lang="en-US" dirty="0" err="1"/>
              <a:t>podržava</a:t>
            </a:r>
            <a:r>
              <a:rPr lang="sr-Latn-RS" dirty="0"/>
              <a:t>:</a:t>
            </a:r>
            <a:endParaRPr lang="en-US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podršku</a:t>
            </a:r>
            <a:r>
              <a:rPr lang="en-US" dirty="0"/>
              <a:t> za </a:t>
            </a:r>
            <a:r>
              <a:rPr lang="en-US" dirty="0" err="1"/>
              <a:t>velike</a:t>
            </a:r>
            <a:r>
              <a:rPr lang="en-US" dirty="0"/>
              <a:t> </a:t>
            </a:r>
            <a:r>
              <a:rPr lang="en-US" dirty="0" err="1"/>
              <a:t>datoteke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volumene</a:t>
            </a:r>
            <a:r>
              <a:rPr lang="en-US" dirty="0"/>
              <a:t>;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kontrolu</a:t>
            </a:r>
            <a:r>
              <a:rPr lang="en-US" dirty="0"/>
              <a:t> </a:t>
            </a:r>
            <a:r>
              <a:rPr lang="en-US" dirty="0" err="1"/>
              <a:t>pristupa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dozvole</a:t>
            </a:r>
            <a:r>
              <a:rPr lang="en-US" dirty="0"/>
              <a:t>;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journaling, koji </a:t>
            </a:r>
            <a:r>
              <a:rPr lang="en-US" dirty="0" err="1"/>
              <a:t>omogućava</a:t>
            </a:r>
            <a:r>
              <a:rPr lang="en-US" dirty="0"/>
              <a:t> </a:t>
            </a:r>
            <a:r>
              <a:rPr lang="en-US" dirty="0" err="1"/>
              <a:t>oporavak</a:t>
            </a:r>
            <a:r>
              <a:rPr lang="en-US" dirty="0"/>
              <a:t> </a:t>
            </a:r>
            <a:r>
              <a:rPr lang="en-US" dirty="0" err="1"/>
              <a:t>sistema</a:t>
            </a:r>
            <a:r>
              <a:rPr lang="en-US" dirty="0"/>
              <a:t> </a:t>
            </a:r>
            <a:r>
              <a:rPr lang="en-US" dirty="0" err="1"/>
              <a:t>nakon</a:t>
            </a:r>
            <a:r>
              <a:rPr lang="en-US" dirty="0"/>
              <a:t> </a:t>
            </a:r>
            <a:r>
              <a:rPr lang="en-US" dirty="0" err="1"/>
              <a:t>greške</a:t>
            </a:r>
            <a:r>
              <a:rPr lang="en-US" dirty="0"/>
              <a:t>;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enkripciju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kompresiju</a:t>
            </a:r>
            <a:r>
              <a:rPr lang="en-US" dirty="0"/>
              <a:t> </a:t>
            </a:r>
            <a:r>
              <a:rPr lang="en-US" dirty="0" err="1"/>
              <a:t>podataka</a:t>
            </a:r>
            <a:r>
              <a:rPr lang="en-US" dirty="0"/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 err="1"/>
              <a:t>Zbog</a:t>
            </a:r>
            <a:r>
              <a:rPr lang="en-US" dirty="0"/>
              <a:t> toga </a:t>
            </a:r>
            <a:r>
              <a:rPr lang="en-US" dirty="0" err="1"/>
              <a:t>ima</a:t>
            </a:r>
            <a:r>
              <a:rPr lang="en-US" dirty="0"/>
              <a:t> </a:t>
            </a:r>
            <a:r>
              <a:rPr lang="en-US" dirty="0" err="1"/>
              <a:t>znatno</a:t>
            </a:r>
            <a:r>
              <a:rPr lang="en-US" dirty="0"/>
              <a:t> </a:t>
            </a:r>
            <a:r>
              <a:rPr lang="en-US" dirty="0" err="1"/>
              <a:t>veći</a:t>
            </a:r>
            <a:r>
              <a:rPr lang="en-US" dirty="0"/>
              <a:t> </a:t>
            </a:r>
            <a:r>
              <a:rPr lang="en-US" dirty="0" err="1"/>
              <a:t>forenzički</a:t>
            </a:r>
            <a:r>
              <a:rPr lang="en-US" dirty="0"/>
              <a:t> </a:t>
            </a:r>
            <a:r>
              <a:rPr lang="en-US" dirty="0" err="1"/>
              <a:t>značaj</a:t>
            </a:r>
            <a:r>
              <a:rPr lang="en-US" dirty="0"/>
              <a:t> u </a:t>
            </a:r>
            <a:r>
              <a:rPr lang="en-US" dirty="0" err="1"/>
              <a:t>odnosu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FAT</a:t>
            </a:r>
            <a:endParaRPr lang="sr-Latn-RS" dirty="0"/>
          </a:p>
          <a:p>
            <a:endParaRPr lang="sr-Latn-R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6DA8CF-2F25-86DB-7B76-919B86906EB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28AC9-BAD4-472A-9095-C606D319C324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515981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844AA5-5D8E-CEE4-F50E-55E7810E2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0001949-EB46-3302-B8EF-E31B1DA690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0E119F-4F42-7608-7EF4-A8B218F253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 (FAT32) </a:t>
            </a:r>
            <a:r>
              <a:rPr lang="en-US" dirty="0" err="1"/>
              <a:t>i</a:t>
            </a:r>
            <a:r>
              <a:rPr lang="en-US" dirty="0"/>
              <a:t> NTFS </a:t>
            </a:r>
            <a:r>
              <a:rPr lang="en-US" dirty="0" err="1"/>
              <a:t>predstavljaju</a:t>
            </a:r>
            <a:r>
              <a:rPr lang="en-US" dirty="0"/>
              <a:t> </a:t>
            </a:r>
            <a:r>
              <a:rPr lang="en-US" dirty="0" err="1"/>
              <a:t>dva</a:t>
            </a:r>
            <a:r>
              <a:rPr lang="en-US" dirty="0"/>
              <a:t> </a:t>
            </a:r>
            <a:r>
              <a:rPr lang="en-US" dirty="0" err="1"/>
              <a:t>fundamentalno</a:t>
            </a:r>
            <a:r>
              <a:rPr lang="en-US" dirty="0"/>
              <a:t> </a:t>
            </a:r>
            <a:r>
              <a:rPr lang="en-US" dirty="0" err="1"/>
              <a:t>različita</a:t>
            </a:r>
            <a:r>
              <a:rPr lang="en-US" dirty="0"/>
              <a:t> </a:t>
            </a:r>
            <a:r>
              <a:rPr lang="en-US" dirty="0" err="1"/>
              <a:t>pristupa</a:t>
            </a:r>
            <a:r>
              <a:rPr lang="en-US" dirty="0"/>
              <a:t> </a:t>
            </a:r>
            <a:r>
              <a:rPr lang="en-US" dirty="0" err="1"/>
              <a:t>organizaciji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upravljanju</a:t>
            </a:r>
            <a:r>
              <a:rPr lang="en-US" dirty="0"/>
              <a:t> </a:t>
            </a:r>
            <a:r>
              <a:rPr lang="en-US" dirty="0" err="1"/>
              <a:t>podacima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storage </a:t>
            </a:r>
            <a:r>
              <a:rPr lang="en-US" dirty="0" err="1"/>
              <a:t>medijumima</a:t>
            </a:r>
            <a:r>
              <a:rPr lang="en-US" dirty="0"/>
              <a:t>. </a:t>
            </a:r>
            <a:r>
              <a:rPr lang="en-US" dirty="0" err="1"/>
              <a:t>Iako</a:t>
            </a:r>
            <a:r>
              <a:rPr lang="en-US" dirty="0"/>
              <a:t> oba </a:t>
            </a:r>
            <a:r>
              <a:rPr lang="en-US" dirty="0" err="1"/>
              <a:t>sistema</a:t>
            </a:r>
            <a:r>
              <a:rPr lang="en-US" dirty="0"/>
              <a:t> </a:t>
            </a:r>
            <a:r>
              <a:rPr lang="en-US" dirty="0" err="1"/>
              <a:t>imaju</a:t>
            </a:r>
            <a:r>
              <a:rPr lang="en-US" dirty="0"/>
              <a:t> </a:t>
            </a:r>
            <a:r>
              <a:rPr lang="en-US" dirty="0" err="1"/>
              <a:t>istu</a:t>
            </a:r>
            <a:r>
              <a:rPr lang="en-US" dirty="0"/>
              <a:t> </a:t>
            </a:r>
            <a:r>
              <a:rPr lang="en-US" dirty="0" err="1"/>
              <a:t>osnovnu</a:t>
            </a:r>
            <a:r>
              <a:rPr lang="en-US" dirty="0"/>
              <a:t> </a:t>
            </a:r>
            <a:r>
              <a:rPr lang="en-US" dirty="0" err="1"/>
              <a:t>ulogu</a:t>
            </a:r>
            <a:r>
              <a:rPr lang="en-US" dirty="0"/>
              <a:t> – </a:t>
            </a:r>
            <a:r>
              <a:rPr lang="en-US" dirty="0" err="1"/>
              <a:t>skladištenje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pristup</a:t>
            </a:r>
            <a:r>
              <a:rPr lang="en-US" dirty="0"/>
              <a:t> </a:t>
            </a:r>
            <a:r>
              <a:rPr lang="en-US" dirty="0" err="1"/>
              <a:t>podacima</a:t>
            </a:r>
            <a:r>
              <a:rPr lang="en-US" dirty="0"/>
              <a:t> – </a:t>
            </a:r>
            <a:r>
              <a:rPr lang="en-US" dirty="0" err="1"/>
              <a:t>njihove</a:t>
            </a:r>
            <a:r>
              <a:rPr lang="en-US" dirty="0"/>
              <a:t> </a:t>
            </a:r>
            <a:r>
              <a:rPr lang="en-US" dirty="0" err="1"/>
              <a:t>unutrašnje</a:t>
            </a:r>
            <a:r>
              <a:rPr lang="en-US" dirty="0"/>
              <a:t> </a:t>
            </a:r>
            <a:r>
              <a:rPr lang="en-US" dirty="0" err="1"/>
              <a:t>strukture</a:t>
            </a:r>
            <a:r>
              <a:rPr lang="en-US" dirty="0"/>
              <a:t>, </a:t>
            </a:r>
            <a:r>
              <a:rPr lang="en-US" dirty="0" err="1"/>
              <a:t>bezbednosni</a:t>
            </a:r>
            <a:r>
              <a:rPr lang="en-US" dirty="0"/>
              <a:t> </a:t>
            </a:r>
            <a:r>
              <a:rPr lang="en-US" dirty="0" err="1"/>
              <a:t>mehanizmi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način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koji </a:t>
            </a:r>
            <a:r>
              <a:rPr lang="en-US" dirty="0" err="1"/>
              <a:t>operativni</a:t>
            </a:r>
            <a:r>
              <a:rPr lang="en-US" dirty="0"/>
              <a:t> </a:t>
            </a:r>
            <a:r>
              <a:rPr lang="en-US" dirty="0" err="1"/>
              <a:t>sistem</a:t>
            </a:r>
            <a:r>
              <a:rPr lang="en-US" dirty="0"/>
              <a:t> </a:t>
            </a:r>
            <a:r>
              <a:rPr lang="en-US" dirty="0" err="1"/>
              <a:t>njima</a:t>
            </a:r>
            <a:r>
              <a:rPr lang="en-US" dirty="0"/>
              <a:t> </a:t>
            </a:r>
            <a:r>
              <a:rPr lang="en-US" dirty="0" err="1"/>
              <a:t>upravlja</a:t>
            </a:r>
            <a:r>
              <a:rPr lang="en-US" dirty="0"/>
              <a:t> </a:t>
            </a:r>
            <a:r>
              <a:rPr lang="en-US" dirty="0" err="1"/>
              <a:t>značajno</a:t>
            </a:r>
            <a:r>
              <a:rPr lang="en-US" dirty="0"/>
              <a:t> se </a:t>
            </a:r>
            <a:r>
              <a:rPr lang="en-US" dirty="0" err="1"/>
              <a:t>razlikuju</a:t>
            </a:r>
            <a:r>
              <a:rPr lang="en-US" dirty="0"/>
              <a:t>. Ove </a:t>
            </a:r>
            <a:r>
              <a:rPr lang="en-US" dirty="0" err="1"/>
              <a:t>razlike</a:t>
            </a:r>
            <a:r>
              <a:rPr lang="en-US" dirty="0"/>
              <a:t> </a:t>
            </a:r>
            <a:r>
              <a:rPr lang="en-US" dirty="0" err="1"/>
              <a:t>imaju</a:t>
            </a:r>
            <a:r>
              <a:rPr lang="en-US" dirty="0"/>
              <a:t> </a:t>
            </a:r>
            <a:r>
              <a:rPr lang="en-US" dirty="0" err="1"/>
              <a:t>direktan</a:t>
            </a:r>
            <a:r>
              <a:rPr lang="en-US" dirty="0"/>
              <a:t> </a:t>
            </a:r>
            <a:r>
              <a:rPr lang="en-US" dirty="0" err="1"/>
              <a:t>uticaj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rezultate</a:t>
            </a:r>
            <a:r>
              <a:rPr lang="en-US" dirty="0"/>
              <a:t> </a:t>
            </a:r>
            <a:r>
              <a:rPr lang="en-US" dirty="0" err="1"/>
              <a:t>forenzičke</a:t>
            </a:r>
            <a:r>
              <a:rPr lang="en-US" dirty="0"/>
              <a:t> </a:t>
            </a:r>
            <a:r>
              <a:rPr lang="en-US" dirty="0" err="1"/>
              <a:t>analize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ponašanje</a:t>
            </a:r>
            <a:r>
              <a:rPr lang="en-US" dirty="0"/>
              <a:t> </a:t>
            </a:r>
            <a:r>
              <a:rPr lang="en-US" dirty="0" err="1"/>
              <a:t>operativnog</a:t>
            </a:r>
            <a:r>
              <a:rPr lang="en-US" dirty="0"/>
              <a:t> </a:t>
            </a:r>
            <a:r>
              <a:rPr lang="en-US" dirty="0" err="1"/>
              <a:t>sistema</a:t>
            </a:r>
            <a:r>
              <a:rPr lang="en-US" dirty="0"/>
              <a:t> </a:t>
            </a:r>
            <a:r>
              <a:rPr lang="en-US" dirty="0" err="1"/>
              <a:t>prilikom</a:t>
            </a:r>
            <a:r>
              <a:rPr lang="en-US" dirty="0"/>
              <a:t> </a:t>
            </a:r>
            <a:r>
              <a:rPr lang="en-US" dirty="0" err="1"/>
              <a:t>manipulacije</a:t>
            </a:r>
            <a:r>
              <a:rPr lang="en-US" dirty="0"/>
              <a:t> </a:t>
            </a:r>
            <a:r>
              <a:rPr lang="en-US" dirty="0" err="1"/>
              <a:t>particijama</a:t>
            </a:r>
            <a:r>
              <a:rPr lang="en-US" dirty="0"/>
              <a:t>. U </a:t>
            </a:r>
            <a:r>
              <a:rPr lang="en-US" dirty="0" err="1"/>
              <a:t>Tabeli</a:t>
            </a:r>
            <a:r>
              <a:rPr lang="en-US" dirty="0"/>
              <a:t> 2 </a:t>
            </a:r>
            <a:r>
              <a:rPr lang="en-US" dirty="0" err="1"/>
              <a:t>dat</a:t>
            </a:r>
            <a:r>
              <a:rPr lang="en-US" dirty="0"/>
              <a:t> je </a:t>
            </a:r>
            <a:r>
              <a:rPr lang="en-US" dirty="0" err="1"/>
              <a:t>uporedni</a:t>
            </a:r>
            <a:r>
              <a:rPr lang="en-US" dirty="0"/>
              <a:t> </a:t>
            </a:r>
            <a:r>
              <a:rPr lang="en-US" dirty="0" err="1"/>
              <a:t>prikaz</a:t>
            </a:r>
            <a:r>
              <a:rPr lang="en-US" dirty="0"/>
              <a:t> </a:t>
            </a:r>
            <a:r>
              <a:rPr lang="en-US" dirty="0" err="1"/>
              <a:t>osnovnih</a:t>
            </a:r>
            <a:r>
              <a:rPr lang="en-US" dirty="0"/>
              <a:t> </a:t>
            </a:r>
            <a:r>
              <a:rPr lang="en-US" dirty="0" err="1"/>
              <a:t>karakteristika</a:t>
            </a:r>
            <a:r>
              <a:rPr lang="en-US" dirty="0"/>
              <a:t> ova </a:t>
            </a:r>
            <a:r>
              <a:rPr lang="en-US" dirty="0" err="1"/>
              <a:t>dva</a:t>
            </a:r>
            <a:r>
              <a:rPr lang="en-US" dirty="0"/>
              <a:t> </a:t>
            </a:r>
            <a:r>
              <a:rPr lang="en-US" dirty="0" err="1"/>
              <a:t>sistema</a:t>
            </a:r>
            <a:r>
              <a:rPr lang="en-US" dirty="0"/>
              <a:t>, </a:t>
            </a:r>
            <a:r>
              <a:rPr lang="en-US" dirty="0" err="1"/>
              <a:t>čije</a:t>
            </a:r>
            <a:r>
              <a:rPr lang="en-US" dirty="0"/>
              <a:t> je </a:t>
            </a:r>
            <a:r>
              <a:rPr lang="en-US" dirty="0" err="1"/>
              <a:t>ponašanje</a:t>
            </a:r>
            <a:r>
              <a:rPr lang="en-US" dirty="0"/>
              <a:t> </a:t>
            </a:r>
            <a:r>
              <a:rPr lang="en-US" dirty="0" err="1"/>
              <a:t>dodatno</a:t>
            </a:r>
            <a:r>
              <a:rPr lang="en-US" dirty="0"/>
              <a:t> </a:t>
            </a:r>
            <a:r>
              <a:rPr lang="en-US" dirty="0" err="1"/>
              <a:t>analizirano</a:t>
            </a:r>
            <a:r>
              <a:rPr lang="en-US" dirty="0"/>
              <a:t> u </a:t>
            </a:r>
            <a:r>
              <a:rPr lang="en-US" dirty="0" err="1"/>
              <a:t>praktičnom</a:t>
            </a:r>
            <a:r>
              <a:rPr lang="en-US" dirty="0"/>
              <a:t> </a:t>
            </a:r>
            <a:r>
              <a:rPr lang="en-US" dirty="0" err="1"/>
              <a:t>delu</a:t>
            </a:r>
            <a:r>
              <a:rPr lang="en-US" dirty="0"/>
              <a:t> rada.</a:t>
            </a:r>
            <a:endParaRPr lang="sr-Latn-R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0FF588-A5F7-9170-D5A5-FC60372ED6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28AC9-BAD4-472A-9095-C606D319C324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268096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Cilj</a:t>
            </a:r>
            <a:r>
              <a:rPr lang="en-US" dirty="0"/>
              <a:t> </a:t>
            </a:r>
            <a:r>
              <a:rPr lang="en-US" dirty="0" err="1"/>
              <a:t>eksperimenta</a:t>
            </a:r>
            <a:r>
              <a:rPr lang="en-US" dirty="0"/>
              <a:t> bio je da se </a:t>
            </a:r>
            <a:r>
              <a:rPr lang="en-US" dirty="0" err="1"/>
              <a:t>proveri</a:t>
            </a:r>
            <a:r>
              <a:rPr lang="en-US" dirty="0"/>
              <a:t> da li je </a:t>
            </a:r>
            <a:r>
              <a:rPr lang="en-US" dirty="0" err="1"/>
              <a:t>moguće</a:t>
            </a:r>
            <a:r>
              <a:rPr lang="en-US" dirty="0"/>
              <a:t> </a:t>
            </a:r>
            <a:r>
              <a:rPr lang="en-US" dirty="0" err="1"/>
              <a:t>sakriti</a:t>
            </a:r>
            <a:r>
              <a:rPr lang="en-US" dirty="0"/>
              <a:t> </a:t>
            </a:r>
            <a:r>
              <a:rPr lang="en-US" dirty="0" err="1"/>
              <a:t>particiju</a:t>
            </a:r>
            <a:r>
              <a:rPr lang="en-US" dirty="0"/>
              <a:t> </a:t>
            </a:r>
            <a:r>
              <a:rPr lang="en-US" dirty="0" err="1"/>
              <a:t>direktnom</a:t>
            </a:r>
            <a:r>
              <a:rPr lang="en-US" dirty="0"/>
              <a:t> </a:t>
            </a:r>
            <a:r>
              <a:rPr lang="en-US" dirty="0" err="1"/>
              <a:t>izmenom</a:t>
            </a:r>
            <a:r>
              <a:rPr lang="en-US" dirty="0"/>
              <a:t> MBR </a:t>
            </a:r>
            <a:r>
              <a:rPr lang="en-US" dirty="0" err="1"/>
              <a:t>particione</a:t>
            </a:r>
            <a:r>
              <a:rPr lang="en-US" dirty="0"/>
              <a:t> </a:t>
            </a:r>
            <a:r>
              <a:rPr lang="en-US" dirty="0" err="1"/>
              <a:t>tabele</a:t>
            </a:r>
            <a:r>
              <a:rPr lang="en-US" dirty="0"/>
              <a:t>. </a:t>
            </a:r>
            <a:r>
              <a:rPr lang="en-US" dirty="0" err="1"/>
              <a:t>Eksperiment</a:t>
            </a:r>
            <a:r>
              <a:rPr lang="en-US" dirty="0"/>
              <a:t> je </a:t>
            </a:r>
            <a:r>
              <a:rPr lang="en-US" dirty="0" err="1"/>
              <a:t>izveden</a:t>
            </a:r>
            <a:r>
              <a:rPr lang="en-US" dirty="0"/>
              <a:t> u </a:t>
            </a:r>
            <a:r>
              <a:rPr lang="en-US" dirty="0" err="1"/>
              <a:t>više</a:t>
            </a:r>
            <a:r>
              <a:rPr lang="en-US" dirty="0"/>
              <a:t> Windows </a:t>
            </a:r>
            <a:r>
              <a:rPr lang="en-US" dirty="0" err="1"/>
              <a:t>okruženja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različitim</a:t>
            </a:r>
            <a:r>
              <a:rPr lang="en-US" dirty="0"/>
              <a:t> </a:t>
            </a:r>
            <a:r>
              <a:rPr lang="en-US" dirty="0" err="1"/>
              <a:t>tipovima</a:t>
            </a:r>
            <a:r>
              <a:rPr lang="en-US" dirty="0"/>
              <a:t> </a:t>
            </a:r>
            <a:r>
              <a:rPr lang="en-US" dirty="0" err="1"/>
              <a:t>uređaja</a:t>
            </a:r>
            <a:r>
              <a:rPr lang="en-US" dirty="0"/>
              <a:t>, </a:t>
            </a:r>
            <a:r>
              <a:rPr lang="en-US" dirty="0" err="1"/>
              <a:t>uz</a:t>
            </a:r>
            <a:r>
              <a:rPr lang="en-US" dirty="0"/>
              <a:t> </a:t>
            </a:r>
            <a:r>
              <a:rPr lang="en-US" dirty="0" err="1"/>
              <a:t>obavezno</a:t>
            </a:r>
            <a:r>
              <a:rPr lang="en-US" dirty="0"/>
              <a:t> </a:t>
            </a:r>
            <a:r>
              <a:rPr lang="en-US" dirty="0" err="1"/>
              <a:t>kreiranje</a:t>
            </a:r>
            <a:r>
              <a:rPr lang="en-US" dirty="0"/>
              <a:t> backup-a pre </a:t>
            </a:r>
            <a:r>
              <a:rPr lang="en-US" dirty="0" err="1"/>
              <a:t>svake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sr-Latn-RS" dirty="0"/>
              <a:t>z</a:t>
            </a:r>
            <a:r>
              <a:rPr lang="en-US" dirty="0" err="1"/>
              <a:t>mene</a:t>
            </a:r>
            <a:endParaRPr lang="en-US" dirty="0"/>
          </a:p>
          <a:p>
            <a:endParaRPr lang="en-US" dirty="0"/>
          </a:p>
          <a:p>
            <a:r>
              <a:rPr lang="sr-Latn-R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 ovom delu rada prikazan je postupak sakrivanja particije tvrdog diska, sa posebnim fokusom na NTFS </a:t>
            </a:r>
            <a:r>
              <a:rPr lang="sr-Latn-R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datotečni</a:t>
            </a:r>
            <a:r>
              <a:rPr lang="sr-Latn-R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sistem. Eksperiment je realizovan u kontrolisanom okruženju, korišćenjem operativnog sistema Windows 11, koji predstavlja savremeni operativni sistem sa unapređenim bezbednosnim mehanizmima.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sr-Latn-R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Sakrivanje particije realizovano je na dva različita načina: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r>
              <a:rPr lang="sr-Latn-R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direktnom izmenom struktura diska pomoću </a:t>
            </a:r>
            <a:r>
              <a:rPr lang="sr-Latn-R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HeX</a:t>
            </a:r>
            <a:r>
              <a:rPr lang="sr-Latn-R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editora</a:t>
            </a:r>
            <a:r>
              <a:rPr lang="sr-Latn-R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r>
              <a:rPr lang="sr-Latn-R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korišćenjem </a:t>
            </a:r>
            <a:r>
              <a:rPr lang="sr-Latn-R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programa razvijenog u programskom jeziku C/C++</a:t>
            </a:r>
            <a:r>
              <a:rPr lang="sr-Latn-R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koji automatski izvršava potrebne izmene.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sr-Latn-R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Cilj ovog dela rada je da se pokaže kako se manipulacijom </a:t>
            </a:r>
            <a:r>
              <a:rPr lang="sr-Latn-RS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low-level</a:t>
            </a:r>
            <a:r>
              <a:rPr lang="sr-Latn-R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struktura diska može uticati na vidljivost particija u operativnom sistemu, kao i da se identifikuju ograničenja savremenih operativnih sistema u odnosu na starije verzije.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28AC9-BAD4-472A-9095-C606D319C324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404193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sr-Latn-RS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HxD</a:t>
            </a:r>
            <a:r>
              <a:rPr lang="sr-Latn-R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sr-Latn-RS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heksadecimalni</a:t>
            </a:r>
            <a:r>
              <a:rPr lang="sr-Latn-R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editor</a:t>
            </a:r>
            <a:r>
              <a:rPr lang="sr-Latn-R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predstavlja alat koji omogućava direktan pristup RAW podacima na fizičkom disku, nezavisno od operativnog sistema i </a:t>
            </a:r>
            <a:r>
              <a:rPr lang="sr-Latn-R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datotečnog</a:t>
            </a:r>
            <a:r>
              <a:rPr lang="sr-Latn-R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sistema. </a:t>
            </a:r>
            <a:r>
              <a:rPr lang="sr-Latn-R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HxD</a:t>
            </a:r>
            <a:r>
              <a:rPr lang="sr-Latn-R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omogućava pregled i izmenu sadržaja diska na bajt-nivou, uključujući i sektore koji nisu vidljivi korisniku.</a:t>
            </a:r>
            <a:r>
              <a:rPr lang="en-US" dirty="0"/>
              <a:t> </a:t>
            </a:r>
            <a:r>
              <a:rPr lang="en-US" dirty="0" err="1"/>
              <a:t>Promenom</a:t>
            </a:r>
            <a:r>
              <a:rPr lang="en-US" dirty="0"/>
              <a:t> </a:t>
            </a:r>
            <a:r>
              <a:rPr lang="en-US" dirty="0" err="1"/>
              <a:t>karakteristike</a:t>
            </a:r>
            <a:r>
              <a:rPr lang="en-US" dirty="0"/>
              <a:t> </a:t>
            </a:r>
            <a:r>
              <a:rPr lang="en-US" dirty="0" err="1"/>
              <a:t>particije</a:t>
            </a:r>
            <a:r>
              <a:rPr lang="en-US" dirty="0"/>
              <a:t> </a:t>
            </a:r>
            <a:r>
              <a:rPr lang="en-US" dirty="0" err="1"/>
              <a:t>moguće</a:t>
            </a:r>
            <a:r>
              <a:rPr lang="en-US" dirty="0"/>
              <a:t> je </a:t>
            </a:r>
            <a:r>
              <a:rPr lang="en-US" dirty="0" err="1"/>
              <a:t>učiniti</a:t>
            </a:r>
            <a:r>
              <a:rPr lang="en-US" dirty="0"/>
              <a:t> da </a:t>
            </a:r>
            <a:r>
              <a:rPr lang="en-US" dirty="0" err="1"/>
              <a:t>operativni</a:t>
            </a:r>
            <a:r>
              <a:rPr lang="en-US" dirty="0"/>
              <a:t> </a:t>
            </a:r>
            <a:r>
              <a:rPr lang="en-US" dirty="0" err="1"/>
              <a:t>sistem</a:t>
            </a:r>
            <a:r>
              <a:rPr lang="en-US" dirty="0"/>
              <a:t> </a:t>
            </a:r>
            <a:r>
              <a:rPr lang="en-US" dirty="0" err="1"/>
              <a:t>više</a:t>
            </a:r>
            <a:r>
              <a:rPr lang="en-US" dirty="0"/>
              <a:t> ne </a:t>
            </a:r>
            <a:r>
              <a:rPr lang="en-US" dirty="0" err="1"/>
              <a:t>prikazuje</a:t>
            </a:r>
            <a:r>
              <a:rPr lang="en-US" dirty="0"/>
              <a:t> </a:t>
            </a:r>
            <a:r>
              <a:rPr lang="en-US" dirty="0" err="1"/>
              <a:t>particiju</a:t>
            </a:r>
            <a:r>
              <a:rPr lang="en-US" dirty="0"/>
              <a:t> u File Explorer-u, </a:t>
            </a:r>
            <a:r>
              <a:rPr lang="en-US" dirty="0" err="1"/>
              <a:t>iako</a:t>
            </a:r>
            <a:r>
              <a:rPr lang="en-US" dirty="0"/>
              <a:t> </a:t>
            </a:r>
            <a:r>
              <a:rPr lang="en-US" dirty="0" err="1"/>
              <a:t>ona</a:t>
            </a:r>
            <a:r>
              <a:rPr lang="en-US" dirty="0"/>
              <a:t> </a:t>
            </a:r>
            <a:r>
              <a:rPr lang="en-US" dirty="0" err="1"/>
              <a:t>fizički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dalje</a:t>
            </a:r>
            <a:r>
              <a:rPr lang="en-US" dirty="0"/>
              <a:t> </a:t>
            </a:r>
            <a:r>
              <a:rPr lang="en-US" dirty="0" err="1"/>
              <a:t>postoji</a:t>
            </a:r>
            <a:r>
              <a:rPr lang="en-US" dirty="0"/>
              <a:t>.</a:t>
            </a:r>
            <a:endParaRPr lang="sr-Latn-RS" dirty="0"/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sr-Latn-R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Program </a:t>
            </a:r>
            <a:r>
              <a:rPr lang="sr-Latn-R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HxD</a:t>
            </a:r>
            <a:r>
              <a:rPr lang="sr-Latn-R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je pokrenut sa administratorskim privilegijama, kako bi bio omogućen direktan pristup fizičkom disku. </a:t>
            </a:r>
            <a:endParaRPr lang="sr-Latn-RS" dirty="0"/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sr-Latn-R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 izvođenja bilo kakvih izmena nad </a:t>
            </a:r>
            <a:r>
              <a:rPr lang="sr-Latn-RS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low-level</a:t>
            </a:r>
            <a:r>
              <a:rPr lang="sr-Latn-R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strukturama diska, neophodno je izvršiti izrada rezervne kopije (</a:t>
            </a:r>
            <a:r>
              <a:rPr lang="sr-Latn-R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backup</a:t>
            </a:r>
            <a:r>
              <a:rPr lang="sr-Latn-R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relevantnih podataka. Direktna manipulacija RAW sektorima diska, uključujući izmene Master </a:t>
            </a:r>
            <a:r>
              <a:rPr lang="sr-Latn-R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Boot</a:t>
            </a:r>
            <a:r>
              <a:rPr lang="sr-Latn-R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sr-Latn-R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Record</a:t>
            </a:r>
            <a:r>
              <a:rPr lang="sr-Latn-R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-a i </a:t>
            </a:r>
            <a:r>
              <a:rPr lang="sr-Latn-R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particione</a:t>
            </a:r>
            <a:r>
              <a:rPr lang="sr-Latn-R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tabele, nosi rizik od gubitka podataka ili neispravnog rada sistema u slučaju greške.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opsegu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adresa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od 0x1BE do 0x1FD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nalazi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particiona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tabela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</a:t>
            </a: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Master Partition Table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koja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sadrži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zapise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karakteristikama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particija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disku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U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okviru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particionog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unosa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koji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odgovara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NTFS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particiji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Maxtor (E:),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adresi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0x1E2,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izvršena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je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izmena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vrednosti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polja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Partition Type.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Standardna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vrednost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0x07,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koja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označava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NTFS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particiju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zamenjena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je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vrednošću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0x17,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koja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predstavlja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oznaku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za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skrivenu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NTFS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particiju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28AC9-BAD4-472A-9095-C606D319C324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739602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8DB593-8544-11EA-62E5-C6C0435C42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802D5C-0386-2F74-AB8B-A02176C824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06BB986-C1DD-1A8F-BACB-CEBB6731F1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 MBR </a:t>
            </a:r>
            <a:r>
              <a:rPr lang="en-US" dirty="0" err="1"/>
              <a:t>particionoj</a:t>
            </a:r>
            <a:r>
              <a:rPr lang="en-US" dirty="0"/>
              <a:t> </a:t>
            </a:r>
            <a:r>
              <a:rPr lang="en-US" dirty="0" err="1"/>
              <a:t>tabeli</a:t>
            </a:r>
            <a:r>
              <a:rPr lang="en-US" dirty="0"/>
              <a:t> </a:t>
            </a:r>
            <a:r>
              <a:rPr lang="en-US" dirty="0" err="1"/>
              <a:t>svaka</a:t>
            </a:r>
            <a:r>
              <a:rPr lang="en-US" dirty="0"/>
              <a:t> </a:t>
            </a:r>
            <a:r>
              <a:rPr lang="en-US" dirty="0" err="1"/>
              <a:t>particija</a:t>
            </a:r>
            <a:r>
              <a:rPr lang="en-US" dirty="0"/>
              <a:t> </a:t>
            </a:r>
            <a:r>
              <a:rPr lang="en-US" dirty="0" err="1"/>
              <a:t>ima</a:t>
            </a:r>
            <a:r>
              <a:rPr lang="en-US" dirty="0"/>
              <a:t> polje </a:t>
            </a:r>
            <a:r>
              <a:rPr lang="en-US" dirty="0" err="1"/>
              <a:t>koje</a:t>
            </a:r>
            <a:r>
              <a:rPr lang="en-US" dirty="0"/>
              <a:t> </a:t>
            </a:r>
            <a:r>
              <a:rPr lang="en-US" dirty="0" err="1"/>
              <a:t>definiše</a:t>
            </a:r>
            <a:r>
              <a:rPr lang="en-US" dirty="0"/>
              <a:t> </a:t>
            </a:r>
            <a:r>
              <a:rPr lang="en-US" dirty="0" err="1"/>
              <a:t>njen</a:t>
            </a:r>
            <a:r>
              <a:rPr lang="en-US" dirty="0"/>
              <a:t> tip.</a:t>
            </a:r>
            <a:r>
              <a:rPr lang="sr-Latn-RS" dirty="0"/>
              <a:t> To sam objašnjavala na 7.slajdu.</a:t>
            </a:r>
            <a:r>
              <a:rPr lang="en-US" dirty="0"/>
              <a:t> </a:t>
            </a:r>
            <a:r>
              <a:rPr lang="en-US" dirty="0" err="1"/>
              <a:t>Kod</a:t>
            </a:r>
            <a:r>
              <a:rPr lang="en-US" dirty="0"/>
              <a:t> NTFS </a:t>
            </a:r>
            <a:r>
              <a:rPr lang="en-US" dirty="0" err="1"/>
              <a:t>particija</a:t>
            </a:r>
            <a:r>
              <a:rPr lang="en-US" dirty="0"/>
              <a:t> ta </a:t>
            </a:r>
            <a:r>
              <a:rPr lang="en-US" dirty="0" err="1"/>
              <a:t>vrednost</a:t>
            </a:r>
            <a:r>
              <a:rPr lang="en-US" dirty="0"/>
              <a:t> je 0x07. </a:t>
            </a:r>
            <a:r>
              <a:rPr lang="en-US" dirty="0" err="1"/>
              <a:t>Promenom</a:t>
            </a:r>
            <a:r>
              <a:rPr lang="en-US" dirty="0"/>
              <a:t> </a:t>
            </a:r>
            <a:r>
              <a:rPr lang="en-US" dirty="0" err="1"/>
              <a:t>te</a:t>
            </a:r>
            <a:r>
              <a:rPr lang="en-US" dirty="0"/>
              <a:t> </a:t>
            </a:r>
            <a:r>
              <a:rPr lang="en-US" dirty="0" err="1"/>
              <a:t>vrednosti</a:t>
            </a:r>
            <a:r>
              <a:rPr lang="en-US" dirty="0"/>
              <a:t> u 0x17, </a:t>
            </a:r>
            <a:r>
              <a:rPr lang="en-US" dirty="0" err="1"/>
              <a:t>particija</a:t>
            </a:r>
            <a:r>
              <a:rPr lang="en-US" dirty="0"/>
              <a:t> se </a:t>
            </a:r>
            <a:r>
              <a:rPr lang="en-US" dirty="0" err="1"/>
              <a:t>označava</a:t>
            </a:r>
            <a:r>
              <a:rPr lang="en-US" dirty="0"/>
              <a:t> </a:t>
            </a:r>
            <a:r>
              <a:rPr lang="en-US" dirty="0" err="1"/>
              <a:t>kao</a:t>
            </a:r>
            <a:r>
              <a:rPr lang="en-US" dirty="0"/>
              <a:t> </a:t>
            </a:r>
            <a:r>
              <a:rPr lang="en-US" dirty="0" err="1"/>
              <a:t>skrivena</a:t>
            </a:r>
            <a:r>
              <a:rPr lang="en-US" dirty="0"/>
              <a:t>, </a:t>
            </a:r>
            <a:r>
              <a:rPr lang="en-US" dirty="0" err="1"/>
              <a:t>što</a:t>
            </a:r>
            <a:r>
              <a:rPr lang="en-US" dirty="0"/>
              <a:t> </a:t>
            </a:r>
            <a:r>
              <a:rPr lang="en-US" dirty="0" err="1"/>
              <a:t>dovodi</a:t>
            </a:r>
            <a:r>
              <a:rPr lang="en-US" dirty="0"/>
              <a:t> do toga da je </a:t>
            </a:r>
            <a:r>
              <a:rPr lang="en-US" dirty="0" err="1"/>
              <a:t>operativni</a:t>
            </a:r>
            <a:r>
              <a:rPr lang="en-US" dirty="0"/>
              <a:t> </a:t>
            </a:r>
            <a:r>
              <a:rPr lang="en-US" dirty="0" err="1"/>
              <a:t>sistem</a:t>
            </a:r>
            <a:r>
              <a:rPr lang="en-US" dirty="0"/>
              <a:t> ne </a:t>
            </a:r>
            <a:r>
              <a:rPr lang="en-US" dirty="0" err="1"/>
              <a:t>montira</a:t>
            </a:r>
            <a:r>
              <a:rPr lang="en-US" dirty="0"/>
              <a:t> u File Explorer-u.</a:t>
            </a:r>
            <a:endParaRPr lang="sr-Latn-RS" dirty="0"/>
          </a:p>
          <a:p>
            <a:endParaRPr lang="sr-Latn-RS" dirty="0"/>
          </a:p>
          <a:p>
            <a:r>
              <a:rPr lang="en-US" dirty="0"/>
              <a:t>Ova </a:t>
            </a:r>
            <a:r>
              <a:rPr lang="en-US" dirty="0" err="1"/>
              <a:t>izmena</a:t>
            </a:r>
            <a:r>
              <a:rPr lang="en-US" dirty="0"/>
              <a:t> ne </a:t>
            </a:r>
            <a:r>
              <a:rPr lang="en-US" dirty="0" err="1"/>
              <a:t>briše</a:t>
            </a:r>
            <a:r>
              <a:rPr lang="en-US" dirty="0"/>
              <a:t> </a:t>
            </a:r>
            <a:r>
              <a:rPr lang="en-US" dirty="0" err="1"/>
              <a:t>podatke</a:t>
            </a:r>
            <a:r>
              <a:rPr lang="en-US" dirty="0"/>
              <a:t>, </a:t>
            </a:r>
            <a:r>
              <a:rPr lang="en-US" dirty="0" err="1"/>
              <a:t>već</a:t>
            </a:r>
            <a:r>
              <a:rPr lang="en-US" dirty="0"/>
              <a:t> </a:t>
            </a:r>
            <a:r>
              <a:rPr lang="en-US" dirty="0" err="1"/>
              <a:t>menja</a:t>
            </a:r>
            <a:r>
              <a:rPr lang="en-US" dirty="0"/>
              <a:t> </a:t>
            </a:r>
            <a:r>
              <a:rPr lang="en-US" dirty="0" err="1"/>
              <a:t>način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koji </a:t>
            </a:r>
            <a:r>
              <a:rPr lang="en-US" dirty="0" err="1"/>
              <a:t>ih</a:t>
            </a:r>
            <a:r>
              <a:rPr lang="en-US" dirty="0"/>
              <a:t> </a:t>
            </a:r>
            <a:r>
              <a:rPr lang="en-US" dirty="0" err="1"/>
              <a:t>operativni</a:t>
            </a:r>
            <a:r>
              <a:rPr lang="en-US" dirty="0"/>
              <a:t> </a:t>
            </a:r>
            <a:r>
              <a:rPr lang="en-US" dirty="0" err="1"/>
              <a:t>sistem</a:t>
            </a:r>
            <a:r>
              <a:rPr lang="en-US" dirty="0"/>
              <a:t> </a:t>
            </a:r>
            <a:r>
              <a:rPr lang="en-US" dirty="0" err="1"/>
              <a:t>interpretira</a:t>
            </a:r>
            <a:r>
              <a:rPr lang="en-US" dirty="0"/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D434AF-AE2A-BBCE-2B04-7521CECF2B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28AC9-BAD4-472A-9095-C606D319C324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594877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34474D-368D-27ED-86B0-060930CBCB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5D70EF-9ADE-E9A7-400A-5EDACC89D1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3A31C7-3C4C-8816-20BE-0EC8E848EC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Na </a:t>
            </a:r>
            <a:r>
              <a:rPr lang="en-US" dirty="0" err="1"/>
              <a:t>levoj</a:t>
            </a:r>
            <a:r>
              <a:rPr lang="en-US" dirty="0"/>
              <a:t> </a:t>
            </a:r>
            <a:r>
              <a:rPr lang="en-US" dirty="0" err="1"/>
              <a:t>strani</a:t>
            </a:r>
            <a:r>
              <a:rPr lang="en-US" dirty="0"/>
              <a:t> se </a:t>
            </a:r>
            <a:r>
              <a:rPr lang="en-US" dirty="0" err="1"/>
              <a:t>vidi</a:t>
            </a:r>
            <a:r>
              <a:rPr lang="en-US" dirty="0"/>
              <a:t> </a:t>
            </a:r>
            <a:r>
              <a:rPr lang="en-US" dirty="0" err="1"/>
              <a:t>stanje</a:t>
            </a:r>
            <a:r>
              <a:rPr lang="en-US" dirty="0"/>
              <a:t> pre </a:t>
            </a:r>
            <a:r>
              <a:rPr lang="en-US" dirty="0" err="1"/>
              <a:t>izmene</a:t>
            </a:r>
            <a:r>
              <a:rPr lang="en-US" dirty="0"/>
              <a:t>, </a:t>
            </a:r>
            <a:r>
              <a:rPr lang="en-US" dirty="0" err="1"/>
              <a:t>gde</a:t>
            </a:r>
            <a:r>
              <a:rPr lang="en-US" dirty="0"/>
              <a:t> je </a:t>
            </a:r>
            <a:r>
              <a:rPr lang="en-US" dirty="0" err="1"/>
              <a:t>particija</a:t>
            </a:r>
            <a:r>
              <a:rPr lang="en-US" dirty="0"/>
              <a:t> </a:t>
            </a:r>
            <a:r>
              <a:rPr lang="en-US" dirty="0" err="1"/>
              <a:t>normalno</a:t>
            </a:r>
            <a:r>
              <a:rPr lang="en-US" dirty="0"/>
              <a:t> </a:t>
            </a:r>
            <a:r>
              <a:rPr lang="en-US" dirty="0" err="1"/>
              <a:t>dostupna</a:t>
            </a:r>
            <a:r>
              <a:rPr lang="en-US" dirty="0"/>
              <a:t> </a:t>
            </a:r>
            <a:r>
              <a:rPr lang="en-US" dirty="0" err="1"/>
              <a:t>korisniku</a:t>
            </a:r>
            <a:r>
              <a:rPr lang="en-US" dirty="0"/>
              <a:t>. </a:t>
            </a:r>
            <a:r>
              <a:rPr lang="en-US" dirty="0" err="1"/>
              <a:t>Nakon</a:t>
            </a:r>
            <a:r>
              <a:rPr lang="en-US" dirty="0"/>
              <a:t> </a:t>
            </a:r>
            <a:r>
              <a:rPr lang="en-US" dirty="0" err="1"/>
              <a:t>promene</a:t>
            </a:r>
            <a:r>
              <a:rPr lang="en-US" dirty="0"/>
              <a:t> Partition Type </a:t>
            </a:r>
            <a:r>
              <a:rPr lang="en-US" dirty="0" err="1"/>
              <a:t>vrednosti</a:t>
            </a:r>
            <a:r>
              <a:rPr lang="en-US" dirty="0"/>
              <a:t> u MBR-u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restarta</a:t>
            </a:r>
            <a:r>
              <a:rPr lang="en-US" dirty="0"/>
              <a:t> </a:t>
            </a:r>
            <a:r>
              <a:rPr lang="en-US" dirty="0" err="1"/>
              <a:t>sistema</a:t>
            </a:r>
            <a:r>
              <a:rPr lang="en-US" dirty="0"/>
              <a:t>, </a:t>
            </a:r>
            <a:r>
              <a:rPr lang="en-US" dirty="0" err="1"/>
              <a:t>particija</a:t>
            </a:r>
            <a:r>
              <a:rPr lang="en-US" dirty="0"/>
              <a:t> </a:t>
            </a:r>
            <a:r>
              <a:rPr lang="en-US" dirty="0" err="1"/>
              <a:t>više</a:t>
            </a:r>
            <a:r>
              <a:rPr lang="en-US" dirty="0"/>
              <a:t> </a:t>
            </a:r>
            <a:r>
              <a:rPr lang="en-US" dirty="0" err="1"/>
              <a:t>nije</a:t>
            </a:r>
            <a:r>
              <a:rPr lang="en-US" dirty="0"/>
              <a:t> </a:t>
            </a:r>
            <a:r>
              <a:rPr lang="en-US" dirty="0" err="1"/>
              <a:t>prikazana</a:t>
            </a:r>
            <a:r>
              <a:rPr lang="en-US" dirty="0"/>
              <a:t> u File Explorer-u </a:t>
            </a:r>
            <a:r>
              <a:rPr lang="en-US" dirty="0" err="1"/>
              <a:t>ali</a:t>
            </a:r>
            <a:r>
              <a:rPr lang="en-US" dirty="0"/>
              <a:t> je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dalje</a:t>
            </a:r>
            <a:r>
              <a:rPr lang="en-US" dirty="0"/>
              <a:t> </a:t>
            </a:r>
            <a:r>
              <a:rPr lang="en-US" dirty="0" err="1"/>
              <a:t>prisutna</a:t>
            </a:r>
            <a:r>
              <a:rPr lang="en-US" dirty="0"/>
              <a:t> u Disk Management </a:t>
            </a:r>
            <a:r>
              <a:rPr lang="en-US" dirty="0" err="1"/>
              <a:t>alatu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1C31AD-A77A-3D27-1E7B-CF4F0B578D6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28AC9-BAD4-472A-9095-C606D319C324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720443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Glavni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cilj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razvijenog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programa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jeste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automatizacija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postupka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sakrivanja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NTFS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particije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koji je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prethodno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realizovan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manuelno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pomoću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heksadecimalnog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editora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Program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omogućava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prikaz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boot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sektora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pre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nakon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izvršene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izmene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promenu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karakteristike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NTFS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particije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izmenom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tipa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particije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 Master Boot Record-u. Na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ovaj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način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obezbeđena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je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automatizovana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kontrolisana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realizacija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postupka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sakrivanja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particije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endParaRPr lang="sr-Latn-R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okviru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programske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implementacije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posebna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pažnja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posvećena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je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bezbednosti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podataka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Program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automatski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kreira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poseban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direktorijum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za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rezervne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kopije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u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okviru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kojeg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čuva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backup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originalnog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stanja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diska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pre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izvođenja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bilo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kakvih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izmena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Na taj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način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obezbeđena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je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mogućnost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povratka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sistema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prethodno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stanje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slučaju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greške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tokom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izvršavanja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programa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endParaRPr lang="sr-Latn-RS" dirty="0"/>
          </a:p>
          <a:p>
            <a:r>
              <a:rPr lang="en-US" dirty="0"/>
              <a:t>Program pored same </a:t>
            </a:r>
            <a:r>
              <a:rPr lang="en-US" dirty="0" err="1"/>
              <a:t>izmene</a:t>
            </a:r>
            <a:r>
              <a:rPr lang="en-US" dirty="0"/>
              <a:t> MBR </a:t>
            </a:r>
            <a:r>
              <a:rPr lang="en-US" dirty="0" err="1"/>
              <a:t>zapisa</a:t>
            </a:r>
            <a:r>
              <a:rPr lang="en-US" dirty="0"/>
              <a:t> </a:t>
            </a:r>
            <a:r>
              <a:rPr lang="en-US" dirty="0" err="1"/>
              <a:t>najpre</a:t>
            </a:r>
            <a:r>
              <a:rPr lang="en-US" dirty="0"/>
              <a:t> </a:t>
            </a:r>
            <a:r>
              <a:rPr lang="en-US" dirty="0" err="1"/>
              <a:t>kreira</a:t>
            </a:r>
            <a:r>
              <a:rPr lang="en-US" dirty="0"/>
              <a:t> </a:t>
            </a:r>
            <a:r>
              <a:rPr lang="en-US" dirty="0" err="1"/>
              <a:t>rezervnu</a:t>
            </a:r>
            <a:r>
              <a:rPr lang="en-US" dirty="0"/>
              <a:t> </a:t>
            </a:r>
            <a:r>
              <a:rPr lang="en-US" dirty="0" err="1"/>
              <a:t>kopiju</a:t>
            </a:r>
            <a:r>
              <a:rPr lang="en-US" dirty="0"/>
              <a:t> boot </a:t>
            </a:r>
            <a:r>
              <a:rPr lang="en-US" dirty="0" err="1"/>
              <a:t>sektora</a:t>
            </a:r>
            <a:r>
              <a:rPr lang="en-US" dirty="0"/>
              <a:t>, </a:t>
            </a:r>
            <a:r>
              <a:rPr lang="en-US" dirty="0" err="1"/>
              <a:t>čime</a:t>
            </a:r>
            <a:r>
              <a:rPr lang="en-US" dirty="0"/>
              <a:t> se </a:t>
            </a:r>
            <a:r>
              <a:rPr lang="en-US" dirty="0" err="1"/>
              <a:t>obezbeđuje</a:t>
            </a:r>
            <a:r>
              <a:rPr lang="en-US" dirty="0"/>
              <a:t> </a:t>
            </a:r>
            <a:r>
              <a:rPr lang="en-US" dirty="0" err="1"/>
              <a:t>mogućnost</a:t>
            </a:r>
            <a:r>
              <a:rPr lang="en-US" dirty="0"/>
              <a:t> </a:t>
            </a:r>
            <a:r>
              <a:rPr lang="sr-Latn-RS" dirty="0"/>
              <a:t>po</a:t>
            </a:r>
            <a:r>
              <a:rPr lang="en-US" dirty="0" err="1"/>
              <a:t>vraćaja</a:t>
            </a:r>
            <a:r>
              <a:rPr lang="en-US" dirty="0"/>
              <a:t> </a:t>
            </a:r>
            <a:r>
              <a:rPr lang="en-US" dirty="0" err="1"/>
              <a:t>originalnog</a:t>
            </a:r>
            <a:r>
              <a:rPr lang="en-US" dirty="0"/>
              <a:t> </a:t>
            </a:r>
            <a:r>
              <a:rPr lang="en-US" dirty="0" err="1"/>
              <a:t>stanja</a:t>
            </a:r>
            <a:r>
              <a:rPr lang="en-US" dirty="0"/>
              <a:t>. </a:t>
            </a:r>
            <a:r>
              <a:rPr lang="en-US" dirty="0" err="1"/>
              <a:t>Ovakav</a:t>
            </a:r>
            <a:r>
              <a:rPr lang="en-US" dirty="0"/>
              <a:t> </a:t>
            </a:r>
            <a:r>
              <a:rPr lang="en-US" dirty="0" err="1"/>
              <a:t>pristup</a:t>
            </a:r>
            <a:r>
              <a:rPr lang="en-US" dirty="0"/>
              <a:t> je u </a:t>
            </a:r>
            <a:r>
              <a:rPr lang="en-US" dirty="0" err="1"/>
              <a:t>skladu</a:t>
            </a:r>
            <a:r>
              <a:rPr lang="en-US" dirty="0"/>
              <a:t> </a:t>
            </a:r>
            <a:r>
              <a:rPr lang="en-US" dirty="0" err="1"/>
              <a:t>sa</a:t>
            </a:r>
            <a:r>
              <a:rPr lang="en-US" dirty="0"/>
              <a:t> </a:t>
            </a:r>
            <a:r>
              <a:rPr lang="en-US" dirty="0" err="1"/>
              <a:t>osnovnim</a:t>
            </a:r>
            <a:r>
              <a:rPr lang="en-US" dirty="0"/>
              <a:t> </a:t>
            </a:r>
            <a:r>
              <a:rPr lang="en-US" dirty="0" err="1"/>
              <a:t>principima</a:t>
            </a:r>
            <a:r>
              <a:rPr lang="en-US" dirty="0"/>
              <a:t> </a:t>
            </a:r>
            <a:r>
              <a:rPr lang="en-US" dirty="0" err="1"/>
              <a:t>digitalne</a:t>
            </a:r>
            <a:r>
              <a:rPr lang="en-US" dirty="0"/>
              <a:t> </a:t>
            </a:r>
            <a:r>
              <a:rPr lang="en-US" dirty="0" err="1"/>
              <a:t>forenzike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28AC9-BAD4-472A-9095-C606D319C324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101043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Razvijeni</a:t>
            </a:r>
            <a:r>
              <a:rPr lang="en-US" dirty="0"/>
              <a:t> program </a:t>
            </a:r>
            <a:r>
              <a:rPr lang="en-US" dirty="0" err="1"/>
              <a:t>funkcionalno</a:t>
            </a:r>
            <a:r>
              <a:rPr lang="en-US" dirty="0"/>
              <a:t> </a:t>
            </a:r>
            <a:r>
              <a:rPr lang="en-US" dirty="0" err="1"/>
              <a:t>replicira</a:t>
            </a:r>
            <a:r>
              <a:rPr lang="en-US" dirty="0"/>
              <a:t> </a:t>
            </a:r>
            <a:r>
              <a:rPr lang="en-US" dirty="0" err="1"/>
              <a:t>postupak</a:t>
            </a:r>
            <a:r>
              <a:rPr lang="en-US" dirty="0"/>
              <a:t> koji se </a:t>
            </a:r>
            <a:r>
              <a:rPr lang="en-US" dirty="0" err="1"/>
              <a:t>izvodi</a:t>
            </a:r>
            <a:r>
              <a:rPr lang="en-US" dirty="0"/>
              <a:t> </a:t>
            </a:r>
            <a:r>
              <a:rPr lang="en-US" dirty="0" err="1"/>
              <a:t>heksadecimalnim</a:t>
            </a:r>
            <a:r>
              <a:rPr lang="en-US" dirty="0"/>
              <a:t> </a:t>
            </a:r>
            <a:r>
              <a:rPr lang="en-US" dirty="0" err="1"/>
              <a:t>editorom</a:t>
            </a:r>
            <a:r>
              <a:rPr lang="en-US" dirty="0"/>
              <a:t>, </a:t>
            </a:r>
            <a:r>
              <a:rPr lang="en-US" dirty="0" err="1"/>
              <a:t>ali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kontrolisan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ponovljiv</a:t>
            </a:r>
            <a:r>
              <a:rPr lang="en-US" dirty="0"/>
              <a:t> </a:t>
            </a:r>
            <a:r>
              <a:rPr lang="en-US" dirty="0" err="1"/>
              <a:t>način</a:t>
            </a:r>
            <a:r>
              <a:rPr lang="en-US" dirty="0"/>
              <a:t>. Program </a:t>
            </a:r>
            <a:r>
              <a:rPr lang="en-US" dirty="0" err="1"/>
              <a:t>direktno</a:t>
            </a:r>
            <a:r>
              <a:rPr lang="en-US" dirty="0"/>
              <a:t> </a:t>
            </a:r>
            <a:r>
              <a:rPr lang="en-US" dirty="0" err="1"/>
              <a:t>pristupa</a:t>
            </a:r>
            <a:r>
              <a:rPr lang="en-US" dirty="0"/>
              <a:t> </a:t>
            </a:r>
            <a:r>
              <a:rPr lang="en-US" dirty="0" err="1"/>
              <a:t>fizičkom</a:t>
            </a:r>
            <a:r>
              <a:rPr lang="en-US" dirty="0"/>
              <a:t> </a:t>
            </a:r>
            <a:r>
              <a:rPr lang="en-US" dirty="0" err="1"/>
              <a:t>disku</a:t>
            </a:r>
            <a:r>
              <a:rPr lang="en-US" dirty="0"/>
              <a:t>, </a:t>
            </a:r>
            <a:r>
              <a:rPr lang="en-US" dirty="0" err="1"/>
              <a:t>očitava</a:t>
            </a:r>
            <a:r>
              <a:rPr lang="en-US" dirty="0"/>
              <a:t> MBR </a:t>
            </a:r>
            <a:r>
              <a:rPr lang="en-US" dirty="0" err="1"/>
              <a:t>sektor</a:t>
            </a:r>
            <a:r>
              <a:rPr lang="en-US" dirty="0"/>
              <a:t>, </a:t>
            </a:r>
            <a:r>
              <a:rPr lang="en-US" dirty="0" err="1"/>
              <a:t>kreira</a:t>
            </a:r>
            <a:r>
              <a:rPr lang="en-US" dirty="0"/>
              <a:t> </a:t>
            </a:r>
            <a:r>
              <a:rPr lang="en-US" dirty="0" err="1"/>
              <a:t>rezervnu</a:t>
            </a:r>
            <a:r>
              <a:rPr lang="en-US" dirty="0"/>
              <a:t> </a:t>
            </a:r>
            <a:r>
              <a:rPr lang="en-US" dirty="0" err="1"/>
              <a:t>kopiju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zatim</a:t>
            </a:r>
            <a:r>
              <a:rPr lang="en-US" dirty="0"/>
              <a:t> </a:t>
            </a:r>
            <a:r>
              <a:rPr lang="en-US" dirty="0" err="1"/>
              <a:t>menja</a:t>
            </a:r>
            <a:r>
              <a:rPr lang="en-US" dirty="0"/>
              <a:t> </a:t>
            </a:r>
            <a:r>
              <a:rPr lang="en-US" dirty="0" err="1"/>
              <a:t>karakteristiku</a:t>
            </a:r>
            <a:r>
              <a:rPr lang="en-US" dirty="0"/>
              <a:t> </a:t>
            </a:r>
            <a:r>
              <a:rPr lang="en-US" dirty="0" err="1"/>
              <a:t>particije</a:t>
            </a:r>
            <a:r>
              <a:rPr lang="en-US" dirty="0"/>
              <a:t> u MBR </a:t>
            </a:r>
            <a:r>
              <a:rPr lang="en-US" dirty="0" err="1"/>
              <a:t>tabeli</a:t>
            </a:r>
            <a:r>
              <a:rPr lang="en-US" dirty="0"/>
              <a:t>. </a:t>
            </a:r>
            <a:r>
              <a:rPr lang="en-US" dirty="0" err="1"/>
              <a:t>Izmena</a:t>
            </a:r>
            <a:r>
              <a:rPr lang="en-US" dirty="0"/>
              <a:t> se </a:t>
            </a:r>
            <a:r>
              <a:rPr lang="en-US" dirty="0" err="1"/>
              <a:t>vrši</a:t>
            </a:r>
            <a:r>
              <a:rPr lang="en-US" dirty="0"/>
              <a:t> </a:t>
            </a:r>
            <a:r>
              <a:rPr lang="en-US" dirty="0" err="1"/>
              <a:t>isključivo</a:t>
            </a:r>
            <a:r>
              <a:rPr lang="en-US" dirty="0"/>
              <a:t> </a:t>
            </a:r>
            <a:r>
              <a:rPr lang="en-US" dirty="0" err="1"/>
              <a:t>uz</a:t>
            </a:r>
            <a:r>
              <a:rPr lang="en-US" dirty="0"/>
              <a:t> </a:t>
            </a:r>
            <a:r>
              <a:rPr lang="en-US" dirty="0" err="1"/>
              <a:t>administratorske</a:t>
            </a:r>
            <a:r>
              <a:rPr lang="en-US" dirty="0"/>
              <a:t> </a:t>
            </a:r>
            <a:r>
              <a:rPr lang="en-US" dirty="0" err="1"/>
              <a:t>privilegije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28AC9-BAD4-472A-9095-C606D319C324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254945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BCD6E0-256D-FA85-5227-2381137DCA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0BC9CB-4F7B-64A2-088D-DC18F9C2D9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1681B4B-8921-F928-B9D7-0870626A9D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Na </a:t>
            </a:r>
            <a:r>
              <a:rPr lang="en-US" dirty="0" err="1"/>
              <a:t>levoj</a:t>
            </a:r>
            <a:r>
              <a:rPr lang="en-US" dirty="0"/>
              <a:t> </a:t>
            </a:r>
            <a:r>
              <a:rPr lang="en-US" dirty="0" err="1"/>
              <a:t>strani</a:t>
            </a:r>
            <a:r>
              <a:rPr lang="en-US" dirty="0"/>
              <a:t> se </a:t>
            </a:r>
            <a:r>
              <a:rPr lang="en-US" dirty="0" err="1"/>
              <a:t>vidi</a:t>
            </a:r>
            <a:r>
              <a:rPr lang="en-US" dirty="0"/>
              <a:t> </a:t>
            </a:r>
            <a:r>
              <a:rPr lang="en-US" dirty="0" err="1"/>
              <a:t>stanje</a:t>
            </a:r>
            <a:r>
              <a:rPr lang="en-US" dirty="0"/>
              <a:t> pre </a:t>
            </a:r>
            <a:r>
              <a:rPr lang="en-US" dirty="0" err="1"/>
              <a:t>izmene</a:t>
            </a:r>
            <a:r>
              <a:rPr lang="sr-Latn-RS" dirty="0"/>
              <a:t>, a na desnoj promenu </a:t>
            </a:r>
            <a:r>
              <a:rPr lang="en-US" dirty="0"/>
              <a:t>Partition Type </a:t>
            </a:r>
            <a:r>
              <a:rPr lang="sr-Latn-RS" dirty="0"/>
              <a:t>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8C6EF6-7EF3-2021-BA44-A3DA9515B3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28AC9-BAD4-472A-9095-C606D319C324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108666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Iako</a:t>
            </a:r>
            <a:r>
              <a:rPr lang="en-US" dirty="0"/>
              <a:t> je </a:t>
            </a:r>
            <a:r>
              <a:rPr lang="en-US" dirty="0" err="1"/>
              <a:t>izmena</a:t>
            </a:r>
            <a:r>
              <a:rPr lang="en-US" dirty="0"/>
              <a:t> MBR </a:t>
            </a:r>
            <a:r>
              <a:rPr lang="en-US" dirty="0" err="1"/>
              <a:t>particione</a:t>
            </a:r>
            <a:r>
              <a:rPr lang="en-US" dirty="0"/>
              <a:t> </a:t>
            </a:r>
            <a:r>
              <a:rPr lang="en-US" dirty="0" err="1"/>
              <a:t>tabele</a:t>
            </a:r>
            <a:r>
              <a:rPr lang="en-US" dirty="0"/>
              <a:t> </a:t>
            </a:r>
            <a:r>
              <a:rPr lang="en-US" dirty="0" err="1"/>
              <a:t>izvršena</a:t>
            </a:r>
            <a:r>
              <a:rPr lang="en-US" dirty="0"/>
              <a:t> </a:t>
            </a:r>
            <a:r>
              <a:rPr lang="en-US" dirty="0" err="1"/>
              <a:t>korektno</a:t>
            </a:r>
            <a:r>
              <a:rPr lang="en-US" dirty="0"/>
              <a:t>, </a:t>
            </a:r>
            <a:r>
              <a:rPr lang="en-US" dirty="0" err="1"/>
              <a:t>savremeni</a:t>
            </a:r>
            <a:r>
              <a:rPr lang="en-US" dirty="0"/>
              <a:t> Windows </a:t>
            </a:r>
            <a:r>
              <a:rPr lang="en-US" dirty="0" err="1"/>
              <a:t>operativni</a:t>
            </a:r>
            <a:r>
              <a:rPr lang="en-US" dirty="0"/>
              <a:t> </a:t>
            </a:r>
            <a:r>
              <a:rPr lang="en-US" dirty="0" err="1"/>
              <a:t>sistemi</a:t>
            </a:r>
            <a:r>
              <a:rPr lang="en-US" dirty="0"/>
              <a:t> </a:t>
            </a:r>
            <a:r>
              <a:rPr lang="en-US" dirty="0" err="1"/>
              <a:t>imaju</a:t>
            </a:r>
            <a:r>
              <a:rPr lang="en-US" dirty="0"/>
              <a:t> </a:t>
            </a:r>
            <a:r>
              <a:rPr lang="en-US" dirty="0" err="1"/>
              <a:t>dodatne</a:t>
            </a:r>
            <a:r>
              <a:rPr lang="en-US" dirty="0"/>
              <a:t> </a:t>
            </a:r>
            <a:r>
              <a:rPr lang="en-US" dirty="0" err="1"/>
              <a:t>mehanizme</a:t>
            </a:r>
            <a:r>
              <a:rPr lang="en-US" dirty="0"/>
              <a:t> koji </a:t>
            </a:r>
            <a:r>
              <a:rPr lang="en-US" dirty="0" err="1"/>
              <a:t>utiču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vidljivost</a:t>
            </a:r>
            <a:r>
              <a:rPr lang="en-US" dirty="0"/>
              <a:t> </a:t>
            </a:r>
            <a:r>
              <a:rPr lang="en-US" dirty="0" err="1"/>
              <a:t>particija</a:t>
            </a:r>
            <a:r>
              <a:rPr lang="en-US" dirty="0"/>
              <a:t>. </a:t>
            </a:r>
            <a:r>
              <a:rPr lang="en-US" dirty="0" err="1"/>
              <a:t>Posebno</a:t>
            </a:r>
            <a:r>
              <a:rPr lang="en-US" dirty="0"/>
              <a:t> </a:t>
            </a:r>
            <a:r>
              <a:rPr lang="en-US" dirty="0" err="1"/>
              <a:t>kod</a:t>
            </a:r>
            <a:r>
              <a:rPr lang="en-US" dirty="0"/>
              <a:t> removable media </a:t>
            </a:r>
            <a:r>
              <a:rPr lang="en-US" dirty="0" err="1"/>
              <a:t>uređaja</a:t>
            </a:r>
            <a:r>
              <a:rPr lang="en-US" dirty="0"/>
              <a:t>, Windows </a:t>
            </a:r>
            <a:r>
              <a:rPr lang="en-US" dirty="0" err="1"/>
              <a:t>ignoriše</a:t>
            </a:r>
            <a:r>
              <a:rPr lang="en-US" dirty="0"/>
              <a:t> hidden partition type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automatski</a:t>
            </a:r>
            <a:r>
              <a:rPr lang="en-US" dirty="0"/>
              <a:t> </a:t>
            </a:r>
            <a:r>
              <a:rPr lang="en-US" dirty="0" err="1"/>
              <a:t>montira</a:t>
            </a:r>
            <a:r>
              <a:rPr lang="en-US" dirty="0"/>
              <a:t> </a:t>
            </a:r>
            <a:r>
              <a:rPr lang="en-US" dirty="0" err="1"/>
              <a:t>particiju</a:t>
            </a:r>
            <a:r>
              <a:rPr lang="en-US" dirty="0"/>
              <a:t>, </a:t>
            </a:r>
            <a:r>
              <a:rPr lang="en-US" dirty="0" err="1"/>
              <a:t>što</a:t>
            </a:r>
            <a:r>
              <a:rPr lang="en-US" dirty="0"/>
              <a:t> </a:t>
            </a:r>
            <a:r>
              <a:rPr lang="en-US" dirty="0" err="1"/>
              <a:t>onemogućava</a:t>
            </a:r>
            <a:r>
              <a:rPr lang="en-US" dirty="0"/>
              <a:t> </a:t>
            </a:r>
            <a:r>
              <a:rPr lang="en-US" dirty="0" err="1"/>
              <a:t>sakrivanje</a:t>
            </a:r>
            <a:r>
              <a:rPr lang="en-US" dirty="0"/>
              <a:t> </a:t>
            </a:r>
            <a:r>
              <a:rPr lang="en-US" dirty="0" err="1"/>
              <a:t>korišćenjem</a:t>
            </a:r>
            <a:r>
              <a:rPr lang="en-US" dirty="0"/>
              <a:t> MBR </a:t>
            </a:r>
            <a:r>
              <a:rPr lang="en-US" dirty="0" err="1"/>
              <a:t>izmene</a:t>
            </a:r>
            <a:r>
              <a:rPr lang="en-US" dirty="0"/>
              <a:t>.</a:t>
            </a:r>
            <a:endParaRPr lang="sr-Latn-RS" dirty="0"/>
          </a:p>
          <a:p>
            <a:endParaRPr lang="sr-Latn-RS" dirty="0"/>
          </a:p>
          <a:p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Eksperiment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je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dodatno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sproveden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nad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FAT32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datotečnim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sistemom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USB flash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uređajima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Izmena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MBR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particione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tabele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izvršena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je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korektno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promenom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vrednosti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polja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Partition Type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offsetu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450,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gde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heksadecimalna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vrednost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0x0C (FAT32 LBA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particija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zamenjuje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vrednošću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0x1C,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koja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označava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skrivenu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FAT32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particiju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Ova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izmena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predstavlja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ispravnu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standardnu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modifikaciju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zapisa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particionoj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tabeli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Međutim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prilikom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izvođenja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eksperimenta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uočen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je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niz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ograničenja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koja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onemogućavaju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uspešnu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realizaciju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istog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postupka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savremenim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Windows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operativnim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sistemima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Na USB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uređajima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koje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Windows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operativni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sistem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prepoznaje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removable media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oznaka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skrivene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particije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ignoriše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operativni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sistem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automatski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dodeljuje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slovo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diska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zbog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čega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particija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ostaje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vidljiva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 File Explorer-u,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uprkos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korektno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izvršenoj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izmeni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MBR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zapisa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Kako bi se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proverilo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 li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uočena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ograničenja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posledica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samog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datotečnog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sistema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ili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unapređenih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bezbednosnih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mehanizama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operativnog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sistema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eksperiment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je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dodatno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testiran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virtuelnom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okruženju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VirtualBox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U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svrhu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kreirane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dve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virtuelne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mašine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operativnim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sistemima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Windows 7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Windows XP.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28AC9-BAD4-472A-9095-C606D319C324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459275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28AC9-BAD4-472A-9095-C606D319C324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066688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28AC9-BAD4-472A-9095-C606D319C324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35395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DBCF1281-E1A6-4171-9532-849ECA001A50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1C7E3C76-F46C-4D50-8F37-C07A4515E9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11340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CF1281-E1A6-4171-9532-849ECA001A50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7E3C76-F46C-4D50-8F37-C07A4515E9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88515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CF1281-E1A6-4171-9532-849ECA001A50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7E3C76-F46C-4D50-8F37-C07A4515E9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2658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CF1281-E1A6-4171-9532-849ECA001A50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7E3C76-F46C-4D50-8F37-C07A4515E9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94172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CF1281-E1A6-4171-9532-849ECA001A50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7E3C76-F46C-4D50-8F37-C07A4515E9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51971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CF1281-E1A6-4171-9532-849ECA001A50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7E3C76-F46C-4D50-8F37-C07A4515E9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4265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CF1281-E1A6-4171-9532-849ECA001A50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7E3C76-F46C-4D50-8F37-C07A4515E9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98808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CF1281-E1A6-4171-9532-849ECA001A50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7E3C76-F46C-4D50-8F37-C07A4515E9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7042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CF1281-E1A6-4171-9532-849ECA001A50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7E3C76-F46C-4D50-8F37-C07A4515E9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81119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CF1281-E1A6-4171-9532-849ECA001A50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7E3C76-F46C-4D50-8F37-C07A4515E9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31273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CF1281-E1A6-4171-9532-849ECA001A50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7E3C76-F46C-4D50-8F37-C07A4515E9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282900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CF1281-E1A6-4171-9532-849ECA001A50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7E3C76-F46C-4D50-8F37-C07A4515E9CA}" type="slidenum">
              <a:rPr lang="en-US" smtClean="0"/>
              <a:t>‹#›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93644844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CF1281-E1A6-4171-9532-849ECA001A50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7E3C76-F46C-4D50-8F37-C07A4515E9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010219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CF1281-E1A6-4171-9532-849ECA001A50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7E3C76-F46C-4D50-8F37-C07A4515E9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400414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CF1281-E1A6-4171-9532-849ECA001A50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7E3C76-F46C-4D50-8F37-C07A4515E9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101864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CF1281-E1A6-4171-9532-849ECA001A50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7E3C76-F46C-4D50-8F37-C07A4515E9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745505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CF1281-E1A6-4171-9532-849ECA001A50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7E3C76-F46C-4D50-8F37-C07A4515E9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38168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BCF1281-E1A6-4171-9532-849ECA001A50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C7E3C76-F46C-4D50-8F37-C07A4515E9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659454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comments" Target="../comments/commen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019C62-3EB0-4B7B-ADF8-865AAA3BE4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504441"/>
            <a:ext cx="12192000" cy="1173479"/>
          </a:xfrm>
        </p:spPr>
        <p:txBody>
          <a:bodyPr>
            <a:normAutofit fontScale="90000"/>
          </a:bodyPr>
          <a:lstStyle/>
          <a:p>
            <a:pPr algn="ctr"/>
            <a:r>
              <a:rPr lang="en-US" sz="53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Forenzika</a:t>
            </a:r>
            <a:r>
              <a:rPr lang="en-US" sz="53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storage </a:t>
            </a:r>
            <a:r>
              <a:rPr lang="en-US" sz="53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medijuma</a:t>
            </a:r>
            <a:br>
              <a:rPr lang="sr-Latn-RS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sr-Latn-RS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RAW </a:t>
            </a:r>
            <a:r>
              <a:rPr lang="sr-Latn-RS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pristup</a:t>
            </a:r>
            <a:r>
              <a:rPr lang="en-US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podacima</a:t>
            </a:r>
            <a:r>
              <a:rPr lang="en-US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sakrivanje</a:t>
            </a:r>
            <a:r>
              <a:rPr lang="en-US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particije</a:t>
            </a:r>
            <a:endParaRPr lang="en-US" sz="4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9D188FF8-4986-4244-BA38-849906C2CD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2424" y="4831398"/>
            <a:ext cx="11341736" cy="1853882"/>
          </a:xfrm>
        </p:spPr>
        <p:txBody>
          <a:bodyPr>
            <a:no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Profesor:</a:t>
            </a:r>
            <a:r>
              <a:rPr lang="sr-Latn-R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								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sr-Latn-R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tudent: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DR </a:t>
            </a:r>
            <a:r>
              <a:rPr lang="sr-Latn-R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BRATISLAV PREDIĆ						dušica milanović</a:t>
            </a:r>
          </a:p>
          <a:p>
            <a:r>
              <a:rPr lang="sr-Latn-R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									br.indeksa: 2128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sr-Latn-R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25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154167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7A99E-5153-48EF-9477-57D135D420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873760"/>
          </a:xfrm>
        </p:spPr>
        <p:txBody>
          <a:bodyPr/>
          <a:lstStyle/>
          <a:p>
            <a:r>
              <a:rPr lang="sr-Latn-RS" b="1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Sadržaj prezentacije</a:t>
            </a:r>
            <a:r>
              <a:rPr lang="sr-Latn-RS" b="1" dirty="0">
                <a:solidFill>
                  <a:schemeClr val="accent5">
                    <a:lumMod val="50000"/>
                  </a:schemeClr>
                </a:solidFill>
              </a:rPr>
              <a:t>:</a:t>
            </a:r>
            <a:endParaRPr lang="en-US" dirty="0">
              <a:solidFill>
                <a:schemeClr val="accent5">
                  <a:lumMod val="50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841D44-BCB5-4C67-8303-3E07BD65A2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95680" y="1168400"/>
            <a:ext cx="10759440" cy="5560874"/>
          </a:xfrm>
        </p:spPr>
        <p:txBody>
          <a:bodyPr>
            <a:no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sr-Latn-R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Tema seminarskog rada</a:t>
            </a:r>
          </a:p>
          <a:p>
            <a:pPr marL="457200" indent="-457200">
              <a:buFont typeface="+mj-lt"/>
              <a:buAutoNum type="arabicPeriod"/>
            </a:pPr>
            <a:r>
              <a:rPr lang="sr-Latn-R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Osnovni pojmovi tvrdog diska:</a:t>
            </a:r>
          </a:p>
          <a:p>
            <a:pPr lvl="1">
              <a:spcBef>
                <a:spcPts val="600"/>
              </a:spcBef>
              <a:spcAft>
                <a:spcPts val="600"/>
              </a:spcAft>
            </a:pPr>
            <a:r>
              <a:rPr lang="sr-Latn-R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r-Latn-R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Boot</a:t>
            </a:r>
            <a:r>
              <a:rPr lang="sr-Latn-R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sektor i Master </a:t>
            </a:r>
            <a:r>
              <a:rPr lang="sr-Latn-R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Boot</a:t>
            </a:r>
            <a:r>
              <a:rPr lang="sr-Latn-R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r-Latn-R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Record</a:t>
            </a:r>
            <a:r>
              <a:rPr lang="sr-Latn-R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-a (MBR)</a:t>
            </a:r>
          </a:p>
          <a:p>
            <a:pPr lvl="1">
              <a:spcBef>
                <a:spcPts val="600"/>
              </a:spcBef>
              <a:spcAft>
                <a:spcPts val="600"/>
              </a:spcAft>
            </a:pPr>
            <a:r>
              <a:rPr lang="sr-Latn-R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r-Latn-R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Datotečni</a:t>
            </a:r>
            <a:r>
              <a:rPr lang="sr-Latn-R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sistem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sr-Latn-R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Sakrivanje particije tvrdog diska – praktična implementacija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Ograničenja</a:t>
            </a:r>
            <a:r>
              <a:rPr lang="sr-Latn-R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 ponašanje Windows OS</a:t>
            </a:r>
          </a:p>
          <a:p>
            <a:pPr marL="457200" indent="-457200">
              <a:buFont typeface="+mj-lt"/>
              <a:buAutoNum type="arabicPeriod"/>
            </a:pPr>
            <a:r>
              <a:rPr lang="sr-Latn-R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Zaključak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345116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FB0BD5-FA19-40D9-AFE8-5E3AAB4FA7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9306" y="1921565"/>
            <a:ext cx="10593388" cy="3472070"/>
          </a:xfrm>
        </p:spPr>
        <p:txBody>
          <a:bodyPr>
            <a:normAutofit/>
          </a:bodyPr>
          <a:lstStyle/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Tema rada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obuhvata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forenzičku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analizu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storage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medijuma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posebnim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fokusom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RAW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pristup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podacima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strukturu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Master Boot Record-a (MBR).</a:t>
            </a:r>
          </a:p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U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okviru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rada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analizirani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datotečni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sistemi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FAT (FAT32)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NTFS,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kao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njihovo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ponašanje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prilikom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sakrivanja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particija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algn="just"/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Praktični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deo rada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obuhvata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demonstraciju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sakrivanja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particije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korišćenjem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heksadecimalnog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editora</a:t>
            </a:r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r-Latn-R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HxD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programskog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rešenja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direktnim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pristupom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disku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uz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analizu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ponašanja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različitih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Windows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operativnih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sistema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indent="0" algn="just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45DEC4F1-7C74-41F3-A3EA-C1653FB9EA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873760"/>
          </a:xfrm>
        </p:spPr>
        <p:txBody>
          <a:bodyPr/>
          <a:lstStyle/>
          <a:p>
            <a:r>
              <a:rPr lang="sr-Latn-RS" b="1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1. TEMA SEMINARSKOG RADA:</a:t>
            </a:r>
            <a:endParaRPr lang="en-US" dirty="0">
              <a:solidFill>
                <a:schemeClr val="accent5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213758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92FCBE-77E7-2846-B0BE-937E3E0D3C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AC3C71-51DE-C099-BF77-0918864D31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8242" y="1803540"/>
            <a:ext cx="8877635" cy="3939534"/>
          </a:xfrm>
        </p:spPr>
        <p:txBody>
          <a:bodyPr>
            <a:normAutofit fontScale="92500" lnSpcReduction="10000"/>
          </a:bodyPr>
          <a:lstStyle/>
          <a:p>
            <a:pPr algn="just"/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Direktan pristup sektorima diska (LBA)</a:t>
            </a:r>
          </a:p>
          <a:p>
            <a:pPr lvl="1" algn="just"/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Zaobilazi logičke strukture/mehanizme OS-a</a:t>
            </a:r>
          </a:p>
          <a:p>
            <a:pPr lvl="1" algn="just"/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Omogućava uvid u skrivene i obrisane podatke</a:t>
            </a:r>
          </a:p>
          <a:p>
            <a:pPr lvl="1" algn="just"/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 zavisi od </a:t>
            </a:r>
            <a:r>
              <a:rPr lang="sr-Latn-R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datotečnog</a:t>
            </a:r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sistema</a:t>
            </a:r>
          </a:p>
          <a:p>
            <a:pPr lvl="1" algn="just"/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Ključan za digitalnu forenziku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incident response-u</a:t>
            </a:r>
            <a:endParaRPr lang="sr-Latn-R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RAW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pristup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je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korišćen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praktičnom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delu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rada za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direktnu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izmenu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MBR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zapisa</a:t>
            </a:r>
            <a:endParaRPr lang="sr-Latn-R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RAW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analiza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omogućava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otkrivanje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neslaganja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između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fizičkog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stanja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diska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OS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prikaza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BEC9F035-F5AA-5385-E211-6C57C6E7E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873760"/>
          </a:xfrm>
        </p:spPr>
        <p:txBody>
          <a:bodyPr/>
          <a:lstStyle/>
          <a:p>
            <a:r>
              <a:rPr lang="sr-Latn-RS" b="1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RAW PRISTUP PODACIMA</a:t>
            </a:r>
            <a:endParaRPr lang="en-US" dirty="0">
              <a:solidFill>
                <a:schemeClr val="accent5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022294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9CE78E-178E-4BB3-AC1A-593A444467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89599" y="1499449"/>
            <a:ext cx="4691217" cy="3963563"/>
          </a:xfrm>
        </p:spPr>
        <p:txBody>
          <a:bodyPr>
            <a:normAutofit fontScale="92500" lnSpcReduction="20000"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Prvi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sektor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particionisanog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diska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(LBA 0)</a:t>
            </a:r>
          </a:p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Sadrži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boot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kod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tabelu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particija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potpis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0x55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0xAA</a:t>
            </a:r>
          </a:p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Definiše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vidljivost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particija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Kritična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tačka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forenzičke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analize</a:t>
            </a:r>
            <a:endParaRPr lang="sr-Latn-R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 algn="just"/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Česta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meta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forenzičke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analize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manipulacije</a:t>
            </a:r>
            <a:endParaRPr lang="sr-Latn-R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 algn="just"/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Izmenom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MBR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zapisa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moguće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je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sakriti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particiju</a:t>
            </a:r>
            <a:endParaRPr lang="sr-Latn-R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lvl="1" indent="0">
              <a:buNone/>
            </a:pPr>
            <a:endParaRPr lang="sr-Latn-R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4E036DD3-2435-4DF9-9B87-46E5EC7C523E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2192000" cy="8737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sr-Latn-RS" b="1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2. Master </a:t>
            </a:r>
            <a:r>
              <a:rPr lang="sr-Latn-RS" b="1" dirty="0" err="1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boot</a:t>
            </a:r>
            <a:r>
              <a:rPr lang="sr-Latn-RS" b="1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r-Latn-RS" b="1" dirty="0" err="1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record</a:t>
            </a:r>
            <a:r>
              <a:rPr lang="sr-Latn-RS" b="1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sr-Latn-RS" b="1" dirty="0" err="1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mbr</a:t>
            </a:r>
            <a:r>
              <a:rPr lang="sr-Latn-RS" b="1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en-US" dirty="0">
              <a:solidFill>
                <a:schemeClr val="accent5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549E576-77FE-61DE-FF49-44BC160D71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9507" y="1499449"/>
            <a:ext cx="4322439" cy="385910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A83D3EC-0860-9819-8356-F868A4C5901D}"/>
              </a:ext>
            </a:extLst>
          </p:cNvPr>
          <p:cNvSpPr txBox="1"/>
          <p:nvPr/>
        </p:nvSpPr>
        <p:spPr>
          <a:xfrm>
            <a:off x="6930500" y="5486399"/>
            <a:ext cx="31604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Struktura Master </a:t>
            </a:r>
            <a:r>
              <a:rPr lang="sr-Latn-R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Boot</a:t>
            </a:r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r-Latn-R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Record</a:t>
            </a:r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-a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584573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E1F3CC-BEC0-2C17-4A1E-B58F77ACCA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298808-44B6-B36D-525E-CB8C67A529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89599" y="1499450"/>
            <a:ext cx="4691217" cy="3282616"/>
          </a:xfrm>
        </p:spPr>
        <p:txBody>
          <a:bodyPr>
            <a:normAutofit/>
          </a:bodyPr>
          <a:lstStyle/>
          <a:p>
            <a:pPr algn="just"/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Veličina 512B</a:t>
            </a:r>
          </a:p>
          <a:p>
            <a:pPr algn="just"/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Struktura MBR-a:</a:t>
            </a:r>
          </a:p>
          <a:p>
            <a:pPr lvl="1" algn="just"/>
            <a:r>
              <a:rPr lang="sr-Latn-RS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Bootstrap</a:t>
            </a:r>
            <a:r>
              <a:rPr lang="sr-Latn-R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r-Latn-RS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code</a:t>
            </a:r>
            <a:r>
              <a:rPr lang="sr-Latn-R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Area </a:t>
            </a:r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– bajtovi 0-455 (446 bajtova)</a:t>
            </a:r>
          </a:p>
          <a:p>
            <a:pPr lvl="1" algn="just"/>
            <a:r>
              <a:rPr lang="sr-Latn-R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Master </a:t>
            </a:r>
            <a:r>
              <a:rPr lang="sr-Latn-RS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Partition</a:t>
            </a:r>
            <a:r>
              <a:rPr lang="sr-Latn-R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Table (MPT) </a:t>
            </a:r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– bajtovi 446-509</a:t>
            </a:r>
          </a:p>
          <a:p>
            <a:pPr lvl="1" algn="just"/>
            <a:r>
              <a:rPr lang="sr-Latn-RS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Boot</a:t>
            </a:r>
            <a:r>
              <a:rPr lang="sr-Latn-R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potpis </a:t>
            </a:r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– bajtovi 510-511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4692687-045D-94BE-2B9C-A6F7ED210927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2192000" cy="8737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sr-Latn-RS" b="1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Master </a:t>
            </a:r>
            <a:r>
              <a:rPr lang="sr-Latn-RS" b="1" dirty="0" err="1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boot</a:t>
            </a:r>
            <a:r>
              <a:rPr lang="sr-Latn-RS" b="1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r-Latn-RS" b="1" dirty="0" err="1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record</a:t>
            </a:r>
            <a:r>
              <a:rPr lang="sr-Latn-RS" b="1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sr-Latn-RS" b="1" dirty="0" err="1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mbr</a:t>
            </a:r>
            <a:r>
              <a:rPr lang="sr-Latn-RS" b="1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en-US" dirty="0">
              <a:solidFill>
                <a:schemeClr val="accent5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4CBB2FD-52D2-FF30-F7C6-31D4D27FF7DC}"/>
              </a:ext>
            </a:extLst>
          </p:cNvPr>
          <p:cNvSpPr txBox="1"/>
          <p:nvPr/>
        </p:nvSpPr>
        <p:spPr>
          <a:xfrm>
            <a:off x="7246325" y="4782066"/>
            <a:ext cx="31604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Struktura MBR sektora (LBA 0)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A98C0D24-DC95-BD36-98DC-BA365AF237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1445721"/>
              </p:ext>
            </p:extLst>
          </p:nvPr>
        </p:nvGraphicFramePr>
        <p:xfrm>
          <a:off x="6611186" y="1805457"/>
          <a:ext cx="4430731" cy="2706131"/>
        </p:xfrm>
        <a:graphic>
          <a:graphicData uri="http://schemas.openxmlformats.org/drawingml/2006/table">
            <a:tbl>
              <a:tblPr firstRow="1" firstCol="1">
                <a:tableStyleId>{7DF18680-E054-41AD-8BC1-D1AEF772440D}</a:tableStyleId>
              </a:tblPr>
              <a:tblGrid>
                <a:gridCol w="1311033">
                  <a:extLst>
                    <a:ext uri="{9D8B030D-6E8A-4147-A177-3AD203B41FA5}">
                      <a16:colId xmlns:a16="http://schemas.microsoft.com/office/drawing/2014/main" val="815980451"/>
                    </a:ext>
                  </a:extLst>
                </a:gridCol>
                <a:gridCol w="766102">
                  <a:extLst>
                    <a:ext uri="{9D8B030D-6E8A-4147-A177-3AD203B41FA5}">
                      <a16:colId xmlns:a16="http://schemas.microsoft.com/office/drawing/2014/main" val="2106773861"/>
                    </a:ext>
                  </a:extLst>
                </a:gridCol>
                <a:gridCol w="2353596">
                  <a:extLst>
                    <a:ext uri="{9D8B030D-6E8A-4147-A177-3AD203B41FA5}">
                      <a16:colId xmlns:a16="http://schemas.microsoft.com/office/drawing/2014/main" val="3245439884"/>
                    </a:ext>
                  </a:extLst>
                </a:gridCol>
              </a:tblGrid>
              <a:tr h="63080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sr-Cyrl-RS" sz="12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Offset</a:t>
                      </a:r>
                      <a:r>
                        <a:rPr lang="sr-Cyrl-RS" sz="12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(</a:t>
                      </a:r>
                      <a:r>
                        <a:rPr lang="sr-Cyrl-RS" sz="12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hex</a:t>
                      </a:r>
                      <a:r>
                        <a:rPr lang="sr-Cyrl-RS" sz="12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)</a:t>
                      </a:r>
                      <a:endParaRPr lang="en-US" sz="1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Veličina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Opis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200975832"/>
                  </a:ext>
                </a:extLst>
              </a:tr>
              <a:tr h="63080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sr-Cyrl-RS" sz="12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0x000 – 0x1BD</a:t>
                      </a:r>
                      <a:endParaRPr lang="en-US" sz="1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446 B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Boot code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617674668"/>
                  </a:ext>
                </a:extLst>
              </a:tr>
              <a:tr h="813731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sr-Cyrl-RS" sz="12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0x1BE – 0x1FD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64 B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sr-Cyrl-RS" sz="12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Partition</a:t>
                      </a:r>
                      <a:r>
                        <a:rPr lang="sr-Cyrl-RS" sz="12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sr-Cyrl-RS" sz="12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table</a:t>
                      </a:r>
                      <a:r>
                        <a:rPr lang="sr-Cyrl-RS" sz="12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(4 × 16 B)</a:t>
                      </a:r>
                      <a:endParaRPr lang="en-US" sz="1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893362900"/>
                  </a:ext>
                </a:extLst>
              </a:tr>
              <a:tr h="63080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sr-Cyrl-RS" sz="12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0x1FE – 0x1FF</a:t>
                      </a:r>
                      <a:endParaRPr lang="en-US" sz="1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 B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sr-Cyrl-RS" sz="12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MBR </a:t>
                      </a:r>
                      <a:r>
                        <a:rPr lang="sr-Cyrl-RS" sz="12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signature</a:t>
                      </a:r>
                      <a:r>
                        <a:rPr lang="sr-Cyrl-RS" sz="12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(55 AA)</a:t>
                      </a:r>
                      <a:endParaRPr lang="en-US" sz="1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12014666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076140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D4996C-CB48-F984-7767-F93464C057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D436D3-2FA6-AA67-B11D-8C9803CCC8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1869" y="1561111"/>
            <a:ext cx="5666636" cy="5000110"/>
          </a:xfrm>
        </p:spPr>
        <p:txBody>
          <a:bodyPr>
            <a:normAutofit fontScale="92500" lnSpcReduction="20000"/>
          </a:bodyPr>
          <a:lstStyle/>
          <a:p>
            <a:pPr algn="just"/>
            <a:r>
              <a:rPr lang="sr-Cyrl-RS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Partition</a:t>
            </a:r>
            <a:r>
              <a:rPr lang="sr-Cyrl-R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r-Cyrl-RS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table</a:t>
            </a:r>
            <a:r>
              <a:rPr lang="sr-Cyrl-RS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r-Cyrl-R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sadrži</a:t>
            </a:r>
            <a:r>
              <a:rPr lang="sr-Cyrl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4 </a:t>
            </a:r>
            <a:r>
              <a:rPr lang="sr-Cyrl-R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unosa</a:t>
            </a:r>
            <a:r>
              <a:rPr lang="sr-Cyrl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r-Cyrl-R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Svaki</a:t>
            </a:r>
            <a:r>
              <a:rPr lang="sr-Cyrl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16B </a:t>
            </a:r>
            <a:r>
              <a:rPr lang="sr-Cyrl-R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unos</a:t>
            </a:r>
            <a:r>
              <a:rPr lang="sr-Cyrl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r-Cyrl-R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opisuje</a:t>
            </a:r>
            <a:r>
              <a:rPr lang="sr-Cyrl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r-Cyrl-R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particiju</a:t>
            </a:r>
            <a:r>
              <a:rPr lang="sr-Cyrl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 </a:t>
            </a:r>
            <a:r>
              <a:rPr lang="sr-Cyrl-R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tipično</a:t>
            </a:r>
            <a:r>
              <a:rPr lang="sr-Cyrl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r-Cyrl-R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sadrži</a:t>
            </a:r>
            <a:r>
              <a:rPr lang="sr-Cyrl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 algn="just"/>
            <a:r>
              <a:rPr lang="sr-Cyrl-RS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Entry</a:t>
            </a:r>
            <a:r>
              <a:rPr lang="sr-Cyrl-R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#1 -</a:t>
            </a:r>
            <a:r>
              <a:rPr lang="sr-Cyrl-RS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status</a:t>
            </a:r>
            <a:r>
              <a:rPr lang="sr-Cyrl-R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sr-Cyrl-RS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boot</a:t>
            </a:r>
            <a:r>
              <a:rPr lang="sr-Cyrl-R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r-Cyrl-RS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flag</a:t>
            </a:r>
            <a:r>
              <a:rPr lang="sr-Cyrl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 </a:t>
            </a:r>
            <a:r>
              <a:rPr lang="sr-Cyrl-R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označava</a:t>
            </a:r>
            <a:r>
              <a:rPr lang="sr-Cyrl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r-Cyrl-R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</a:t>
            </a:r>
            <a:r>
              <a:rPr lang="sr-Cyrl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r-Cyrl-R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je</a:t>
            </a:r>
            <a:r>
              <a:rPr lang="sr-Cyrl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r-Cyrl-R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aktivna</a:t>
            </a:r>
            <a:r>
              <a:rPr lang="sr-Cyrl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r-Cyrl-R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particija</a:t>
            </a:r>
            <a:r>
              <a:rPr lang="sr-Cyrl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 algn="just"/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Entry #2 - partition type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npr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NTFS, FAT32, “hidden”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varijante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itd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.),</a:t>
            </a:r>
          </a:p>
          <a:p>
            <a:pPr lvl="1" algn="just"/>
            <a:r>
              <a:rPr lang="sr-Cyrl-RS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Entry</a:t>
            </a:r>
            <a:r>
              <a:rPr lang="sr-Cyrl-R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#3 - </a:t>
            </a:r>
            <a:r>
              <a:rPr lang="sr-Cyrl-RS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start</a:t>
            </a:r>
            <a:r>
              <a:rPr lang="sr-Cyrl-R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LBA</a:t>
            </a:r>
            <a:r>
              <a:rPr lang="sr-Cyrl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sr-Cyrl-R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gde</a:t>
            </a:r>
            <a:r>
              <a:rPr lang="sr-Cyrl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r-Cyrl-R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particija</a:t>
            </a:r>
            <a:r>
              <a:rPr lang="sr-Cyrl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r-Cyrl-R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počinje</a:t>
            </a:r>
            <a:r>
              <a:rPr lang="sr-Cyrl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 algn="just"/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Entry #4 - size in sectors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veličina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particije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izražena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sektorima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).</a:t>
            </a:r>
          </a:p>
          <a:p>
            <a:pPr algn="just"/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Izmena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se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vrši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tačno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definisanom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offsetu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unutar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MBR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sektora</a:t>
            </a:r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(decimalno: 450, </a:t>
            </a:r>
            <a:r>
              <a:rPr lang="sr-Latn-R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hex</a:t>
            </a:r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0x1C2)</a:t>
            </a:r>
          </a:p>
          <a:p>
            <a:pPr algn="just"/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0x07 – označava NTFS particiju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3CCDF557-33F2-2A50-0BB1-91D7FE6438B8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2192000" cy="8737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sr-Latn-RS" b="1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Master </a:t>
            </a:r>
            <a:r>
              <a:rPr lang="sr-Latn-RS" b="1" dirty="0" err="1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partition</a:t>
            </a:r>
            <a:r>
              <a:rPr lang="sr-Latn-RS" b="1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table (</a:t>
            </a:r>
            <a:r>
              <a:rPr lang="sr-Latn-RS" b="1" dirty="0" err="1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mpt</a:t>
            </a:r>
            <a:r>
              <a:rPr lang="sr-Latn-RS" b="1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en-US" dirty="0">
              <a:solidFill>
                <a:schemeClr val="accent5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44F42A6-28FD-A307-FF08-B921303527C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1351"/>
          <a:stretch>
            <a:fillRect/>
          </a:stretch>
        </p:blipFill>
        <p:spPr>
          <a:xfrm>
            <a:off x="6440715" y="2594916"/>
            <a:ext cx="5372341" cy="22736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2352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D2859A-7FE0-48FE-B084-BBEFC8B08C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5769" y="2278311"/>
            <a:ext cx="8148870" cy="2301378"/>
          </a:xfrm>
        </p:spPr>
        <p:txBody>
          <a:bodyPr>
            <a:normAutofit/>
          </a:bodyPr>
          <a:lstStyle/>
          <a:p>
            <a:pPr fontAlgn="base"/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Definišu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način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organizacije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pristupa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podacima</a:t>
            </a:r>
            <a:endParaRPr lang="sr-Latn-R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fontAlgn="base"/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Omogućavaju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rad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datotekama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direktorijumima</a:t>
            </a:r>
            <a:endParaRPr lang="sr-Latn-R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fontAlgn="base"/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Skrivaju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fizičku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lokaciju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podataka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od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korisnika</a:t>
            </a:r>
            <a:endParaRPr lang="sr-Latn-R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fontAlgn="base"/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Razlikuju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se po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strukturi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bezbednosti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forenzičkom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značaju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64E17E8F-7524-4B31-A683-FD121FBAFAA8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2192000" cy="8737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sr-Latn-RS" b="1" dirty="0" err="1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Datotečni</a:t>
            </a:r>
            <a:r>
              <a:rPr lang="sr-Latn-RS" b="1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sistem (</a:t>
            </a:r>
            <a:r>
              <a:rPr lang="sr-Latn-RS" b="1" dirty="0" err="1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fat</a:t>
            </a:r>
            <a:r>
              <a:rPr lang="sr-Latn-RS" b="1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sr-Latn-RS" b="1" dirty="0" err="1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ntfs</a:t>
            </a:r>
            <a:r>
              <a:rPr lang="sr-Latn-RS" b="1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en-US" dirty="0">
              <a:solidFill>
                <a:schemeClr val="accent5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671344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5FA6BB-D365-424F-8C2A-5E121A4C29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1979" y="1277139"/>
            <a:ext cx="6598507" cy="5160731"/>
          </a:xfrm>
        </p:spPr>
        <p:txBody>
          <a:bodyPr>
            <a:normAutofit/>
          </a:bodyPr>
          <a:lstStyle/>
          <a:p>
            <a:pPr algn="just"/>
            <a:r>
              <a:rPr lang="en-US" sz="1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FAT (File Allocation Table)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r-Latn-R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obuhvata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varijante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FAT12, FAT16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FAT32</a:t>
            </a:r>
            <a:r>
              <a:rPr lang="sr-Latn-R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Jednostavan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r-Latn-R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 široko kompatibilan sistem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sr-Latn-R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sr-Latn-R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Koristi FAT tabelu za povezivanje klastera</a:t>
            </a:r>
          </a:p>
          <a:p>
            <a:pPr algn="just"/>
            <a:r>
              <a:rPr lang="sr-Latn-R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Glavne komponente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lvl="1" algn="just"/>
            <a:r>
              <a:rPr lang="en-US" sz="1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Boot </a:t>
            </a:r>
            <a:r>
              <a:rPr lang="en-US" sz="18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sektor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 algn="just"/>
            <a:r>
              <a:rPr lang="en-US" sz="1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FAT </a:t>
            </a:r>
            <a:r>
              <a:rPr lang="en-US" sz="18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tabela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 algn="just"/>
            <a:r>
              <a:rPr lang="en-US" sz="1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Root </a:t>
            </a:r>
            <a:r>
              <a:rPr lang="en-US" sz="18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direktorijuma</a:t>
            </a:r>
            <a:endParaRPr lang="sr-Latn-RS" sz="1800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 algn="just"/>
            <a:r>
              <a:rPr lang="en-US" sz="1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region</a:t>
            </a:r>
            <a:endParaRPr lang="sr-Latn-RS" sz="1800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sr-Latn-R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Često korišćen na USB uređajima</a:t>
            </a:r>
            <a:endParaRPr 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4EE2212-B3D9-4741-B996-D14974587EFF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2192000" cy="8737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just"/>
            <a:r>
              <a:rPr lang="sr-Latn-RS" b="1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FAT </a:t>
            </a:r>
            <a:r>
              <a:rPr lang="sr-Latn-RS" b="1" dirty="0" err="1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datotečni</a:t>
            </a:r>
            <a:r>
              <a:rPr lang="sr-Latn-RS" b="1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sistem</a:t>
            </a:r>
            <a:endParaRPr lang="en-US" i="1" dirty="0">
              <a:solidFill>
                <a:schemeClr val="accent5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drawing">
            <a:extLst>
              <a:ext uri="{FF2B5EF4-FFF2-40B4-BE49-F238E27FC236}">
                <a16:creationId xmlns:a16="http://schemas.microsoft.com/office/drawing/2014/main" id="{2B9C4EF8-E802-C255-FB48-AC317E7189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6891" b="15224"/>
          <a:stretch>
            <a:fillRect/>
          </a:stretch>
        </p:blipFill>
        <p:spPr>
          <a:xfrm>
            <a:off x="7608570" y="1277139"/>
            <a:ext cx="3761814" cy="439543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6BD1E0C-973B-DB2C-F03E-FCD1AE1B8484}"/>
              </a:ext>
            </a:extLst>
          </p:cNvPr>
          <p:cNvSpPr txBox="1"/>
          <p:nvPr/>
        </p:nvSpPr>
        <p:spPr>
          <a:xfrm>
            <a:off x="7765709" y="5795318"/>
            <a:ext cx="34475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Hijerarhija FAT </a:t>
            </a:r>
            <a:r>
              <a:rPr lang="sr-Latn-R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datotečnog</a:t>
            </a:r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sistema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952179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ADB349-78CB-C773-C945-331BC43E34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326F11-73B1-F10F-6F5E-AFF87C2269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9433" y="1119383"/>
            <a:ext cx="6358178" cy="4619233"/>
          </a:xfrm>
        </p:spPr>
        <p:txBody>
          <a:bodyPr>
            <a:normAutofit/>
          </a:bodyPr>
          <a:lstStyle/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NTFS 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(New Technology File System)</a:t>
            </a:r>
            <a:r>
              <a:rPr lang="sr-Latn-R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</a:t>
            </a:r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avremeni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Windows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datotečni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sistem</a:t>
            </a:r>
            <a:endParaRPr lang="sr-Latn-R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Centralna struktura - </a:t>
            </a:r>
            <a:r>
              <a:rPr lang="en-US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Master File Table (MFT) </a:t>
            </a:r>
            <a:endParaRPr lang="sr-Latn-R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ogat</a:t>
            </a:r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metapoda</a:t>
            </a:r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ci o fajlovima</a:t>
            </a:r>
          </a:p>
          <a:p>
            <a:pPr algn="just"/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Podrž</a:t>
            </a:r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ka za:</a:t>
            </a:r>
          </a:p>
          <a:p>
            <a:pPr lvl="1" algn="just"/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ACL dozvole</a:t>
            </a:r>
          </a:p>
          <a:p>
            <a:pPr lvl="1" algn="just"/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Journaling</a:t>
            </a:r>
          </a:p>
          <a:p>
            <a:pPr lvl="1" algn="just"/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Velike fajlove i volumene</a:t>
            </a:r>
          </a:p>
          <a:p>
            <a:pPr algn="just"/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Visok forenzički značaj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A27764D-B4A5-6A91-1141-A0953F61D3F6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2192000" cy="8737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just"/>
            <a:r>
              <a:rPr lang="sr-Latn-RS" b="1" dirty="0" err="1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ntfs</a:t>
            </a:r>
            <a:r>
              <a:rPr lang="sr-Latn-RS" b="1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r-Latn-RS" b="1" dirty="0" err="1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datotečni</a:t>
            </a:r>
            <a:r>
              <a:rPr lang="sr-Latn-RS" b="1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r-Latn-RS" b="1" dirty="0" err="1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sitem</a:t>
            </a:r>
            <a:endParaRPr lang="en-US" i="1" dirty="0">
              <a:solidFill>
                <a:schemeClr val="accent5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4A21265-BF9B-A84D-4207-0CC170432E66}"/>
              </a:ext>
            </a:extLst>
          </p:cNvPr>
          <p:cNvSpPr txBox="1"/>
          <p:nvPr/>
        </p:nvSpPr>
        <p:spPr>
          <a:xfrm>
            <a:off x="7500551" y="5795318"/>
            <a:ext cx="37126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Hijerarhija NTFS </a:t>
            </a:r>
            <a:r>
              <a:rPr lang="sr-Latn-R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datotečnog</a:t>
            </a:r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sistema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ED1F04B-9252-931F-6940-C38E5D05B3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60559" y="1404730"/>
            <a:ext cx="3992677" cy="4257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04996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745E4F-55A6-D365-E6B1-8CDE9092E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592085-CF39-29AE-0759-448277B145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7605" y="1601651"/>
            <a:ext cx="5123934" cy="3654698"/>
          </a:xfrm>
        </p:spPr>
        <p:txBody>
          <a:bodyPr>
            <a:normAutofit fontScale="92500" lnSpcReduction="20000"/>
          </a:bodyPr>
          <a:lstStyle/>
          <a:p>
            <a:pPr algn="just"/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Različite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unutrašnje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strukture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mogućnosti</a:t>
            </a:r>
            <a:endParaRPr lang="sr-Latn-R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FAT (FAT32)</a:t>
            </a:r>
            <a:r>
              <a:rPr lang="sr-Latn-R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jednostavan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kompatibilan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bez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napredne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kontrole</a:t>
            </a:r>
            <a:endParaRPr lang="sr-Latn-R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NTFS</a:t>
            </a:r>
            <a:r>
              <a:rPr lang="sr-Latn-R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napredan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bezbedan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bogati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metapodaci</a:t>
            </a:r>
            <a:endParaRPr lang="sr-Latn-R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Različit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tretman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od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strane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Windows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operativnog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Sistema</a:t>
            </a:r>
            <a:endParaRPr lang="sr-Latn-R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FAT32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particije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na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USB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uređajima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ostaju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vidljive</a:t>
            </a:r>
            <a:endParaRPr lang="sr-Latn-R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Windows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ignoriše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hidden partition type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za FAT32</a:t>
            </a:r>
            <a:endParaRPr lang="sr-Latn-R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NTFS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particije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na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eksternim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hard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diskovima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se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uspešno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sakrivaju</a:t>
            </a:r>
            <a:endParaRPr lang="sr-Latn-R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pl-PL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Razlike nisu u MBR zapisu, već u načinu na koji Windows tumači uređaj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F2BE7611-37BC-D521-3433-E22CEBC86C09}"/>
              </a:ext>
            </a:extLst>
          </p:cNvPr>
          <p:cNvSpPr txBox="1">
            <a:spLocks/>
          </p:cNvSpPr>
          <p:nvPr/>
        </p:nvSpPr>
        <p:spPr>
          <a:xfrm>
            <a:off x="-1" y="1"/>
            <a:ext cx="12761835" cy="90830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just"/>
            <a:r>
              <a:rPr lang="sr-Latn-RS" b="1" dirty="0" err="1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Fat</a:t>
            </a:r>
            <a:r>
              <a:rPr lang="sr-Latn-RS" b="1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r-Latn-RS" b="1" dirty="0" err="1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vs</a:t>
            </a:r>
            <a:r>
              <a:rPr lang="sr-Latn-RS" b="1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r-Latn-RS" b="1" dirty="0" err="1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ntfs</a:t>
            </a:r>
            <a:endParaRPr lang="en-US" i="1" dirty="0">
              <a:solidFill>
                <a:schemeClr val="accent5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78484B5-6902-E3A4-3DE8-9FE0830DC024}"/>
              </a:ext>
            </a:extLst>
          </p:cNvPr>
          <p:cNvSpPr txBox="1"/>
          <p:nvPr/>
        </p:nvSpPr>
        <p:spPr>
          <a:xfrm>
            <a:off x="6320462" y="5780418"/>
            <a:ext cx="506630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sr-Latn-C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Uporedni prikaz FAT (FAT32) i NTFS </a:t>
            </a:r>
            <a:r>
              <a:rPr lang="sr-Latn-C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datotečnih</a:t>
            </a:r>
            <a:r>
              <a:rPr lang="sr-Latn-C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sistema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9C5E06F-B791-E690-0140-4ABBDEBAACB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07460072"/>
              </p:ext>
            </p:extLst>
          </p:nvPr>
        </p:nvGraphicFramePr>
        <p:xfrm>
          <a:off x="6320462" y="1224554"/>
          <a:ext cx="5123934" cy="4408892"/>
        </p:xfrm>
        <a:graphic>
          <a:graphicData uri="http://schemas.openxmlformats.org/drawingml/2006/table">
            <a:tbl>
              <a:tblPr firstRow="1" firstCol="1">
                <a:tableStyleId>{7DF18680-E054-41AD-8BC1-D1AEF772440D}</a:tableStyleId>
              </a:tblPr>
              <a:tblGrid>
                <a:gridCol w="1707978">
                  <a:extLst>
                    <a:ext uri="{9D8B030D-6E8A-4147-A177-3AD203B41FA5}">
                      <a16:colId xmlns:a16="http://schemas.microsoft.com/office/drawing/2014/main" val="2491983071"/>
                    </a:ext>
                  </a:extLst>
                </a:gridCol>
                <a:gridCol w="1707978">
                  <a:extLst>
                    <a:ext uri="{9D8B030D-6E8A-4147-A177-3AD203B41FA5}">
                      <a16:colId xmlns:a16="http://schemas.microsoft.com/office/drawing/2014/main" val="757177005"/>
                    </a:ext>
                  </a:extLst>
                </a:gridCol>
                <a:gridCol w="1707978">
                  <a:extLst>
                    <a:ext uri="{9D8B030D-6E8A-4147-A177-3AD203B41FA5}">
                      <a16:colId xmlns:a16="http://schemas.microsoft.com/office/drawing/2014/main" val="3110841651"/>
                    </a:ext>
                  </a:extLst>
                </a:gridCol>
              </a:tblGrid>
              <a:tr h="201360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Karakteristika</a:t>
                      </a:r>
                      <a:endParaRPr lang="en-US" sz="9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029" marR="55029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FAT (FAT32)</a:t>
                      </a:r>
                      <a:endParaRPr lang="en-US" sz="9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029" marR="55029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NTFS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029" marR="55029" marT="0" marB="0" anchor="ctr"/>
                </a:tc>
                <a:extLst>
                  <a:ext uri="{0D108BD9-81ED-4DB2-BD59-A6C34878D82A}">
                    <a16:rowId xmlns:a16="http://schemas.microsoft.com/office/drawing/2014/main" val="2469151234"/>
                  </a:ext>
                </a:extLst>
              </a:tr>
              <a:tr h="368487"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Tip </a:t>
                      </a: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datotečnog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sistema</a:t>
                      </a:r>
                      <a:endParaRPr lang="en-US" sz="9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029" marR="55029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Jednostavan, legacy datotečni sistem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029" marR="55029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Savremeni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datotečni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sistem</a:t>
                      </a:r>
                      <a:endParaRPr lang="en-US" sz="9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029" marR="55029" marT="0" marB="0" anchor="ctr"/>
                </a:tc>
                <a:extLst>
                  <a:ext uri="{0D108BD9-81ED-4DB2-BD59-A6C34878D82A}">
                    <a16:rowId xmlns:a16="http://schemas.microsoft.com/office/drawing/2014/main" val="2107078184"/>
                  </a:ext>
                </a:extLst>
              </a:tr>
              <a:tr h="368487"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Centralna struktura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029" marR="55029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FAT tabela (File Allocation Table)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029" marR="55029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Master File Table (MFT)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029" marR="55029" marT="0" marB="0" anchor="ctr"/>
                </a:tc>
                <a:extLst>
                  <a:ext uri="{0D108BD9-81ED-4DB2-BD59-A6C34878D82A}">
                    <a16:rowId xmlns:a16="http://schemas.microsoft.com/office/drawing/2014/main" val="2953666740"/>
                  </a:ext>
                </a:extLst>
              </a:tr>
              <a:tr h="179948"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Organizacija datoteka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029" marR="55029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Lančano povezani klasteri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029" marR="55029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Zapisi sa atributima u MFT-u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029" marR="55029" marT="0" marB="0" anchor="ctr"/>
                </a:tc>
                <a:extLst>
                  <a:ext uri="{0D108BD9-81ED-4DB2-BD59-A6C34878D82A}">
                    <a16:rowId xmlns:a16="http://schemas.microsoft.com/office/drawing/2014/main" val="3708811106"/>
                  </a:ext>
                </a:extLst>
              </a:tr>
              <a:tr h="368487"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Maksimalna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veličina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datoteke</a:t>
                      </a:r>
                      <a:endParaRPr lang="en-US" sz="9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029" marR="55029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Ograničena (do 4 GB)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029" marR="55029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Praktično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neograničena</a:t>
                      </a:r>
                      <a:endParaRPr lang="en-US" sz="9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029" marR="55029" marT="0" marB="0" anchor="ctr"/>
                </a:tc>
                <a:extLst>
                  <a:ext uri="{0D108BD9-81ED-4DB2-BD59-A6C34878D82A}">
                    <a16:rowId xmlns:a16="http://schemas.microsoft.com/office/drawing/2014/main" val="2466928138"/>
                  </a:ext>
                </a:extLst>
              </a:tr>
              <a:tr h="368487"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Podrška za velike volumene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029" marR="55029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Ograničena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029" marR="55029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Podržaba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029" marR="55029" marT="0" marB="0" anchor="ctr"/>
                </a:tc>
                <a:extLst>
                  <a:ext uri="{0D108BD9-81ED-4DB2-BD59-A6C34878D82A}">
                    <a16:rowId xmlns:a16="http://schemas.microsoft.com/office/drawing/2014/main" val="824319449"/>
                  </a:ext>
                </a:extLst>
              </a:tr>
              <a:tr h="179948"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Bezbednosni mehanizmi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029" marR="55029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Nisu podržani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029" marR="55029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ACL, dozvole, audit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029" marR="55029" marT="0" marB="0" anchor="ctr"/>
                </a:tc>
                <a:extLst>
                  <a:ext uri="{0D108BD9-81ED-4DB2-BD59-A6C34878D82A}">
                    <a16:rowId xmlns:a16="http://schemas.microsoft.com/office/drawing/2014/main" val="865087740"/>
                  </a:ext>
                </a:extLst>
              </a:tr>
              <a:tr h="179948"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Journaling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029" marR="55029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Nije podržan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029" marR="55029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Podržan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029" marR="55029" marT="0" marB="0" anchor="ctr"/>
                </a:tc>
                <a:extLst>
                  <a:ext uri="{0D108BD9-81ED-4DB2-BD59-A6C34878D82A}">
                    <a16:rowId xmlns:a16="http://schemas.microsoft.com/office/drawing/2014/main" val="1212154786"/>
                  </a:ext>
                </a:extLst>
              </a:tr>
              <a:tr h="179948"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Oporavak nakon greške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029" marR="55029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Ograničen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029" marR="55029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Napredan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029" marR="55029" marT="0" marB="0" anchor="ctr"/>
                </a:tc>
                <a:extLst>
                  <a:ext uri="{0D108BD9-81ED-4DB2-BD59-A6C34878D82A}">
                    <a16:rowId xmlns:a16="http://schemas.microsoft.com/office/drawing/2014/main" val="3493503831"/>
                  </a:ext>
                </a:extLst>
              </a:tr>
              <a:tr h="179948"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Fragmentacija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029" marR="55029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Visoka sklonost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029" marR="55029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Manja sklonost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029" marR="55029" marT="0" marB="0" anchor="ctr"/>
                </a:tc>
                <a:extLst>
                  <a:ext uri="{0D108BD9-81ED-4DB2-BD59-A6C34878D82A}">
                    <a16:rowId xmlns:a16="http://schemas.microsoft.com/office/drawing/2014/main" val="3383256110"/>
                  </a:ext>
                </a:extLst>
              </a:tr>
              <a:tr h="179948"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Metapodaci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029" marR="55029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Minimalni 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029" marR="55029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Opsežni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029" marR="55029" marT="0" marB="0" anchor="ctr"/>
                </a:tc>
                <a:extLst>
                  <a:ext uri="{0D108BD9-81ED-4DB2-BD59-A6C34878D82A}">
                    <a16:rowId xmlns:a16="http://schemas.microsoft.com/office/drawing/2014/main" val="2231109416"/>
                  </a:ext>
                </a:extLst>
              </a:tr>
              <a:tr h="368487"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Mogućnost smeštanja podataka u metapodatke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029" marR="55029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Nije podržana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029" marR="55029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Podržana (resident files)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029" marR="55029" marT="0" marB="0" anchor="ctr"/>
                </a:tc>
                <a:extLst>
                  <a:ext uri="{0D108BD9-81ED-4DB2-BD59-A6C34878D82A}">
                    <a16:rowId xmlns:a16="http://schemas.microsoft.com/office/drawing/2014/main" val="1693419102"/>
                  </a:ext>
                </a:extLst>
              </a:tr>
              <a:tr h="368487"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Tipična primena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029" marR="55029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USB fleš memorije, memorijske kartice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029" marR="55029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Sistemski i eksterni hard diskovi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029" marR="55029" marT="0" marB="0" anchor="ctr"/>
                </a:tc>
                <a:extLst>
                  <a:ext uri="{0D108BD9-81ED-4DB2-BD59-A6C34878D82A}">
                    <a16:rowId xmlns:a16="http://schemas.microsoft.com/office/drawing/2014/main" val="2803523137"/>
                  </a:ext>
                </a:extLst>
              </a:tr>
              <a:tr h="179948"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Forenzički značaj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029" marR="55029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Ograničen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029" marR="55029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Visok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029" marR="55029" marT="0" marB="0" anchor="ctr"/>
                </a:tc>
                <a:extLst>
                  <a:ext uri="{0D108BD9-81ED-4DB2-BD59-A6C34878D82A}">
                    <a16:rowId xmlns:a16="http://schemas.microsoft.com/office/drawing/2014/main" val="1061785944"/>
                  </a:ext>
                </a:extLst>
              </a:tr>
              <a:tr h="368487"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Poštovanje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hidden partition type u Windows OS</a:t>
                      </a:r>
                      <a:endParaRPr lang="en-US" sz="9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029" marR="55029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Ignoriše se na USB uređajima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029" marR="55029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Poštuje se na fiksnim i eksternim diskovima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029" marR="55029" marT="0" marB="0" anchor="ctr"/>
                </a:tc>
                <a:extLst>
                  <a:ext uri="{0D108BD9-81ED-4DB2-BD59-A6C34878D82A}">
                    <a16:rowId xmlns:a16="http://schemas.microsoft.com/office/drawing/2014/main" val="2867726717"/>
                  </a:ext>
                </a:extLst>
              </a:tr>
              <a:tr h="368487"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Ponašanje u praktičnom delu rada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029" marR="55029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Particija ostaje vidljiva u File Explorer-u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029" marR="55029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Particija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postaje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skrivena</a:t>
                      </a:r>
                      <a:endParaRPr lang="en-US" sz="9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029" marR="55029" marT="0" marB="0" anchor="ctr"/>
                </a:tc>
                <a:extLst>
                  <a:ext uri="{0D108BD9-81ED-4DB2-BD59-A6C34878D82A}">
                    <a16:rowId xmlns:a16="http://schemas.microsoft.com/office/drawing/2014/main" val="283873588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5218356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C238F5-44B9-FC81-F5F6-DD3E096523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DC83FB-B495-F406-89CC-B7BD1317B2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5960" y="1124465"/>
            <a:ext cx="10800080" cy="5286845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sr-Latn-RS" sz="3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Opis eksperimenta:</a:t>
            </a:r>
          </a:p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Cilj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eksperimenta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sakrivanje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particije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izmenom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MBR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zapisa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Direktan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RAW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pristup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fizičkom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disku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Izmena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Partition Type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polja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 MBR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particionoj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tabeli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Backup boot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sektora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kao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bezbednosna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mera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Radno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okruženje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Windows 11</a:t>
            </a:r>
          </a:p>
          <a:p>
            <a:pPr lvl="1"/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Testirano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Windows 7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XP (VM)</a:t>
            </a:r>
          </a:p>
          <a:p>
            <a:pPr lvl="1"/>
            <a:r>
              <a:rPr lang="nn-NO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Različiti tipovi storage uređaja (eksterni HDD, USB flash)</a:t>
            </a:r>
          </a:p>
          <a:p>
            <a:pPr marL="457200" lvl="1" indent="0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Metodologija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rada</a:t>
            </a:r>
          </a:p>
          <a:p>
            <a:pPr lvl="1"/>
            <a:r>
              <a:rPr lang="en-US" sz="21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Ručna</a:t>
            </a:r>
            <a:r>
              <a:rPr lang="en-US"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1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izmena</a:t>
            </a:r>
            <a:r>
              <a:rPr lang="en-US"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1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korišćenjem</a:t>
            </a:r>
            <a:r>
              <a:rPr lang="en-US"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1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HxD</a:t>
            </a:r>
            <a:r>
              <a:rPr lang="en-US"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alata</a:t>
            </a:r>
          </a:p>
          <a:p>
            <a:pPr lvl="1"/>
            <a:r>
              <a:rPr lang="en-US" sz="21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Automatizovana</a:t>
            </a:r>
            <a:r>
              <a:rPr lang="en-US"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1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izmena</a:t>
            </a:r>
            <a:r>
              <a:rPr lang="en-US"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1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programskim</a:t>
            </a:r>
            <a:r>
              <a:rPr lang="en-US"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1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rešenjem</a:t>
            </a:r>
            <a:r>
              <a:rPr lang="en-US"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(C++)</a:t>
            </a:r>
          </a:p>
          <a:p>
            <a:pPr algn="just"/>
            <a:endParaRPr lang="en-US" i="1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F8FE0B4C-F4D4-A408-8C65-A71DD47A2F5B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2072552" cy="112446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sr-Latn-RS" b="1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3. Sakrivanje particije tvrdog diska – praktična implementacija</a:t>
            </a:r>
            <a:endParaRPr lang="en-US" b="1" dirty="0">
              <a:solidFill>
                <a:schemeClr val="accent5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094294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D12753-8656-40CB-B8BA-552601D866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1508" y="963828"/>
            <a:ext cx="6252481" cy="5560540"/>
          </a:xfrm>
          <a:ln w="38100">
            <a:noFill/>
          </a:ln>
        </p:spPr>
        <p:txBody>
          <a:bodyPr>
            <a:normAutofit fontScale="92500" lnSpcReduction="20000"/>
          </a:bodyPr>
          <a:lstStyle/>
          <a:p>
            <a:pPr algn="just"/>
            <a:r>
              <a:rPr lang="sr-Latn-RS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HxD</a:t>
            </a:r>
            <a:r>
              <a:rPr lang="sr-Latn-R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r-Latn-RS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heksadecimalni</a:t>
            </a:r>
            <a:r>
              <a:rPr lang="sr-Latn-R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editor</a:t>
            </a:r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RAW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pristupom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podacima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Direktno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otvaranje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fizičkog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diska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PhysicalDrive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Analiza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izmena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MBR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particione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tabele</a:t>
            </a:r>
            <a:endParaRPr lang="sr-Latn-R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 algn="just"/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Izmena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MBR-a je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moguća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isključivo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pokretanjem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alata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administratorskim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privilegijama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Promena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Partition Type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polja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 MBR-u</a:t>
            </a:r>
          </a:p>
          <a:p>
            <a:pPr algn="just"/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Kreiranje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backup-a boot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sektora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pre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svake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mene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Nakon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izmene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restarta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particija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nije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vidljiva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 File Explorer-u</a:t>
            </a:r>
          </a:p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Disk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ostaje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prisutan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 Disk Management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alatu</a:t>
            </a:r>
            <a:endParaRPr lang="sr-Latn-R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fr-FR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Izmena</a:t>
            </a:r>
            <a:r>
              <a:rPr lang="fr-F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je </a:t>
            </a:r>
            <a:r>
              <a:rPr lang="fr-FR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reverzibilna</a:t>
            </a:r>
            <a:r>
              <a:rPr lang="fr-F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fr-FR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vraćanjem</a:t>
            </a:r>
            <a:r>
              <a:rPr lang="fr-F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fr-FR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originalne</a:t>
            </a:r>
            <a:r>
              <a:rPr lang="fr-F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Partition Type </a:t>
            </a:r>
            <a:r>
              <a:rPr lang="fr-FR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vrednosti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09DE6080-DD89-48FB-86C6-798CAB0615CF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2192000" cy="8737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 err="1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Sakrivanje</a:t>
            </a:r>
            <a:r>
              <a:rPr lang="en-US" b="1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particije</a:t>
            </a:r>
            <a:r>
              <a:rPr lang="en-US" b="1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pomoću</a:t>
            </a:r>
            <a:r>
              <a:rPr lang="en-US" b="1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HxD</a:t>
            </a:r>
            <a:endParaRPr lang="en-US" b="1" dirty="0">
              <a:solidFill>
                <a:schemeClr val="accent5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drawing">
            <a:extLst>
              <a:ext uri="{FF2B5EF4-FFF2-40B4-BE49-F238E27FC236}">
                <a16:creationId xmlns:a16="http://schemas.microsoft.com/office/drawing/2014/main" id="{71F8FF06-0CD7-FDC6-CBD3-0036633195B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57324"/>
          <a:stretch>
            <a:fillRect/>
          </a:stretch>
        </p:blipFill>
        <p:spPr>
          <a:xfrm>
            <a:off x="7797114" y="1053895"/>
            <a:ext cx="3904734" cy="514584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BC775B5-8973-8D4F-FF9C-81AF800B3309}"/>
              </a:ext>
            </a:extLst>
          </p:cNvPr>
          <p:cNvSpPr txBox="1"/>
          <p:nvPr/>
        </p:nvSpPr>
        <p:spPr>
          <a:xfrm>
            <a:off x="7797114" y="6199736"/>
            <a:ext cx="43001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sr-Latn-C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Prikaz sektora tvrdog diska u </a:t>
            </a:r>
            <a:r>
              <a:rPr lang="sr-Latn-C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HxD</a:t>
            </a:r>
            <a:r>
              <a:rPr lang="sr-Latn-C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editoru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1965217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1B305F-BA28-88B9-2A74-6EFAA6BBE3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1E4B45-4101-FAEF-75B2-E95675D3FA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0871" y="1049000"/>
            <a:ext cx="5181766" cy="5636004"/>
          </a:xfrm>
          <a:ln w="38100">
            <a:noFill/>
          </a:ln>
        </p:spPr>
        <p:txBody>
          <a:bodyPr>
            <a:norm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Particiona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tabela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se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nalazi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 MBR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sektoru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(LBA 0)</a:t>
            </a:r>
            <a:endParaRPr lang="sr-Latn-R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Svaka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particija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definisano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Partition Type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polje</a:t>
            </a:r>
            <a:endParaRPr lang="sr-Latn-R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Promenom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ove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vrednosti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menja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se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vidljivost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particije</a:t>
            </a:r>
            <a:endParaRPr lang="sr-Latn-R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TFS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particija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 0x07 →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standardna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NTFS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particija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 0x17 →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skrivena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NTFS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particija</a:t>
            </a:r>
            <a:endParaRPr lang="sr-Latn-R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FAT </a:t>
            </a:r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particija:</a:t>
            </a:r>
          </a:p>
          <a:p>
            <a:pPr marL="457200" lvl="1" indent="0">
              <a:buNone/>
            </a:pPr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0x0C → FAT32 LBA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0x1C →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skrivena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FAT32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particija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6C9F222F-7BA9-7356-DEB1-28A42FB47928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2192000" cy="8737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l-PL" b="1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Izmena Partition Type polja u MBR-u</a:t>
            </a:r>
            <a:endParaRPr lang="en-US" b="1" dirty="0">
              <a:solidFill>
                <a:schemeClr val="accent5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436A545F-9C9B-9ECA-576E-E480B434126A}"/>
              </a:ext>
            </a:extLst>
          </p:cNvPr>
          <p:cNvGrpSpPr/>
          <p:nvPr/>
        </p:nvGrpSpPr>
        <p:grpSpPr>
          <a:xfrm>
            <a:off x="6289589" y="1049000"/>
            <a:ext cx="5111540" cy="5800423"/>
            <a:chOff x="6289589" y="1049000"/>
            <a:chExt cx="5111540" cy="5800423"/>
          </a:xfrm>
        </p:grpSpPr>
        <p:pic>
          <p:nvPicPr>
            <p:cNvPr id="5" name="drawing">
              <a:extLst>
                <a:ext uri="{FF2B5EF4-FFF2-40B4-BE49-F238E27FC236}">
                  <a16:creationId xmlns:a16="http://schemas.microsoft.com/office/drawing/2014/main" id="{71EA9FEF-F2F7-A277-A57C-380BBE5EFE9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l="1" r="64820" b="16501"/>
            <a:stretch>
              <a:fillRect/>
            </a:stretch>
          </p:blipFill>
          <p:spPr>
            <a:xfrm>
              <a:off x="7688158" y="1049000"/>
              <a:ext cx="3712971" cy="4956384"/>
            </a:xfrm>
            <a:prstGeom prst="rect">
              <a:avLst/>
            </a:prstGeom>
          </p:spPr>
        </p:pic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4E8E2847-BE66-FB49-F28D-9A169A6CA9D0}"/>
                </a:ext>
              </a:extLst>
            </p:cNvPr>
            <p:cNvCxnSpPr>
              <a:cxnSpLocks/>
              <a:stCxn id="8" idx="0"/>
            </p:cNvCxnSpPr>
            <p:nvPr/>
          </p:nvCxnSpPr>
          <p:spPr>
            <a:xfrm flipV="1">
              <a:off x="7543800" y="5128054"/>
              <a:ext cx="1254211" cy="10750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D6B2A4AF-D1AE-2861-A213-C868F749C1A2}"/>
                </a:ext>
              </a:extLst>
            </p:cNvPr>
            <p:cNvSpPr txBox="1"/>
            <p:nvPr/>
          </p:nvSpPr>
          <p:spPr>
            <a:xfrm>
              <a:off x="6289589" y="6203092"/>
              <a:ext cx="250842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/>
              <a:r>
                <a:rPr lang="sr-Latn-RS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Heksadecimalni</a:t>
              </a:r>
              <a:r>
                <a:rPr lang="sr-Latn-R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kod za skrivenu NTFS particiju</a:t>
              </a:r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74350773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0DD4E7-35C5-6BC2-FC25-BFFC200A8A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74D7B7DE-0423-20F7-E0E4-9EE8A4B5A7BE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2192000" cy="8737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sr-Latn-RS" b="1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Prikaz rezultata</a:t>
            </a:r>
            <a:endParaRPr lang="en-US" b="1" dirty="0">
              <a:solidFill>
                <a:schemeClr val="accent5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0884D08-425D-1AEF-B865-F96BC77FC2F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4611"/>
          <a:stretch>
            <a:fillRect/>
          </a:stretch>
        </p:blipFill>
        <p:spPr>
          <a:xfrm>
            <a:off x="523101" y="1648989"/>
            <a:ext cx="5486400" cy="1628409"/>
          </a:xfrm>
          <a:prstGeom prst="rect">
            <a:avLst/>
          </a:prstGeom>
        </p:spPr>
      </p:pic>
      <p:pic>
        <p:nvPicPr>
          <p:cNvPr id="10" name="drawing">
            <a:extLst>
              <a:ext uri="{FF2B5EF4-FFF2-40B4-BE49-F238E27FC236}">
                <a16:creationId xmlns:a16="http://schemas.microsoft.com/office/drawing/2014/main" id="{EF7D54D3-40E2-1025-6A12-F5FA211D7DD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24611"/>
          <a:stretch>
            <a:fillRect/>
          </a:stretch>
        </p:blipFill>
        <p:spPr>
          <a:xfrm>
            <a:off x="6520248" y="1651230"/>
            <a:ext cx="5486400" cy="1626168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96FF301E-F5D9-7F16-7A92-B9598B9FF904}"/>
              </a:ext>
            </a:extLst>
          </p:cNvPr>
          <p:cNvSpPr txBox="1"/>
          <p:nvPr/>
        </p:nvSpPr>
        <p:spPr>
          <a:xfrm>
            <a:off x="1607405" y="945488"/>
            <a:ext cx="331779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sr-Latn-C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Prikaz particija u File </a:t>
            </a:r>
            <a:r>
              <a:rPr lang="sr-Latn-C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Exploreru</a:t>
            </a:r>
            <a:r>
              <a:rPr lang="sr-Latn-C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pre izvršenog postupka sakrivanja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36D1FD5-4FF5-333B-22F0-2FC5694BEFEB}"/>
              </a:ext>
            </a:extLst>
          </p:cNvPr>
          <p:cNvSpPr txBox="1"/>
          <p:nvPr/>
        </p:nvSpPr>
        <p:spPr>
          <a:xfrm>
            <a:off x="7406329" y="945488"/>
            <a:ext cx="37142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sr-Latn-C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Prikaz particija u File </a:t>
            </a:r>
            <a:r>
              <a:rPr lang="sr-Latn-C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Exploreru</a:t>
            </a:r>
            <a:r>
              <a:rPr lang="sr-Latn-C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nakon izvršenog postupka sakrivanja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4" name="drawing">
            <a:extLst>
              <a:ext uri="{FF2B5EF4-FFF2-40B4-BE49-F238E27FC236}">
                <a16:creationId xmlns:a16="http://schemas.microsoft.com/office/drawing/2014/main" id="{6D37607A-A2B1-D53E-C141-CA048368C5A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124200" y="4052626"/>
            <a:ext cx="5943600" cy="211455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347E5BFE-5A07-F8B0-3C9C-9242C92F28E0}"/>
              </a:ext>
            </a:extLst>
          </p:cNvPr>
          <p:cNvSpPr txBox="1"/>
          <p:nvPr/>
        </p:nvSpPr>
        <p:spPr>
          <a:xfrm>
            <a:off x="3358978" y="6271597"/>
            <a:ext cx="57088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r-Latn-C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Prikaz particije u Disk Management alatu nakon sakrivanja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735896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75FC0A-0D40-414B-A8CE-0B3FA23408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0560" y="1503680"/>
            <a:ext cx="11064240" cy="5425440"/>
          </a:xfrm>
        </p:spPr>
        <p:txBody>
          <a:bodyPr>
            <a:normAutofit/>
          </a:bodyPr>
          <a:lstStyle/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Program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razvijen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 Microsoft Visual Studio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okruženju</a:t>
            </a:r>
            <a:endParaRPr lang="sr-Latn-R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Implementiran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programskom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jeziku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C++</a:t>
            </a:r>
            <a:endParaRPr lang="sr-Latn-R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Omogućava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direktan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RAW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pristup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fizičkom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disku</a:t>
            </a:r>
            <a:endParaRPr lang="sr-Latn-R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Čita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prikazuje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sadržaj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MBR (boot)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sektora</a:t>
            </a:r>
            <a:endParaRPr lang="sr-Latn-R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Kreira rezervnu kopiju MBR sektora pre svake izmene</a:t>
            </a:r>
          </a:p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Menja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vrednost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Partition Type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polja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 MBR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tabeli</a:t>
            </a:r>
            <a:endParaRPr lang="sr-Latn-R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Program mora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biti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pokrenut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administratorskim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privilegijama</a:t>
            </a:r>
            <a:endParaRPr lang="sr-Latn-R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Putanja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fizičkog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diska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npr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\\.\PhysicalDrive1)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vrednosti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particionog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tipa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definišu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se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ručno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kodu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ED61624-CDD8-4299-8D8C-282694EEF9FF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2192000" cy="8737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sr-Latn-RS" b="1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PROGRAMSKA IMPLEMENTACIJA</a:t>
            </a:r>
            <a:endParaRPr lang="en-US" dirty="0">
              <a:solidFill>
                <a:schemeClr val="accent5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649216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3975BE-FA7A-DC77-6FDB-CB1BD6B7D6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349440-89AB-E6BE-A624-8992FF56E7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0560" y="1503680"/>
            <a:ext cx="11064240" cy="5243109"/>
          </a:xfrm>
        </p:spPr>
        <p:txBody>
          <a:bodyPr/>
          <a:lstStyle/>
          <a:p>
            <a:pPr algn="just"/>
            <a:r>
              <a:rPr lang="en-US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CreateFile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</a:t>
            </a:r>
            <a:r>
              <a:rPr lang="sr-Latn-R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Otvaranje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fizičkog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diska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korišćenjem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Windows API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funkcije</a:t>
            </a:r>
            <a:endParaRPr lang="sr-Latn-R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ReadFile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Čitanje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boot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sektora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(LBA 0)</a:t>
            </a:r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sa fizičkog diska u memorijski bafer</a:t>
            </a:r>
          </a:p>
          <a:p>
            <a:pPr algn="just"/>
            <a:r>
              <a:rPr lang="sr-Latn-R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SetFilePointerEx</a:t>
            </a:r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 – Pozicioniranje na određeni sektor</a:t>
            </a:r>
          </a:p>
          <a:p>
            <a:pPr algn="just"/>
            <a:r>
              <a:rPr lang="en-US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BackupSector</a:t>
            </a:r>
            <a:r>
              <a:rPr lang="sr-Latn-R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() -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Kreiranje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rezervne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kopije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MBR-a</a:t>
            </a:r>
            <a:endParaRPr lang="sr-Latn-R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WriteSect</a:t>
            </a:r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 -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Izmena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Partition Type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vrednosti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(0x07 → 0x17)</a:t>
            </a:r>
            <a:endParaRPr lang="sr-Latn-R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 algn="just"/>
            <a:r>
              <a:rPr lang="sr-Latn-R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buff</a:t>
            </a:r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[450] = 0x17;  // NTFS → </a:t>
            </a:r>
            <a:r>
              <a:rPr lang="sr-Latn-R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hidden</a:t>
            </a:r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NTFS</a:t>
            </a:r>
          </a:p>
          <a:p>
            <a:pPr algn="just"/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Upis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izmenjenog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sektora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nazad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disk</a:t>
            </a:r>
            <a:endParaRPr lang="sr-Latn-R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Prikaz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stanja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pre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posle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mene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3003969-4BC0-8DE5-E095-72D91B40D3BF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2192000" cy="8737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sr-Latn-RS" b="1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Tok izvršavanja razvijenog programa</a:t>
            </a:r>
            <a:endParaRPr lang="en-US" dirty="0">
              <a:solidFill>
                <a:schemeClr val="accent5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8432440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18B347-2D1F-D470-689F-03CBD3AABF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CEFDF20B-2787-735C-10C0-9B065BBBEA5F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2192000" cy="8737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sr-Latn-RS" b="1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Prikaz rezultata</a:t>
            </a:r>
            <a:endParaRPr lang="en-US" b="1" dirty="0">
              <a:solidFill>
                <a:schemeClr val="accent5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F18BB91-AA86-3B89-0196-9F8A88E62369}"/>
              </a:ext>
            </a:extLst>
          </p:cNvPr>
          <p:cNvSpPr txBox="1"/>
          <p:nvPr/>
        </p:nvSpPr>
        <p:spPr>
          <a:xfrm>
            <a:off x="1607405" y="945488"/>
            <a:ext cx="331779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sr-Latn-C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Boot</a:t>
            </a:r>
            <a:r>
              <a:rPr lang="sr-Latn-C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sektor pre sakrivanja particije (prikaz programa)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BDB19DA-D7EA-1758-635B-F97CE9BCA415}"/>
              </a:ext>
            </a:extLst>
          </p:cNvPr>
          <p:cNvSpPr txBox="1"/>
          <p:nvPr/>
        </p:nvSpPr>
        <p:spPr>
          <a:xfrm>
            <a:off x="8292539" y="922588"/>
            <a:ext cx="19418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sr-Latn-C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Boot</a:t>
            </a:r>
            <a:r>
              <a:rPr lang="sr-Latn-C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sektor nakon sakrivanja particije 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drawing">
            <a:extLst>
              <a:ext uri="{FF2B5EF4-FFF2-40B4-BE49-F238E27FC236}">
                <a16:creationId xmlns:a16="http://schemas.microsoft.com/office/drawing/2014/main" id="{E9F11674-4E2A-B699-9B3B-A2542CE058C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894700" y="1591819"/>
            <a:ext cx="2743200" cy="5186312"/>
          </a:xfrm>
          <a:prstGeom prst="rect">
            <a:avLst/>
          </a:prstGeom>
        </p:spPr>
      </p:pic>
      <p:pic>
        <p:nvPicPr>
          <p:cNvPr id="3" name="drawing">
            <a:extLst>
              <a:ext uri="{FF2B5EF4-FFF2-40B4-BE49-F238E27FC236}">
                <a16:creationId xmlns:a16="http://schemas.microsoft.com/office/drawing/2014/main" id="{913769E2-10D3-F875-CC44-C3598FC9176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77037" b="14448"/>
          <a:stretch>
            <a:fillRect/>
          </a:stretch>
        </p:blipFill>
        <p:spPr>
          <a:xfrm>
            <a:off x="8026859" y="1617746"/>
            <a:ext cx="2473176" cy="5184648"/>
          </a:xfrm>
          <a:prstGeom prst="rect">
            <a:avLst/>
          </a:prstGeom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A96C41EE-3467-0F6B-367C-34B36F4A1BD0}"/>
              </a:ext>
            </a:extLst>
          </p:cNvPr>
          <p:cNvCxnSpPr>
            <a:cxnSpLocks/>
            <a:stCxn id="8" idx="3"/>
          </p:cNvCxnSpPr>
          <p:nvPr/>
        </p:nvCxnSpPr>
        <p:spPr>
          <a:xfrm flipV="1">
            <a:off x="7549978" y="5782962"/>
            <a:ext cx="742561" cy="6408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5DF058AC-73B2-DEB0-8D55-0FFEDAE32E94}"/>
              </a:ext>
            </a:extLst>
          </p:cNvPr>
          <p:cNvSpPr txBox="1"/>
          <p:nvPr/>
        </p:nvSpPr>
        <p:spPr>
          <a:xfrm>
            <a:off x="5889593" y="5962135"/>
            <a:ext cx="166038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sr-Latn-R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Heksadecimalni</a:t>
            </a:r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kod za skrivenu NTFS particiju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8590074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224A7B-5B85-FF34-28C9-3E4D5676A8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52DD5E-9454-908E-9B29-01C2DB1FA9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0560" y="1503680"/>
            <a:ext cx="11064240" cy="5425440"/>
          </a:xfrm>
        </p:spPr>
        <p:txBody>
          <a:bodyPr/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Izmena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Partition Type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polja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 MBR-u je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tehnički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ispravna</a:t>
            </a:r>
            <a:endParaRPr lang="sr-Latn-R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Savremeni</a:t>
            </a:r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Windows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sistemi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(7, 10, 11)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imaju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dodatne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bezbednosne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mehanizme</a:t>
            </a:r>
            <a:endParaRPr lang="sr-Latn-R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Windows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ignoriše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“hidden” flag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removable media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uređajima</a:t>
            </a:r>
            <a:endParaRPr lang="sr-Latn-R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FAT/FAT32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particije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USB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uređajima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se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uvek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automatski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montiraju</a:t>
            </a:r>
            <a:endParaRPr lang="sr-Latn-R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NTFS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particije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se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različito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tretiraju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zavisnosti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od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tipa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uređaja</a:t>
            </a:r>
            <a:endParaRPr lang="sr-Latn-R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Različito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ponašanje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potvrđeno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testiranjem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više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Windows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okruženja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1557FD75-8981-974C-888B-1206EAB31072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2192000" cy="8737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sr-Latn-RS" b="1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4. OGRANIČENJA i ponašanje </a:t>
            </a:r>
            <a:r>
              <a:rPr lang="sr-Latn-RS" b="1" dirty="0" err="1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windows</a:t>
            </a:r>
            <a:r>
              <a:rPr lang="sr-Latn-RS" b="1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os</a:t>
            </a:r>
            <a:endParaRPr lang="en-US" dirty="0">
              <a:solidFill>
                <a:schemeClr val="accent5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577120F5-21F7-7014-7872-A9BC8BB2C0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9840720"/>
              </p:ext>
            </p:extLst>
          </p:nvPr>
        </p:nvGraphicFramePr>
        <p:xfrm>
          <a:off x="4261669" y="5101709"/>
          <a:ext cx="3668661" cy="1403867"/>
        </p:xfrm>
        <a:graphic>
          <a:graphicData uri="http://schemas.openxmlformats.org/drawingml/2006/table">
            <a:tbl>
              <a:tblPr firstRow="1" firstCol="1">
                <a:tableStyleId>{7DF18680-E054-41AD-8BC1-D1AEF772440D}</a:tableStyleId>
              </a:tblPr>
              <a:tblGrid>
                <a:gridCol w="1615123">
                  <a:extLst>
                    <a:ext uri="{9D8B030D-6E8A-4147-A177-3AD203B41FA5}">
                      <a16:colId xmlns:a16="http://schemas.microsoft.com/office/drawing/2014/main" val="815980451"/>
                    </a:ext>
                  </a:extLst>
                </a:gridCol>
                <a:gridCol w="2053538">
                  <a:extLst>
                    <a:ext uri="{9D8B030D-6E8A-4147-A177-3AD203B41FA5}">
                      <a16:colId xmlns:a16="http://schemas.microsoft.com/office/drawing/2014/main" val="3245439884"/>
                    </a:ext>
                  </a:extLst>
                </a:gridCol>
              </a:tblGrid>
              <a:tr h="259484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sr-Latn-RS" sz="12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Datotečni</a:t>
                      </a:r>
                      <a:r>
                        <a:rPr lang="sr-Latn-RS" sz="12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sistem</a:t>
                      </a:r>
                      <a:endParaRPr lang="en-US" sz="1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sr-Latn-RS" sz="12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Ponašanje u Windows</a:t>
                      </a:r>
                      <a:endParaRPr lang="en-US" sz="1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200975832"/>
                  </a:ext>
                </a:extLst>
              </a:tr>
              <a:tr h="499731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sr-Latn-RS" sz="12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FAT/FAT32 (USB)</a:t>
                      </a:r>
                      <a:endParaRPr lang="en-US" sz="1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sr-Latn-RS" sz="12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Hidden</a:t>
                      </a:r>
                      <a:r>
                        <a:rPr lang="sr-Latn-RS" sz="12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sr-Latn-RS" sz="12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flag</a:t>
                      </a:r>
                      <a:r>
                        <a:rPr lang="sr-Latn-RS" sz="12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se ignoriše</a:t>
                      </a:r>
                      <a:endParaRPr lang="en-US" sz="1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617674668"/>
                  </a:ext>
                </a:extLst>
              </a:tr>
              <a:tr h="644652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sr-Latn-RS" sz="12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NTFS (</a:t>
                      </a:r>
                      <a:r>
                        <a:rPr lang="sr-Latn-RS" sz="1200" dirty="0" err="1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external</a:t>
                      </a:r>
                      <a:r>
                        <a:rPr lang="sr-Latn-RS" sz="12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HDD)</a:t>
                      </a:r>
                      <a:endParaRPr lang="en-US" sz="1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sr-Latn-RS" sz="12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Hidden</a:t>
                      </a:r>
                      <a:r>
                        <a:rPr lang="sr-Latn-RS" sz="12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sr-Latn-RS" sz="12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flag</a:t>
                      </a:r>
                      <a:r>
                        <a:rPr lang="sr-Latn-RS" sz="12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se poštuje</a:t>
                      </a:r>
                      <a:endParaRPr lang="en-US" sz="1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8933629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8147430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59986C-D7E9-43BA-A27A-35F61081C1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2292" y="1658142"/>
            <a:ext cx="11162348" cy="4966177"/>
          </a:xfrm>
        </p:spPr>
        <p:txBody>
          <a:bodyPr/>
          <a:lstStyle/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RAW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pristup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omogućava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analizu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izmenu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r-Latn-RS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lowlevel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struktura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diska</a:t>
            </a:r>
            <a:endParaRPr lang="sr-Latn-R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Izmena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MBR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particione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tabele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predstavlja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validnu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tehniku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sakrivanja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particije</a:t>
            </a:r>
            <a:endParaRPr lang="sr-Latn-R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Efekat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sakrivanja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zavisi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od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tipa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uređaja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datotečnog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istema</a:t>
            </a:r>
            <a:endParaRPr lang="sr-Latn-R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Savremeni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Windows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operativni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sistemi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ograničavaju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primenu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ove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tehnike</a:t>
            </a:r>
            <a:endParaRPr lang="sr-Latn-R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NTFS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particije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fiksnim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eksternim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diskovima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se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drugačije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tretiraju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odnosu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FAT/FAT32</a:t>
            </a:r>
            <a:endParaRPr lang="sr-Latn-R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Razumevanje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razlike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između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fizičkog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stanja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diska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njegove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interpretacije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od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strane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operativnog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sistema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predstavlja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osnov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digitalne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forenzike</a:t>
            </a:r>
            <a:endParaRPr lang="sr-Latn-R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280B8DAD-57C7-4720-A9B3-BE105D01554B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2192000" cy="8737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sr-Latn-RS" b="1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5. ZAKLJUČAK</a:t>
            </a:r>
            <a:endParaRPr lang="en-US" b="1" dirty="0">
              <a:solidFill>
                <a:schemeClr val="accent5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5823954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5F118B-83D0-02A4-7B6E-969A114EC2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AB9087-B808-F3C0-7B7C-2AC0CC7CBD3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504441"/>
            <a:ext cx="12192000" cy="1173479"/>
          </a:xfrm>
        </p:spPr>
        <p:txBody>
          <a:bodyPr>
            <a:normAutofit fontScale="90000"/>
          </a:bodyPr>
          <a:lstStyle/>
          <a:p>
            <a:pPr algn="ctr"/>
            <a:r>
              <a:rPr lang="en-US" sz="53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Forenzika</a:t>
            </a:r>
            <a:r>
              <a:rPr lang="en-US" sz="53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5300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</a:t>
            </a:r>
            <a:r>
              <a:rPr lang="en-US" sz="5300" b="1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medijuma</a:t>
            </a:r>
            <a:br>
              <a:rPr lang="sr-Latn-RS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sr-Latn-RS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RAW </a:t>
            </a:r>
            <a:r>
              <a:rPr lang="sr-Latn-RS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pristup</a:t>
            </a:r>
            <a:r>
              <a:rPr lang="en-US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podacima</a:t>
            </a:r>
            <a:r>
              <a:rPr lang="en-US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sakrivanje</a:t>
            </a:r>
            <a:r>
              <a:rPr lang="en-US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particije</a:t>
            </a:r>
            <a:endParaRPr lang="en-US" sz="4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09791F55-CB3B-A4F9-B247-6D1DCD6EF90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2424" y="4831398"/>
            <a:ext cx="11341736" cy="1853882"/>
          </a:xfrm>
        </p:spPr>
        <p:txBody>
          <a:bodyPr>
            <a:no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Profesor:</a:t>
            </a:r>
            <a:r>
              <a:rPr lang="sr-Latn-R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								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sr-Latn-R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tudent: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DR </a:t>
            </a:r>
            <a:r>
              <a:rPr lang="sr-Latn-R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BRATISLAV PREDIĆ						dušica milanović</a:t>
            </a:r>
          </a:p>
          <a:p>
            <a:r>
              <a:rPr lang="sr-Latn-R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									br.indeksa: 2128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sr-Latn-R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25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24699218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TM04033919[[fn=Circuit]]</Template>
  <TotalTime>457</TotalTime>
  <Words>3579</Words>
  <Application>Microsoft Office PowerPoint</Application>
  <PresentationFormat>Widescreen</PresentationFormat>
  <Paragraphs>335</Paragraphs>
  <Slides>21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6" baseType="lpstr">
      <vt:lpstr>Arial</vt:lpstr>
      <vt:lpstr>Calibri</vt:lpstr>
      <vt:lpstr>Times New Roman</vt:lpstr>
      <vt:lpstr>Tw Cen MT</vt:lpstr>
      <vt:lpstr>Circuit</vt:lpstr>
      <vt:lpstr>Forenzika storage medijuma  RAW pristup podacima i sakrivanje particije</vt:lpstr>
      <vt:lpstr>Sadržaj prezentacije:</vt:lpstr>
      <vt:lpstr>1. TEMA SEMINARSKOG RADA:</vt:lpstr>
      <vt:lpstr>RAW PRISTUP PODACIMA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Forenzika storage medijuma  RAW pristup podacima i sakrivanje particije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Cisco PacketTracer u dokeru</dc:title>
  <dc:creator>Dusica Milanovic</dc:creator>
  <cp:lastModifiedBy>Dusica Trajkovic</cp:lastModifiedBy>
  <cp:revision>57</cp:revision>
  <dcterms:created xsi:type="dcterms:W3CDTF">2020-03-20T22:46:27Z</dcterms:created>
  <dcterms:modified xsi:type="dcterms:W3CDTF">2026-03-01T20:32:41Z</dcterms:modified>
</cp:coreProperties>
</file>