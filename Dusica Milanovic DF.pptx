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notesMasters/notesMaster1.xml" ContentType="application/vnd.openxmlformats-officedocument.presentationml.notesMaster+xml"/>
  <Override PartName="/ppt/commentAuthors.xml" ContentType="application/vnd.openxmlformats-officedocument.presentationml.commentAuthor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comments/comment1.xml" ContentType="application/vnd.openxmlformats-officedocument.presentationml.comments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notesMasterIdLst>
    <p:notesMasterId r:id="rId23"/>
  </p:notesMasterIdLst>
  <p:sldIdLst>
    <p:sldId id="256" r:id="rId2"/>
    <p:sldId id="258" r:id="rId3"/>
    <p:sldId id="259" r:id="rId4"/>
    <p:sldId id="281" r:id="rId5"/>
    <p:sldId id="261" r:id="rId6"/>
    <p:sldId id="283" r:id="rId7"/>
    <p:sldId id="284" r:id="rId8"/>
    <p:sldId id="262" r:id="rId9"/>
    <p:sldId id="264" r:id="rId10"/>
    <p:sldId id="285" r:id="rId11"/>
    <p:sldId id="286" r:id="rId12"/>
    <p:sldId id="278" r:id="rId13"/>
    <p:sldId id="273" r:id="rId14"/>
    <p:sldId id="287" r:id="rId15"/>
    <p:sldId id="288" r:id="rId16"/>
    <p:sldId id="268" r:id="rId17"/>
    <p:sldId id="289" r:id="rId18"/>
    <p:sldId id="290" r:id="rId19"/>
    <p:sldId id="279" r:id="rId20"/>
    <p:sldId id="270" r:id="rId21"/>
    <p:sldId id="280" r:id="rId22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1" name="Dusica Milanovic" initials="DM" lastIdx="1" clrIdx="0">
    <p:extLst>
      <p:ext uri="{19B8F6BF-5375-455C-9EA6-DF929625EA0E}">
        <p15:presenceInfo xmlns:p15="http://schemas.microsoft.com/office/powerpoint/2012/main" userId="S-1-5-21-4059487225-3364380010-2372780548-7774" providerId="AD"/>
      </p:ext>
    </p:extLst>
  </p:cmAuthor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7DF18680-E054-41AD-8BC1-D1AEF772440D}" styleName="Medium Style 2 - Accent 5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5">
              <a:tint val="20000"/>
            </a:schemeClr>
          </a:solidFill>
        </a:fill>
      </a:tcStyle>
    </a:wholeTbl>
    <a:band1H>
      <a:tcStyle>
        <a:tcBdr/>
        <a:fill>
          <a:solidFill>
            <a:schemeClr val="accent5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5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5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5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5"/>
          </a:solidFill>
        </a:fill>
      </a:tcStyle>
    </a:firstRow>
  </a:tblStyle>
  <a:tblStyle styleId="{35758FB7-9AC5-4552-8A53-C91805E547FA}" styleName="Themed Style 1 - Accent 5">
    <a:tblBg>
      <a:fillRef idx="2">
        <a:schemeClr val="accent5"/>
      </a:fillRef>
      <a:effectRef idx="1">
        <a:schemeClr val="accent5"/>
      </a:effectRef>
    </a:tblBg>
    <a:wholeTbl>
      <a:tcTxStyle>
        <a:fontRef idx="minor">
          <a:scrgbClr r="0" g="0" b="0"/>
        </a:fontRef>
        <a:schemeClr val="dk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Ref idx="1">
              <a:schemeClr val="accent5"/>
            </a:lnRef>
          </a:insideV>
        </a:tcBdr>
        <a:fill>
          <a:noFill/>
        </a:fill>
      </a:tcStyle>
    </a:wholeTbl>
    <a:band1H>
      <a:tcStyle>
        <a:tcBdr/>
        <a:fill>
          <a:solidFill>
            <a:schemeClr val="accent5">
              <a:alpha val="40000"/>
            </a:schemeClr>
          </a:solidFill>
        </a:fill>
      </a:tcStyle>
    </a:band1H>
    <a:band2H>
      <a:tcStyle>
        <a:tcBdr/>
      </a:tcStyle>
    </a:band2H>
    <a:band1V>
      <a:tcStyle>
        <a:tcBdr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</a:tcBdr>
        <a:fill>
          <a:solidFill>
            <a:schemeClr val="accent5">
              <a:alpha val="40000"/>
            </a:schemeClr>
          </a:solidFill>
        </a:fill>
      </a:tcStyle>
    </a:band1V>
    <a:band2V>
      <a:tcStyle>
        <a:tcBdr/>
      </a:tcStyle>
    </a:band2V>
    <a:lastCol>
      <a:tcTxStyle b="on"/>
      <a:tcStyle>
        <a:tcBdr>
          <a:left>
            <a:lnRef idx="2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lastCol>
    <a:firstCol>
      <a:tcTxStyle b="on"/>
      <a:tcStyle>
        <a:tcBdr>
          <a:left>
            <a:lnRef idx="1">
              <a:schemeClr val="accent5"/>
            </a:lnRef>
          </a:left>
          <a:right>
            <a:lnRef idx="2">
              <a:schemeClr val="accent5"/>
            </a:lnRef>
          </a:right>
          <a:top>
            <a:lnRef idx="1">
              <a:schemeClr val="accent5"/>
            </a:lnRef>
          </a:top>
          <a:bottom>
            <a:lnRef idx="1">
              <a:schemeClr val="accent5"/>
            </a:lnRef>
          </a:bottom>
          <a:insideH>
            <a:lnRef idx="1">
              <a:schemeClr val="accent5"/>
            </a:lnRef>
          </a:insideH>
          <a:insideV>
            <a:ln>
              <a:noFill/>
            </a:ln>
          </a:insideV>
        </a:tcBdr>
      </a:tcStyle>
    </a:firstCol>
    <a:lastRow>
      <a:tcTxStyle b="on"/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2">
              <a:schemeClr val="accent5"/>
            </a:lnRef>
          </a:top>
          <a:bottom>
            <a:lnRef idx="2">
              <a:schemeClr val="accent5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>
          <a:left>
            <a:lnRef idx="1">
              <a:schemeClr val="accent5"/>
            </a:lnRef>
          </a:left>
          <a:right>
            <a:lnRef idx="1">
              <a:schemeClr val="accent5"/>
            </a:lnRef>
          </a:right>
          <a:top>
            <a:lnRef idx="1">
              <a:schemeClr val="accent5"/>
            </a:lnRef>
          </a:top>
          <a:bottom>
            <a:lnRef idx="2">
              <a:schemeClr val="l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accent5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67953" autoAdjust="0"/>
  </p:normalViewPr>
  <p:slideViewPr>
    <p:cSldViewPr snapToGrid="0">
      <p:cViewPr varScale="1">
        <p:scale>
          <a:sx n="48" d="100"/>
          <a:sy n="48" d="100"/>
        </p:scale>
        <p:origin x="77" y="21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commentAuthors" Target="commentAuthor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notesMaster" Target="notesMasters/notesMaster1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comments/comment1.xml><?xml version="1.0" encoding="utf-8"?>
<p:cmLst xmlns:a="http://schemas.openxmlformats.org/drawingml/2006/main" xmlns:r="http://schemas.openxmlformats.org/officeDocument/2006/relationships" xmlns:p="http://schemas.openxmlformats.org/presentationml/2006/main">
  <p:cm authorId="1" dt="2020-03-22T20:03:32.143" idx="1">
    <p:pos x="10" y="10"/>
    <p:text/>
    <p:extLst>
      <p:ext uri="{C676402C-5697-4E1C-873F-D02D1690AC5C}">
        <p15:threadingInfo xmlns:p15="http://schemas.microsoft.com/office/powerpoint/2012/main" timeZoneBias="-60"/>
      </p:ext>
    </p:extLst>
  </p:cm>
</p:cmLst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32FB4F46-507B-41FF-8F20-C4458D4DADAE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DB28AC9-BAD4-472A-9095-C606D319C324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062203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4724036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Tema mog </a:t>
            </a:r>
            <a:r>
              <a:rPr lang="en-US" dirty="0" err="1"/>
              <a:t>seminarskog</a:t>
            </a:r>
            <a:r>
              <a:rPr lang="en-US" dirty="0"/>
              <a:t> rada </a:t>
            </a:r>
            <a:r>
              <a:rPr lang="en-US" dirty="0" err="1"/>
              <a:t>odnosi</a:t>
            </a:r>
            <a:r>
              <a:rPr lang="en-US" dirty="0"/>
              <a:t> se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forenzičku</a:t>
            </a:r>
            <a:r>
              <a:rPr lang="en-US" dirty="0"/>
              <a:t> </a:t>
            </a:r>
            <a:r>
              <a:rPr lang="en-US" dirty="0" err="1"/>
              <a:t>analizu</a:t>
            </a:r>
            <a:r>
              <a:rPr lang="en-US" dirty="0"/>
              <a:t> storage </a:t>
            </a:r>
            <a:r>
              <a:rPr lang="en-US" dirty="0" err="1"/>
              <a:t>medijuma</a:t>
            </a:r>
            <a:r>
              <a:rPr lang="en-US" dirty="0"/>
              <a:t>,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posebnim</a:t>
            </a:r>
            <a:r>
              <a:rPr lang="en-US" dirty="0"/>
              <a:t> </a:t>
            </a:r>
            <a:r>
              <a:rPr lang="en-US" dirty="0" err="1"/>
              <a:t>fokusom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RAW </a:t>
            </a:r>
            <a:r>
              <a:rPr lang="en-US" dirty="0" err="1"/>
              <a:t>pristup</a:t>
            </a:r>
            <a:r>
              <a:rPr lang="en-US" dirty="0"/>
              <a:t> </a:t>
            </a:r>
            <a:r>
              <a:rPr lang="en-US" dirty="0" err="1"/>
              <a:t>podacima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strukturu</a:t>
            </a:r>
            <a:r>
              <a:rPr lang="en-US" dirty="0"/>
              <a:t> Master Boot Record-a, </a:t>
            </a:r>
            <a:r>
              <a:rPr lang="en-US" dirty="0" err="1"/>
              <a:t>odnosno</a:t>
            </a:r>
            <a:r>
              <a:rPr lang="en-US" dirty="0"/>
              <a:t> MBR-a.</a:t>
            </a:r>
          </a:p>
          <a:p>
            <a:r>
              <a:rPr lang="en-US" dirty="0"/>
              <a:t>U </a:t>
            </a:r>
            <a:r>
              <a:rPr lang="en-US" dirty="0" err="1"/>
              <a:t>teorijskom</a:t>
            </a:r>
            <a:r>
              <a:rPr lang="en-US" dirty="0"/>
              <a:t> </a:t>
            </a:r>
            <a:r>
              <a:rPr lang="en-US" dirty="0" err="1"/>
              <a:t>delu</a:t>
            </a:r>
            <a:r>
              <a:rPr lang="en-US" dirty="0"/>
              <a:t> rada </a:t>
            </a:r>
            <a:r>
              <a:rPr lang="en-US" dirty="0" err="1"/>
              <a:t>analizirala</a:t>
            </a:r>
            <a:r>
              <a:rPr lang="en-US" dirty="0"/>
              <a:t> </a:t>
            </a:r>
            <a:r>
              <a:rPr lang="en-US" dirty="0" err="1"/>
              <a:t>sam</a:t>
            </a:r>
            <a:r>
              <a:rPr lang="en-US" dirty="0"/>
              <a:t> </a:t>
            </a:r>
            <a:r>
              <a:rPr lang="en-US" dirty="0" err="1"/>
              <a:t>način</a:t>
            </a:r>
            <a:r>
              <a:rPr lang="en-US" dirty="0"/>
              <a:t> </a:t>
            </a:r>
            <a:r>
              <a:rPr lang="en-US" dirty="0" err="1"/>
              <a:t>organizacije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disku</a:t>
            </a:r>
            <a:r>
              <a:rPr lang="en-US" dirty="0"/>
              <a:t>,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dva</a:t>
            </a:r>
            <a:r>
              <a:rPr lang="en-US" dirty="0"/>
              <a:t> </a:t>
            </a:r>
            <a:r>
              <a:rPr lang="en-US" dirty="0" err="1"/>
              <a:t>najčešće</a:t>
            </a:r>
            <a:r>
              <a:rPr lang="en-US" dirty="0"/>
              <a:t> </a:t>
            </a:r>
            <a:r>
              <a:rPr lang="en-US" dirty="0" err="1"/>
              <a:t>korišćena</a:t>
            </a:r>
            <a:r>
              <a:rPr lang="en-US" dirty="0"/>
              <a:t> </a:t>
            </a:r>
            <a:r>
              <a:rPr lang="en-US" dirty="0" err="1"/>
              <a:t>datotečna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 u Windows </a:t>
            </a:r>
            <a:r>
              <a:rPr lang="en-US" dirty="0" err="1"/>
              <a:t>okruženju</a:t>
            </a:r>
            <a:r>
              <a:rPr lang="en-US" dirty="0"/>
              <a:t> – FAT32 </a:t>
            </a:r>
            <a:r>
              <a:rPr lang="en-US" dirty="0" err="1"/>
              <a:t>i</a:t>
            </a:r>
            <a:r>
              <a:rPr lang="en-US" dirty="0"/>
              <a:t> NTFS –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ciljem</a:t>
            </a:r>
            <a:r>
              <a:rPr lang="en-US" dirty="0"/>
              <a:t> da se </a:t>
            </a:r>
            <a:r>
              <a:rPr lang="en-US" dirty="0" err="1"/>
              <a:t>razume</a:t>
            </a:r>
            <a:r>
              <a:rPr lang="en-US" dirty="0"/>
              <a:t> </a:t>
            </a:r>
            <a:r>
              <a:rPr lang="en-US" dirty="0" err="1"/>
              <a:t>njihovo</a:t>
            </a:r>
            <a:r>
              <a:rPr lang="en-US" dirty="0"/>
              <a:t> </a:t>
            </a:r>
            <a:r>
              <a:rPr lang="en-US" dirty="0" err="1"/>
              <a:t>ponašanje</a:t>
            </a:r>
            <a:r>
              <a:rPr lang="en-US" dirty="0"/>
              <a:t> </a:t>
            </a:r>
            <a:r>
              <a:rPr lang="en-US" dirty="0" err="1"/>
              <a:t>prilikom</a:t>
            </a:r>
            <a:r>
              <a:rPr lang="en-US" dirty="0"/>
              <a:t> </a:t>
            </a:r>
            <a:r>
              <a:rPr lang="en-US" dirty="0" err="1"/>
              <a:t>manipulacije</a:t>
            </a:r>
            <a:r>
              <a:rPr lang="en-US" dirty="0"/>
              <a:t> </a:t>
            </a:r>
            <a:r>
              <a:rPr lang="en-US" dirty="0" err="1"/>
              <a:t>particijama</a:t>
            </a:r>
            <a:r>
              <a:rPr lang="en-US" dirty="0"/>
              <a:t>.</a:t>
            </a:r>
          </a:p>
          <a:p>
            <a:r>
              <a:rPr lang="en-US" dirty="0" err="1"/>
              <a:t>Praktični</a:t>
            </a:r>
            <a:r>
              <a:rPr lang="en-US" dirty="0"/>
              <a:t> deo rada </a:t>
            </a:r>
            <a:r>
              <a:rPr lang="en-US" dirty="0" err="1"/>
              <a:t>obuhvata</a:t>
            </a:r>
            <a:r>
              <a:rPr lang="en-US" dirty="0"/>
              <a:t> </a:t>
            </a:r>
            <a:r>
              <a:rPr lang="en-US" dirty="0" err="1"/>
              <a:t>demonstraciju</a:t>
            </a:r>
            <a:r>
              <a:rPr lang="en-US" dirty="0"/>
              <a:t> </a:t>
            </a:r>
            <a:r>
              <a:rPr lang="en-US" dirty="0" err="1"/>
              <a:t>sakrivanja</a:t>
            </a:r>
            <a:r>
              <a:rPr lang="en-US" dirty="0"/>
              <a:t> </a:t>
            </a:r>
            <a:r>
              <a:rPr lang="en-US" dirty="0" err="1"/>
              <a:t>particije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dva</a:t>
            </a:r>
            <a:r>
              <a:rPr lang="en-US" dirty="0"/>
              <a:t> </a:t>
            </a:r>
            <a:r>
              <a:rPr lang="en-US" dirty="0" err="1"/>
              <a:t>načina</a:t>
            </a:r>
            <a:r>
              <a:rPr lang="en-US" dirty="0"/>
              <a:t>:</a:t>
            </a:r>
            <a:br>
              <a:rPr lang="en-US" dirty="0"/>
            </a:br>
            <a:r>
              <a:rPr lang="en-US" dirty="0" err="1"/>
              <a:t>prvo</a:t>
            </a:r>
            <a:r>
              <a:rPr lang="en-US" dirty="0"/>
              <a:t> </a:t>
            </a:r>
            <a:r>
              <a:rPr lang="en-US" dirty="0" err="1"/>
              <a:t>ručno</a:t>
            </a:r>
            <a:r>
              <a:rPr lang="en-US" dirty="0"/>
              <a:t>, </a:t>
            </a:r>
            <a:r>
              <a:rPr lang="en-US" dirty="0" err="1"/>
              <a:t>korišćenjem</a:t>
            </a:r>
            <a:r>
              <a:rPr lang="en-US" dirty="0"/>
              <a:t> </a:t>
            </a:r>
            <a:r>
              <a:rPr lang="en-US" dirty="0" err="1"/>
              <a:t>heksadecimalnog</a:t>
            </a:r>
            <a:r>
              <a:rPr lang="en-US" dirty="0"/>
              <a:t> </a:t>
            </a:r>
            <a:r>
              <a:rPr lang="en-US" dirty="0" err="1"/>
              <a:t>editora</a:t>
            </a:r>
            <a:r>
              <a:rPr lang="en-US" dirty="0"/>
              <a:t> </a:t>
            </a:r>
            <a:r>
              <a:rPr lang="en-US" dirty="0" err="1"/>
              <a:t>HxD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</a:t>
            </a:r>
          </a:p>
          <a:p>
            <a:r>
              <a:rPr lang="en-US" dirty="0" err="1"/>
              <a:t>drugo</a:t>
            </a:r>
            <a:r>
              <a:rPr lang="en-US" dirty="0"/>
              <a:t> – </a:t>
            </a:r>
            <a:r>
              <a:rPr lang="en-US" dirty="0" err="1"/>
              <a:t>programskim</a:t>
            </a:r>
            <a:r>
              <a:rPr lang="en-US" dirty="0"/>
              <a:t> </a:t>
            </a:r>
            <a:r>
              <a:rPr lang="en-US" dirty="0" err="1"/>
              <a:t>putem</a:t>
            </a:r>
            <a:r>
              <a:rPr lang="en-US" dirty="0"/>
              <a:t>, </a:t>
            </a:r>
            <a:r>
              <a:rPr lang="en-US" dirty="0" err="1"/>
              <a:t>implementacijom</a:t>
            </a:r>
            <a:r>
              <a:rPr lang="en-US" dirty="0"/>
              <a:t> </a:t>
            </a:r>
            <a:r>
              <a:rPr lang="en-US" dirty="0" err="1"/>
              <a:t>sopstvenog</a:t>
            </a:r>
            <a:r>
              <a:rPr lang="en-US" dirty="0"/>
              <a:t> C++ </a:t>
            </a:r>
            <a:r>
              <a:rPr lang="en-US" dirty="0" err="1"/>
              <a:t>rešenja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direktnim</a:t>
            </a:r>
            <a:r>
              <a:rPr lang="en-US" dirty="0"/>
              <a:t> RAW </a:t>
            </a:r>
            <a:r>
              <a:rPr lang="en-US" dirty="0" err="1"/>
              <a:t>pristupom</a:t>
            </a:r>
            <a:r>
              <a:rPr lang="en-US" dirty="0"/>
              <a:t> </a:t>
            </a:r>
            <a:r>
              <a:rPr lang="en-US" dirty="0" err="1"/>
              <a:t>fizičkom</a:t>
            </a:r>
            <a:r>
              <a:rPr lang="en-US" dirty="0"/>
              <a:t> </a:t>
            </a:r>
            <a:r>
              <a:rPr lang="en-US" dirty="0" err="1"/>
              <a:t>disku</a:t>
            </a:r>
            <a:r>
              <a:rPr lang="en-US" dirty="0"/>
              <a:t>.</a:t>
            </a:r>
          </a:p>
          <a:p>
            <a:r>
              <a:rPr lang="en-US" dirty="0" err="1"/>
              <a:t>Posebna</a:t>
            </a:r>
            <a:r>
              <a:rPr lang="en-US" dirty="0"/>
              <a:t> </a:t>
            </a:r>
            <a:r>
              <a:rPr lang="en-US" dirty="0" err="1"/>
              <a:t>pažnja</a:t>
            </a:r>
            <a:r>
              <a:rPr lang="en-US" dirty="0"/>
              <a:t> </a:t>
            </a:r>
            <a:r>
              <a:rPr lang="en-US" dirty="0" err="1"/>
              <a:t>posvećena</a:t>
            </a:r>
            <a:r>
              <a:rPr lang="en-US" dirty="0"/>
              <a:t> je </a:t>
            </a:r>
            <a:r>
              <a:rPr lang="en-US" dirty="0" err="1"/>
              <a:t>analizi</a:t>
            </a:r>
            <a:r>
              <a:rPr lang="en-US" dirty="0"/>
              <a:t> </a:t>
            </a:r>
            <a:r>
              <a:rPr lang="en-US" dirty="0" err="1"/>
              <a:t>ponašanja</a:t>
            </a:r>
            <a:r>
              <a:rPr lang="en-US" dirty="0"/>
              <a:t> </a:t>
            </a:r>
            <a:r>
              <a:rPr lang="en-US" dirty="0" err="1"/>
              <a:t>različitih</a:t>
            </a:r>
            <a:r>
              <a:rPr lang="en-US" dirty="0"/>
              <a:t> </a:t>
            </a:r>
            <a:r>
              <a:rPr lang="en-US" dirty="0" err="1"/>
              <a:t>verzija</a:t>
            </a:r>
            <a:r>
              <a:rPr lang="en-US" dirty="0"/>
              <a:t> Windows </a:t>
            </a:r>
            <a:r>
              <a:rPr lang="en-US" dirty="0" err="1"/>
              <a:t>operativnih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, </a:t>
            </a:r>
            <a:r>
              <a:rPr lang="en-US" dirty="0" err="1"/>
              <a:t>kako</a:t>
            </a:r>
            <a:r>
              <a:rPr lang="en-US" dirty="0"/>
              <a:t> bi se </a:t>
            </a:r>
            <a:r>
              <a:rPr lang="en-US" dirty="0" err="1"/>
              <a:t>utvrdilo</a:t>
            </a:r>
            <a:r>
              <a:rPr lang="en-US" dirty="0"/>
              <a:t> da li je </a:t>
            </a:r>
            <a:r>
              <a:rPr lang="en-US" dirty="0" err="1"/>
              <a:t>ovakva</a:t>
            </a:r>
            <a:r>
              <a:rPr lang="en-US" dirty="0"/>
              <a:t> </a:t>
            </a:r>
            <a:r>
              <a:rPr lang="en-US" dirty="0" err="1"/>
              <a:t>manipulacija</a:t>
            </a:r>
            <a:r>
              <a:rPr lang="en-US" dirty="0"/>
              <a:t> </a:t>
            </a:r>
            <a:r>
              <a:rPr lang="en-US" dirty="0" err="1"/>
              <a:t>univerzalno</a:t>
            </a:r>
            <a:r>
              <a:rPr lang="en-US" dirty="0"/>
              <a:t> </a:t>
            </a:r>
            <a:r>
              <a:rPr lang="en-US" dirty="0" err="1"/>
              <a:t>primenljiva</a:t>
            </a:r>
            <a:endParaRPr lang="en-US" dirty="0"/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57488980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RAW </a:t>
            </a:r>
            <a:r>
              <a:rPr lang="en-US" dirty="0" err="1"/>
              <a:t>pristup</a:t>
            </a:r>
            <a:r>
              <a:rPr lang="en-US" dirty="0"/>
              <a:t> </a:t>
            </a:r>
            <a:r>
              <a:rPr lang="en-US" dirty="0" err="1"/>
              <a:t>podacima</a:t>
            </a:r>
            <a:r>
              <a:rPr lang="en-US" dirty="0"/>
              <a:t> </a:t>
            </a:r>
            <a:r>
              <a:rPr lang="en-US" dirty="0" err="1"/>
              <a:t>podrazumeva</a:t>
            </a:r>
            <a:r>
              <a:rPr lang="en-US" dirty="0"/>
              <a:t> </a:t>
            </a:r>
            <a:r>
              <a:rPr lang="en-US" dirty="0" err="1"/>
              <a:t>direktan</a:t>
            </a:r>
            <a:r>
              <a:rPr lang="en-US" dirty="0"/>
              <a:t> </a:t>
            </a:r>
            <a:r>
              <a:rPr lang="en-US" dirty="0" err="1"/>
              <a:t>pristup</a:t>
            </a:r>
            <a:r>
              <a:rPr lang="en-US" dirty="0"/>
              <a:t> </a:t>
            </a:r>
            <a:r>
              <a:rPr lang="en-US" dirty="0" err="1"/>
              <a:t>fizičkim</a:t>
            </a:r>
            <a:r>
              <a:rPr lang="en-US" dirty="0"/>
              <a:t> </a:t>
            </a:r>
            <a:r>
              <a:rPr lang="en-US" dirty="0" err="1"/>
              <a:t>sektorima</a:t>
            </a:r>
            <a:r>
              <a:rPr lang="en-US" dirty="0"/>
              <a:t> </a:t>
            </a:r>
            <a:r>
              <a:rPr lang="en-US" dirty="0" err="1"/>
              <a:t>diska</a:t>
            </a:r>
            <a:r>
              <a:rPr lang="en-US" dirty="0"/>
              <a:t>, </a:t>
            </a:r>
            <a:r>
              <a:rPr lang="en-US" dirty="0" err="1"/>
              <a:t>odnosno</a:t>
            </a:r>
            <a:r>
              <a:rPr lang="en-US" dirty="0"/>
              <a:t> LBA </a:t>
            </a:r>
            <a:r>
              <a:rPr lang="en-US" dirty="0" err="1"/>
              <a:t>adresama</a:t>
            </a:r>
            <a:r>
              <a:rPr lang="en-US" dirty="0"/>
              <a:t>, bez </a:t>
            </a:r>
            <a:r>
              <a:rPr lang="en-US" dirty="0" err="1"/>
              <a:t>oslanjanja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logičke</a:t>
            </a:r>
            <a:r>
              <a:rPr lang="en-US" dirty="0"/>
              <a:t> </a:t>
            </a:r>
            <a:r>
              <a:rPr lang="en-US" dirty="0" err="1"/>
              <a:t>mehanizme</a:t>
            </a:r>
            <a:r>
              <a:rPr lang="en-US" dirty="0"/>
              <a:t> </a:t>
            </a:r>
            <a:r>
              <a:rPr lang="en-US" dirty="0" err="1"/>
              <a:t>operativnog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.</a:t>
            </a:r>
          </a:p>
          <a:p>
            <a:r>
              <a:rPr lang="en-US" dirty="0"/>
              <a:t>Za </a:t>
            </a:r>
            <a:r>
              <a:rPr lang="en-US" dirty="0" err="1"/>
              <a:t>razliku</a:t>
            </a:r>
            <a:r>
              <a:rPr lang="en-US" dirty="0"/>
              <a:t> od </a:t>
            </a:r>
            <a:r>
              <a:rPr lang="en-US" dirty="0" err="1"/>
              <a:t>standardnog</a:t>
            </a:r>
            <a:r>
              <a:rPr lang="en-US" dirty="0"/>
              <a:t> </a:t>
            </a:r>
            <a:r>
              <a:rPr lang="en-US" dirty="0" err="1"/>
              <a:t>pristupa</a:t>
            </a:r>
            <a:r>
              <a:rPr lang="en-US" dirty="0"/>
              <a:t> </a:t>
            </a:r>
            <a:r>
              <a:rPr lang="en-US" dirty="0" err="1"/>
              <a:t>preko</a:t>
            </a:r>
            <a:r>
              <a:rPr lang="en-US" dirty="0"/>
              <a:t> </a:t>
            </a:r>
            <a:r>
              <a:rPr lang="en-US" dirty="0" err="1"/>
              <a:t>datotečnog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, </a:t>
            </a:r>
            <a:r>
              <a:rPr lang="en-US" dirty="0" err="1"/>
              <a:t>ovde</a:t>
            </a:r>
            <a:r>
              <a:rPr lang="en-US" dirty="0"/>
              <a:t> </a:t>
            </a:r>
            <a:r>
              <a:rPr lang="en-US" dirty="0" err="1"/>
              <a:t>zaobilazimo</a:t>
            </a:r>
            <a:r>
              <a:rPr lang="en-US" dirty="0"/>
              <a:t> </a:t>
            </a:r>
            <a:r>
              <a:rPr lang="en-US" dirty="0" err="1"/>
              <a:t>strukture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NTFS </a:t>
            </a:r>
            <a:r>
              <a:rPr lang="en-US" dirty="0" err="1"/>
              <a:t>ili</a:t>
            </a:r>
            <a:r>
              <a:rPr lang="en-US" dirty="0"/>
              <a:t> FAT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čitamo</a:t>
            </a:r>
            <a:r>
              <a:rPr lang="en-US" dirty="0"/>
              <a:t> </a:t>
            </a:r>
            <a:r>
              <a:rPr lang="en-US" dirty="0" err="1"/>
              <a:t>podatke</a:t>
            </a:r>
            <a:r>
              <a:rPr lang="en-US" dirty="0"/>
              <a:t> </a:t>
            </a:r>
            <a:r>
              <a:rPr lang="en-US" dirty="0" err="1"/>
              <a:t>tačno</a:t>
            </a:r>
            <a:r>
              <a:rPr lang="en-US" dirty="0"/>
              <a:t> </a:t>
            </a:r>
            <a:r>
              <a:rPr lang="en-US" dirty="0" err="1"/>
              <a:t>onako</a:t>
            </a:r>
            <a:r>
              <a:rPr lang="en-US" dirty="0"/>
              <a:t> </a:t>
            </a:r>
            <a:r>
              <a:rPr lang="en-US" dirty="0" err="1"/>
              <a:t>kako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fizički</a:t>
            </a:r>
            <a:r>
              <a:rPr lang="en-US" dirty="0"/>
              <a:t> </a:t>
            </a:r>
            <a:r>
              <a:rPr lang="en-US" dirty="0" err="1"/>
              <a:t>zapisani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disku</a:t>
            </a:r>
            <a:r>
              <a:rPr lang="en-US" dirty="0"/>
              <a:t>.</a:t>
            </a:r>
          </a:p>
          <a:p>
            <a:r>
              <a:rPr lang="en-US" dirty="0"/>
              <a:t>To </a:t>
            </a:r>
            <a:r>
              <a:rPr lang="en-US" dirty="0" err="1"/>
              <a:t>znači</a:t>
            </a:r>
            <a:r>
              <a:rPr lang="en-US" dirty="0"/>
              <a:t> da </a:t>
            </a:r>
            <a:r>
              <a:rPr lang="en-US" dirty="0" err="1"/>
              <a:t>možemo</a:t>
            </a:r>
            <a:r>
              <a:rPr lang="en-US" dirty="0"/>
              <a:t> </a:t>
            </a:r>
            <a:r>
              <a:rPr lang="en-US" dirty="0" err="1"/>
              <a:t>videti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podatke</a:t>
            </a:r>
            <a:r>
              <a:rPr lang="en-US" dirty="0"/>
              <a:t> </a:t>
            </a:r>
            <a:r>
              <a:rPr lang="en-US" dirty="0" err="1"/>
              <a:t>koje</a:t>
            </a:r>
            <a:r>
              <a:rPr lang="en-US" dirty="0"/>
              <a:t>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ne </a:t>
            </a:r>
            <a:r>
              <a:rPr lang="en-US" dirty="0" err="1"/>
              <a:t>prikazuje</a:t>
            </a:r>
            <a:r>
              <a:rPr lang="en-US" dirty="0"/>
              <a:t> — </a:t>
            </a:r>
            <a:r>
              <a:rPr lang="en-US" dirty="0" err="1"/>
              <a:t>na</a:t>
            </a:r>
            <a:r>
              <a:rPr lang="en-US" dirty="0"/>
              <a:t> primer </a:t>
            </a:r>
            <a:r>
              <a:rPr lang="en-US" dirty="0" err="1"/>
              <a:t>skrivene</a:t>
            </a:r>
            <a:r>
              <a:rPr lang="en-US" dirty="0"/>
              <a:t> </a:t>
            </a:r>
            <a:r>
              <a:rPr lang="en-US" dirty="0" err="1"/>
              <a:t>particije</a:t>
            </a:r>
            <a:r>
              <a:rPr lang="en-US" dirty="0"/>
              <a:t>, </a:t>
            </a:r>
            <a:r>
              <a:rPr lang="en-US" dirty="0" err="1"/>
              <a:t>obrisane</a:t>
            </a:r>
            <a:r>
              <a:rPr lang="en-US" dirty="0"/>
              <a:t> </a:t>
            </a:r>
            <a:r>
              <a:rPr lang="en-US" dirty="0" err="1"/>
              <a:t>fajlove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neaktivne</a:t>
            </a:r>
            <a:r>
              <a:rPr lang="en-US" dirty="0"/>
              <a:t> </a:t>
            </a:r>
            <a:r>
              <a:rPr lang="en-US" dirty="0" err="1"/>
              <a:t>zapise</a:t>
            </a:r>
            <a:r>
              <a:rPr lang="en-US" dirty="0"/>
              <a:t> u MBR </a:t>
            </a:r>
            <a:r>
              <a:rPr lang="en-US" dirty="0" err="1"/>
              <a:t>tabeli</a:t>
            </a:r>
            <a:r>
              <a:rPr lang="en-US" dirty="0"/>
              <a:t>.</a:t>
            </a:r>
          </a:p>
          <a:p>
            <a:r>
              <a:rPr lang="en-US" dirty="0"/>
              <a:t>RAW </a:t>
            </a:r>
            <a:r>
              <a:rPr lang="en-US" dirty="0" err="1"/>
              <a:t>pristup</a:t>
            </a:r>
            <a:r>
              <a:rPr lang="en-US" dirty="0"/>
              <a:t> ne </a:t>
            </a:r>
            <a:r>
              <a:rPr lang="en-US" dirty="0" err="1"/>
              <a:t>zavisi</a:t>
            </a:r>
            <a:r>
              <a:rPr lang="en-US" dirty="0"/>
              <a:t> od </a:t>
            </a:r>
            <a:r>
              <a:rPr lang="en-US" dirty="0" err="1"/>
              <a:t>datotečnog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, </a:t>
            </a:r>
            <a:r>
              <a:rPr lang="en-US" dirty="0" err="1"/>
              <a:t>jer</a:t>
            </a:r>
            <a:r>
              <a:rPr lang="en-US" dirty="0"/>
              <a:t> se </a:t>
            </a:r>
            <a:r>
              <a:rPr lang="en-US" dirty="0" err="1"/>
              <a:t>radi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nivou</a:t>
            </a:r>
            <a:r>
              <a:rPr lang="en-US" dirty="0"/>
              <a:t> </a:t>
            </a:r>
            <a:r>
              <a:rPr lang="en-US" dirty="0" err="1"/>
              <a:t>sektora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ga </a:t>
            </a:r>
            <a:r>
              <a:rPr lang="en-US" dirty="0" err="1"/>
              <a:t>čini</a:t>
            </a:r>
            <a:r>
              <a:rPr lang="en-US" dirty="0"/>
              <a:t> </a:t>
            </a:r>
            <a:r>
              <a:rPr lang="en-US" dirty="0" err="1"/>
              <a:t>ključnim</a:t>
            </a:r>
            <a:r>
              <a:rPr lang="en-US" dirty="0"/>
              <a:t> u </a:t>
            </a:r>
            <a:r>
              <a:rPr lang="en-US" dirty="0" err="1"/>
              <a:t>digitalnoj</a:t>
            </a:r>
            <a:r>
              <a:rPr lang="en-US" dirty="0"/>
              <a:t> </a:t>
            </a:r>
            <a:r>
              <a:rPr lang="en-US" dirty="0" err="1"/>
              <a:t>forenzici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incident response </a:t>
            </a:r>
            <a:r>
              <a:rPr lang="en-US" dirty="0" err="1"/>
              <a:t>procesima</a:t>
            </a:r>
            <a:r>
              <a:rPr lang="en-US" dirty="0"/>
              <a:t>.</a:t>
            </a:r>
          </a:p>
          <a:p>
            <a:r>
              <a:rPr lang="en-US" dirty="0"/>
              <a:t>U </a:t>
            </a:r>
            <a:r>
              <a:rPr lang="en-US" dirty="0" err="1"/>
              <a:t>praktičnom</a:t>
            </a:r>
            <a:r>
              <a:rPr lang="en-US" dirty="0"/>
              <a:t> </a:t>
            </a:r>
            <a:r>
              <a:rPr lang="en-US" dirty="0" err="1"/>
              <a:t>delu</a:t>
            </a:r>
            <a:r>
              <a:rPr lang="en-US" dirty="0"/>
              <a:t> rada </a:t>
            </a:r>
            <a:r>
              <a:rPr lang="en-US" dirty="0" err="1"/>
              <a:t>upravo</a:t>
            </a:r>
            <a:r>
              <a:rPr lang="en-US" dirty="0"/>
              <a:t> </a:t>
            </a:r>
            <a:r>
              <a:rPr lang="en-US" dirty="0" err="1"/>
              <a:t>sam</a:t>
            </a:r>
            <a:r>
              <a:rPr lang="en-US" dirty="0"/>
              <a:t> </a:t>
            </a:r>
            <a:r>
              <a:rPr lang="en-US" dirty="0" err="1"/>
              <a:t>koristila</a:t>
            </a:r>
            <a:r>
              <a:rPr lang="en-US" dirty="0"/>
              <a:t> RAW </a:t>
            </a:r>
            <a:r>
              <a:rPr lang="en-US" dirty="0" err="1"/>
              <a:t>pristup</a:t>
            </a:r>
            <a:r>
              <a:rPr lang="en-US" dirty="0"/>
              <a:t> za </a:t>
            </a:r>
            <a:r>
              <a:rPr lang="en-US" dirty="0" err="1"/>
              <a:t>direktnu</a:t>
            </a:r>
            <a:r>
              <a:rPr lang="en-US" dirty="0"/>
              <a:t> </a:t>
            </a:r>
            <a:r>
              <a:rPr lang="en-US" dirty="0" err="1"/>
              <a:t>izmenu</a:t>
            </a:r>
            <a:r>
              <a:rPr lang="en-US" dirty="0"/>
              <a:t> MBR </a:t>
            </a:r>
            <a:r>
              <a:rPr lang="en-US" dirty="0" err="1"/>
              <a:t>zapisa</a:t>
            </a:r>
            <a:r>
              <a:rPr lang="en-US" dirty="0"/>
              <a:t>, </a:t>
            </a:r>
            <a:r>
              <a:rPr lang="en-US" dirty="0" err="1"/>
              <a:t>čime</a:t>
            </a:r>
            <a:r>
              <a:rPr lang="en-US" dirty="0"/>
              <a:t> </a:t>
            </a:r>
            <a:r>
              <a:rPr lang="en-US" dirty="0" err="1"/>
              <a:t>sam</a:t>
            </a:r>
            <a:r>
              <a:rPr lang="en-US" dirty="0"/>
              <a:t> </a:t>
            </a:r>
            <a:r>
              <a:rPr lang="en-US" dirty="0" err="1"/>
              <a:t>demonstrirala</a:t>
            </a:r>
            <a:r>
              <a:rPr lang="en-US" dirty="0"/>
              <a:t> </a:t>
            </a:r>
            <a:r>
              <a:rPr lang="en-US" dirty="0" err="1"/>
              <a:t>razliku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fizičkog</a:t>
            </a:r>
            <a:r>
              <a:rPr lang="en-US" dirty="0"/>
              <a:t> </a:t>
            </a:r>
            <a:r>
              <a:rPr lang="en-US" dirty="0" err="1"/>
              <a:t>stanja</a:t>
            </a:r>
            <a:r>
              <a:rPr lang="en-US" dirty="0"/>
              <a:t> </a:t>
            </a:r>
            <a:r>
              <a:rPr lang="en-US" dirty="0" err="1"/>
              <a:t>diska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načina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koji ga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interpretira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039212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dirty="0"/>
              <a:t>MBR je </a:t>
            </a:r>
            <a:r>
              <a:rPr lang="en-US" dirty="0" err="1"/>
              <a:t>prvi</a:t>
            </a:r>
            <a:r>
              <a:rPr lang="en-US" dirty="0"/>
              <a:t> </a:t>
            </a:r>
            <a:r>
              <a:rPr lang="en-US" dirty="0" err="1"/>
              <a:t>sektor</a:t>
            </a:r>
            <a:r>
              <a:rPr lang="en-US" dirty="0"/>
              <a:t> </a:t>
            </a:r>
            <a:r>
              <a:rPr lang="en-US" dirty="0" err="1"/>
              <a:t>diska</a:t>
            </a:r>
            <a:r>
              <a:rPr lang="en-US" dirty="0"/>
              <a:t>, </a:t>
            </a:r>
            <a:r>
              <a:rPr lang="en-US" dirty="0" err="1"/>
              <a:t>veličine</a:t>
            </a:r>
            <a:r>
              <a:rPr lang="en-US" dirty="0"/>
              <a:t> 512 </a:t>
            </a:r>
            <a:r>
              <a:rPr lang="en-US" dirty="0" err="1"/>
              <a:t>bajtova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sadrži</a:t>
            </a:r>
            <a:r>
              <a:rPr lang="en-US" dirty="0"/>
              <a:t> boot </a:t>
            </a:r>
            <a:r>
              <a:rPr lang="en-US" dirty="0" err="1"/>
              <a:t>kod</a:t>
            </a:r>
            <a:r>
              <a:rPr lang="en-US" dirty="0"/>
              <a:t>, </a:t>
            </a:r>
            <a:r>
              <a:rPr lang="en-US" dirty="0" err="1"/>
              <a:t>tabelu</a:t>
            </a:r>
            <a:r>
              <a:rPr lang="en-US" dirty="0"/>
              <a:t> </a:t>
            </a:r>
            <a:r>
              <a:rPr lang="en-US" dirty="0" err="1"/>
              <a:t>particija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potpis</a:t>
            </a:r>
            <a:r>
              <a:rPr lang="en-US" dirty="0"/>
              <a:t> 0x55AA.</a:t>
            </a:r>
            <a:br>
              <a:rPr lang="en-US" dirty="0"/>
            </a:br>
            <a:r>
              <a:rPr lang="en-US" dirty="0" err="1"/>
              <a:t>Particiona</a:t>
            </a:r>
            <a:r>
              <a:rPr lang="en-US" dirty="0"/>
              <a:t> </a:t>
            </a:r>
            <a:r>
              <a:rPr lang="en-US" dirty="0" err="1"/>
              <a:t>tabela</a:t>
            </a:r>
            <a:r>
              <a:rPr lang="en-US" dirty="0"/>
              <a:t> </a:t>
            </a:r>
            <a:r>
              <a:rPr lang="en-US" dirty="0" err="1"/>
              <a:t>ima</a:t>
            </a:r>
            <a:r>
              <a:rPr lang="en-US" dirty="0"/>
              <a:t> </a:t>
            </a:r>
            <a:r>
              <a:rPr lang="en-US" dirty="0" err="1"/>
              <a:t>četiri</a:t>
            </a:r>
            <a:r>
              <a:rPr lang="en-US" dirty="0"/>
              <a:t> </a:t>
            </a:r>
            <a:r>
              <a:rPr lang="en-US" dirty="0" err="1"/>
              <a:t>unosa</a:t>
            </a:r>
            <a:r>
              <a:rPr lang="en-US" dirty="0"/>
              <a:t> po 16 </a:t>
            </a:r>
            <a:r>
              <a:rPr lang="en-US" dirty="0" err="1"/>
              <a:t>bajtova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Izmenom</a:t>
            </a:r>
            <a:r>
              <a:rPr lang="en-US" dirty="0"/>
              <a:t> </a:t>
            </a:r>
            <a:r>
              <a:rPr lang="en-US" dirty="0" err="1"/>
              <a:t>polja</a:t>
            </a:r>
            <a:r>
              <a:rPr lang="en-US" dirty="0"/>
              <a:t> Partition Type u </a:t>
            </a:r>
            <a:r>
              <a:rPr lang="en-US" dirty="0" err="1"/>
              <a:t>toj</a:t>
            </a:r>
            <a:r>
              <a:rPr lang="en-US" dirty="0"/>
              <a:t> </a:t>
            </a:r>
            <a:r>
              <a:rPr lang="en-US" dirty="0" err="1"/>
              <a:t>tabeli</a:t>
            </a:r>
            <a:r>
              <a:rPr lang="en-US" dirty="0"/>
              <a:t> </a:t>
            </a:r>
            <a:r>
              <a:rPr lang="en-US" dirty="0" err="1"/>
              <a:t>moguće</a:t>
            </a:r>
            <a:r>
              <a:rPr lang="en-US" dirty="0"/>
              <a:t> je </a:t>
            </a:r>
            <a:r>
              <a:rPr lang="en-US" dirty="0" err="1"/>
              <a:t>sakriti</a:t>
            </a:r>
            <a:r>
              <a:rPr lang="en-US" dirty="0"/>
              <a:t> </a:t>
            </a:r>
            <a:r>
              <a:rPr lang="en-US" dirty="0" err="1"/>
              <a:t>particiju</a:t>
            </a:r>
            <a:r>
              <a:rPr lang="en-US" dirty="0"/>
              <a:t>, </a:t>
            </a:r>
            <a:r>
              <a:rPr lang="en-US" dirty="0" err="1"/>
              <a:t>jer</a:t>
            </a:r>
            <a:r>
              <a:rPr lang="en-US" dirty="0"/>
              <a:t>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drugačije</a:t>
            </a:r>
            <a:r>
              <a:rPr lang="en-US" dirty="0"/>
              <a:t> </a:t>
            </a:r>
            <a:r>
              <a:rPr lang="en-US" dirty="0" err="1"/>
              <a:t>interpretira</a:t>
            </a:r>
            <a:r>
              <a:rPr lang="en-US" dirty="0"/>
              <a:t> </a:t>
            </a:r>
            <a:r>
              <a:rPr lang="en-US" dirty="0" err="1"/>
              <a:t>njen</a:t>
            </a:r>
            <a:r>
              <a:rPr lang="en-US" dirty="0"/>
              <a:t> tip.</a:t>
            </a:r>
            <a:endParaRPr lang="sr-Latn-R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94446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AE8B5A-DBFA-571F-8D9D-A56FAB7B30E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44C1B1CE-8A2F-37C1-B134-F2E5B0FF012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CD24E4B-1487-9EF0-8CE7-9626C7E53A7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lvl="0"/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Master Boot Record (MBR)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predstavlja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prvi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sektor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particionisanom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veličinu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od 512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bajtova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MBR-a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sastoji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tri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osnovna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dela:</a:t>
            </a:r>
            <a:endParaRPr lang="en-US" sz="11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endParaRPr lang="en-US" sz="11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1. Bootstrap Code Area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sr-Cyrl-RS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bajtovi</a:t>
            </a:r>
            <a:r>
              <a:rPr lang="sr-Cyrl-R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0–445 (446 </a:t>
            </a:r>
            <a:r>
              <a:rPr lang="sr-Cyrl-RS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bajtova</a:t>
            </a:r>
            <a:r>
              <a:rPr lang="sr-Cyrl-R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sr-Cyrl-R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 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deo koji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sadrži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programski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pokretanje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(446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bajtova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</a:t>
            </a:r>
            <a:endParaRPr lang="en-US" sz="11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2. Master Partition Table (MPT)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en-US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bajtovi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446-509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-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sadrži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rasporedu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(64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):</a:t>
            </a:r>
            <a:endParaRPr lang="en-US" sz="11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Tačno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r-Cyrl-R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4 </a:t>
            </a:r>
            <a:r>
              <a:rPr lang="sr-Cyrl-R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unosa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svaki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r-Cyrl-R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16 </a:t>
            </a:r>
            <a:r>
              <a:rPr lang="sr-Cyrl-R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bajtova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→ </a:t>
            </a:r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ukupno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64 </a:t>
            </a:r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bajta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endParaRPr lang="en-US" sz="11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Svaki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unos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opisuje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jednu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particiju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primarnu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ili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r-Cyrl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proširenu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).</a:t>
            </a:r>
            <a:endParaRPr lang="en-US" sz="11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1"/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3. Boot </a:t>
            </a:r>
            <a:r>
              <a:rPr lang="en-U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potpis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</a:t>
            </a:r>
            <a:r>
              <a:rPr lang="en-US" sz="1200" b="1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bajtovi</a:t>
            </a:r>
            <a:r>
              <a:rPr lang="en-US" sz="1200" b="1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510-511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poslednja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bajta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sektora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čije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vrednosti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0x55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0xAA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označavaju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je disk boot-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abilan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sz="11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sr-Latn-RS" dirty="0"/>
          </a:p>
          <a:p>
            <a:endParaRPr lang="sr-Latn-RS" dirty="0"/>
          </a:p>
          <a:p>
            <a:endParaRPr lang="sr-Latn-RS" dirty="0"/>
          </a:p>
          <a:p>
            <a:pPr marL="171450" indent="-171450">
              <a:buFont typeface="Arial" panose="020B0604020202020204" pitchFamily="34" charset="0"/>
              <a:buChar char="•"/>
            </a:pPr>
            <a:endParaRPr lang="sr-Latn-R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F68969-E4C2-6567-6C51-654FB78684F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89289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BA6DC2F-63F3-A162-35DA-5C47002D8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B3627D43-D27C-DB8B-5BF9-C5CE0C23976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CE5A8DFD-2ED0-01B5-9953-C9E54437691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 </a:t>
            </a:r>
            <a:r>
              <a:rPr lang="en-US" dirty="0" err="1"/>
              <a:t>forenzičkoj</a:t>
            </a:r>
            <a:r>
              <a:rPr lang="en-US" dirty="0"/>
              <a:t> </a:t>
            </a:r>
            <a:r>
              <a:rPr lang="en-US" dirty="0" err="1"/>
              <a:t>analizi</a:t>
            </a:r>
            <a:r>
              <a:rPr lang="en-US" dirty="0"/>
              <a:t>, </a:t>
            </a:r>
            <a:r>
              <a:rPr lang="en-US" dirty="0" err="1"/>
              <a:t>posebna</a:t>
            </a:r>
            <a:r>
              <a:rPr lang="en-US" dirty="0"/>
              <a:t> </a:t>
            </a:r>
            <a:r>
              <a:rPr lang="en-US" dirty="0" err="1"/>
              <a:t>pažnja</a:t>
            </a:r>
            <a:r>
              <a:rPr lang="en-US" dirty="0"/>
              <a:t> se </a:t>
            </a:r>
            <a:r>
              <a:rPr lang="en-US" dirty="0" err="1"/>
              <a:t>posvećuje</a:t>
            </a:r>
            <a:r>
              <a:rPr lang="en-US" dirty="0"/>
              <a:t> Master Partition Table (MPT)  – </a:t>
            </a:r>
            <a:r>
              <a:rPr lang="en-US" dirty="0" err="1"/>
              <a:t>tabeli</a:t>
            </a:r>
            <a:r>
              <a:rPr lang="en-US" dirty="0"/>
              <a:t> </a:t>
            </a:r>
            <a:r>
              <a:rPr lang="en-US" dirty="0" err="1"/>
              <a:t>particija</a:t>
            </a:r>
            <a:r>
              <a:rPr lang="en-US" dirty="0"/>
              <a:t>, </a:t>
            </a:r>
            <a:r>
              <a:rPr lang="en-US" dirty="0" err="1"/>
              <a:t>jer</a:t>
            </a:r>
            <a:r>
              <a:rPr lang="en-US" dirty="0"/>
              <a:t> </a:t>
            </a:r>
            <a:r>
              <a:rPr lang="en-US" dirty="0" err="1"/>
              <a:t>ona</a:t>
            </a:r>
            <a:r>
              <a:rPr lang="en-US" dirty="0"/>
              <a:t> </a:t>
            </a:r>
            <a:r>
              <a:rPr lang="en-US" dirty="0" err="1"/>
              <a:t>sadrži</a:t>
            </a:r>
            <a:r>
              <a:rPr lang="en-US" dirty="0"/>
              <a:t> </a:t>
            </a:r>
            <a:r>
              <a:rPr lang="en-US" dirty="0" err="1"/>
              <a:t>informacije</a:t>
            </a:r>
            <a:r>
              <a:rPr lang="en-US" dirty="0"/>
              <a:t> o </a:t>
            </a:r>
            <a:r>
              <a:rPr lang="en-US" dirty="0" err="1"/>
              <a:t>početku</a:t>
            </a:r>
            <a:r>
              <a:rPr lang="en-US" dirty="0"/>
              <a:t>, </a:t>
            </a:r>
            <a:r>
              <a:rPr lang="en-US" dirty="0" err="1"/>
              <a:t>veličini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tipu</a:t>
            </a:r>
            <a:r>
              <a:rPr lang="en-US" dirty="0"/>
              <a:t> </a:t>
            </a:r>
            <a:r>
              <a:rPr lang="en-US" dirty="0" err="1"/>
              <a:t>svake</a:t>
            </a:r>
            <a:r>
              <a:rPr lang="en-US" dirty="0"/>
              <a:t> </a:t>
            </a:r>
            <a:r>
              <a:rPr lang="en-US" dirty="0" err="1"/>
              <a:t>particije</a:t>
            </a:r>
            <a:r>
              <a:rPr lang="en-US" dirty="0"/>
              <a:t>. 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Kao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što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vidi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sr-Latn-R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prethodnoj</a:t>
            </a:r>
            <a:r>
              <a:rPr lang="sr-Latn-R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tabeli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particiona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se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nalazi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između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offseta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0x1BE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0x1FD 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 sadrži četiri 16-bajtna unosa sa informacijama o particijama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 MBR šemi particionisanja (sektor 0), partition table počinje na offsetu 446 i ima 4 unosa, svaki po 16 bajtova. U svakom 16-bajtnom unosu postoji polje Partition Type (1 bajt) koje OS koristi da odluči kakvu particiju gleda (FAT, NTFS, extended, “hidden” varijante itd.).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r-Latn-RS" dirty="0"/>
              <a:t>Na slici vidimo </a:t>
            </a:r>
            <a:r>
              <a:rPr lang="sr-Latn-C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Prikaz MBR particione tabele dobijen programskom analizom RAW sektora diska i na njoj se </a:t>
            </a:r>
            <a:r>
              <a:rPr lang="en-US" dirty="0" err="1"/>
              <a:t>vidi</a:t>
            </a:r>
            <a:r>
              <a:rPr lang="en-US" dirty="0"/>
              <a:t> da je Type polje </a:t>
            </a:r>
            <a:r>
              <a:rPr lang="en-US" dirty="0" err="1"/>
              <a:t>inicijalno</a:t>
            </a:r>
            <a:r>
              <a:rPr lang="en-US" dirty="0"/>
              <a:t> 07,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označava</a:t>
            </a:r>
            <a:r>
              <a:rPr lang="en-US" dirty="0"/>
              <a:t> NTFS </a:t>
            </a:r>
            <a:r>
              <a:rPr lang="en-US" dirty="0" err="1"/>
              <a:t>particiju</a:t>
            </a:r>
            <a:r>
              <a:rPr lang="en-US" dirty="0"/>
              <a:t>,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upravo</a:t>
            </a:r>
            <a:r>
              <a:rPr lang="en-US" dirty="0"/>
              <a:t> ta </a:t>
            </a:r>
            <a:r>
              <a:rPr lang="en-US" dirty="0" err="1"/>
              <a:t>vrednost</a:t>
            </a:r>
            <a:r>
              <a:rPr lang="en-US" dirty="0"/>
              <a:t> je </a:t>
            </a:r>
            <a:r>
              <a:rPr lang="en-US" dirty="0" err="1"/>
              <a:t>promenjena</a:t>
            </a:r>
            <a:r>
              <a:rPr lang="en-US" dirty="0"/>
              <a:t> u 17.</a:t>
            </a:r>
            <a:endParaRPr lang="sr-Latn-C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Prvi particioni unos (entry #1) sadrži validne metapodatke koji ukazuju na postojanje aktivne particije određenog tipa fajl-sistema, dok zapisi sa vrednostima 0x00 u preostalim particionim unosima (entry #2–#4) ukazuju na to da na disku ne postoje dodatne particije, odnosno da storage uređaj sadrži jednu primarnu particiju.</a:t>
            </a:r>
            <a:endParaRPr lang="sr-Latn-R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Zapis </a:t>
            </a:r>
            <a:r>
              <a:rPr lang="sr-Cyrl-R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07 </a:t>
            </a:r>
            <a:r>
              <a:rPr lang="sr-Cyrl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 tip particije označava da se radi o NTFS particiji. </a:t>
            </a:r>
            <a:endParaRPr lang="sr-Latn-R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sr-Latn-R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sr-Latn-C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MPT - predstavlja strukturu podataka na disku koja sadrži informacije o rasporedu particija i omogućava operativnom sistemu da identifikuje i pristupi pojedinačnim particijama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dirty="0" err="1"/>
              <a:t>Analizom</a:t>
            </a:r>
            <a:r>
              <a:rPr lang="en-US" dirty="0"/>
              <a:t> </a:t>
            </a:r>
            <a:r>
              <a:rPr lang="en-US" dirty="0" err="1"/>
              <a:t>ovih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moguće</a:t>
            </a:r>
            <a:r>
              <a:rPr lang="en-US" dirty="0"/>
              <a:t> je </a:t>
            </a:r>
            <a:r>
              <a:rPr lang="en-US" dirty="0" err="1"/>
              <a:t>identifikovati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izbrisane</a:t>
            </a:r>
            <a:r>
              <a:rPr lang="en-US" dirty="0"/>
              <a:t> </a:t>
            </a:r>
            <a:r>
              <a:rPr lang="en-US" dirty="0" err="1"/>
              <a:t>ili</a:t>
            </a:r>
            <a:r>
              <a:rPr lang="en-US" dirty="0"/>
              <a:t> </a:t>
            </a:r>
            <a:r>
              <a:rPr lang="en-US" dirty="0" err="1"/>
              <a:t>skrivene</a:t>
            </a:r>
            <a:r>
              <a:rPr lang="en-US" dirty="0"/>
              <a:t> </a:t>
            </a:r>
            <a:r>
              <a:rPr lang="en-US" dirty="0" err="1"/>
              <a:t>particije</a:t>
            </a:r>
            <a:r>
              <a:rPr lang="en-US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nelogične</a:t>
            </a:r>
            <a:r>
              <a:rPr lang="en-US" dirty="0"/>
              <a:t> </a:t>
            </a:r>
            <a:r>
              <a:rPr lang="en-US" dirty="0" err="1"/>
              <a:t>granice</a:t>
            </a:r>
            <a:r>
              <a:rPr lang="en-US" dirty="0"/>
              <a:t> </a:t>
            </a:r>
            <a:r>
              <a:rPr lang="en-US" dirty="0" err="1"/>
              <a:t>particija</a:t>
            </a:r>
            <a:r>
              <a:rPr lang="en-US" dirty="0"/>
              <a:t>,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neslaganja</a:t>
            </a:r>
            <a:r>
              <a:rPr lang="en-US" dirty="0"/>
              <a:t> </a:t>
            </a:r>
            <a:r>
              <a:rPr lang="en-US" dirty="0" err="1"/>
              <a:t>između</a:t>
            </a:r>
            <a:r>
              <a:rPr lang="en-US" dirty="0"/>
              <a:t> </a:t>
            </a:r>
            <a:r>
              <a:rPr lang="en-US" dirty="0" err="1"/>
              <a:t>prijavljenog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stvarnog</a:t>
            </a:r>
            <a:r>
              <a:rPr lang="en-US" dirty="0"/>
              <a:t> </a:t>
            </a:r>
            <a:r>
              <a:rPr lang="en-US" dirty="0" err="1"/>
              <a:t>stanja</a:t>
            </a:r>
            <a:r>
              <a:rPr lang="en-US" dirty="0"/>
              <a:t> </a:t>
            </a:r>
            <a:r>
              <a:rPr lang="en-US" dirty="0" err="1"/>
              <a:t>diska</a:t>
            </a:r>
            <a:r>
              <a:rPr lang="en-US" dirty="0"/>
              <a:t>.</a:t>
            </a:r>
            <a:endParaRPr lang="sr-Latn-RS" dirty="0"/>
          </a:p>
          <a:p>
            <a:endParaRPr lang="sr-Latn-R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sr-Latn-RS" dirty="0"/>
          </a:p>
          <a:p>
            <a:endParaRPr lang="sr-Latn-C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28F0C01-4EF1-BD8B-60AC-7766A7CD8A35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9670732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rtl="0" fontAlgn="base"/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Nakon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fizičke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organizacije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MBR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sledeći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nivo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apstrakcije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predstavlja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pPr rtl="0" fontAlgn="base"/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definiše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način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organizacije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pristupa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podacima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unutar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On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omogućava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operativnom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da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radi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datotekama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direktorijumima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bez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potrebe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da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poznaje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njihovu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fizičku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lokaciju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pPr rtl="0" fontAlgn="base"/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Drugim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rečima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predstavlja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vezu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između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fizičkih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sektora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logičkog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prikaza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fajlova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pPr rtl="0" fontAlgn="base"/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Korisnik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vidi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fajl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imenom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putanjom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upravlja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klasterima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alokacijom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prostora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metapodacima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pPr rtl="0" fontAlgn="base"/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FAT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NTFS se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razlikuju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po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bezbednosnim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mehanizmima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forenzičkom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značaju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što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direktan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uticaj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način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interpretacije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podataka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manipulacije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particijama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 </a:t>
            </a:r>
          </a:p>
          <a:p>
            <a:endParaRPr lang="en-US" dirty="0"/>
          </a:p>
          <a:p>
            <a:r>
              <a:rPr lang="en-US" dirty="0" err="1"/>
              <a:t>Osnovni</a:t>
            </a:r>
            <a:r>
              <a:rPr lang="en-US" dirty="0"/>
              <a:t> </a:t>
            </a:r>
            <a:r>
              <a:rPr lang="en-US" dirty="0" err="1"/>
              <a:t>elementi</a:t>
            </a:r>
            <a:r>
              <a:rPr lang="en-US" dirty="0"/>
              <a:t> </a:t>
            </a:r>
            <a:r>
              <a:rPr lang="en-US" dirty="0" err="1"/>
              <a:t>svakog</a:t>
            </a:r>
            <a:r>
              <a:rPr lang="en-US" dirty="0"/>
              <a:t> </a:t>
            </a:r>
            <a:r>
              <a:rPr lang="en-US" dirty="0" err="1"/>
              <a:t>datotečnog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 </a:t>
            </a:r>
            <a:r>
              <a:rPr lang="en-US" dirty="0" err="1"/>
              <a:t>datoteke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direktorijumi</a:t>
            </a:r>
            <a:r>
              <a:rPr lang="en-US" dirty="0"/>
              <a:t>. </a:t>
            </a:r>
            <a:r>
              <a:rPr lang="en-US" dirty="0" err="1"/>
              <a:t>Datoteka</a:t>
            </a:r>
            <a:r>
              <a:rPr lang="en-US" dirty="0"/>
              <a:t> </a:t>
            </a:r>
            <a:r>
              <a:rPr lang="en-US" dirty="0" err="1"/>
              <a:t>predstavlja</a:t>
            </a:r>
            <a:r>
              <a:rPr lang="en-US" dirty="0"/>
              <a:t> </a:t>
            </a:r>
            <a:r>
              <a:rPr lang="en-US" dirty="0" err="1"/>
              <a:t>logičku</a:t>
            </a:r>
            <a:r>
              <a:rPr lang="en-US" dirty="0"/>
              <a:t> </a:t>
            </a:r>
            <a:r>
              <a:rPr lang="en-US" dirty="0" err="1"/>
              <a:t>celinu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ima</a:t>
            </a:r>
            <a:r>
              <a:rPr lang="en-US" dirty="0"/>
              <a:t> </a:t>
            </a:r>
            <a:r>
              <a:rPr lang="en-US" dirty="0" err="1"/>
              <a:t>ime</a:t>
            </a:r>
            <a:r>
              <a:rPr lang="en-US" dirty="0"/>
              <a:t>, </a:t>
            </a:r>
            <a:r>
              <a:rPr lang="en-US" dirty="0" err="1"/>
              <a:t>veličinu</a:t>
            </a:r>
            <a:r>
              <a:rPr lang="en-US" dirty="0"/>
              <a:t>, </a:t>
            </a:r>
            <a:r>
              <a:rPr lang="en-US" dirty="0" err="1"/>
              <a:t>vremenske</a:t>
            </a:r>
            <a:r>
              <a:rPr lang="en-US" dirty="0"/>
              <a:t> </a:t>
            </a:r>
            <a:r>
              <a:rPr lang="en-US" dirty="0" err="1"/>
              <a:t>atribute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druge</a:t>
            </a:r>
            <a:r>
              <a:rPr lang="en-US" dirty="0"/>
              <a:t> </a:t>
            </a:r>
            <a:r>
              <a:rPr lang="en-US" dirty="0" err="1"/>
              <a:t>metapodatke</a:t>
            </a:r>
            <a:r>
              <a:rPr lang="en-US" dirty="0"/>
              <a:t>. </a:t>
            </a:r>
            <a:r>
              <a:rPr lang="en-US" dirty="0" err="1"/>
              <a:t>Direktorijumi</a:t>
            </a:r>
            <a:r>
              <a:rPr lang="en-US" dirty="0"/>
              <a:t> </a:t>
            </a:r>
            <a:r>
              <a:rPr lang="en-US" dirty="0" err="1"/>
              <a:t>omogućavaju</a:t>
            </a:r>
            <a:r>
              <a:rPr lang="en-US" dirty="0"/>
              <a:t> </a:t>
            </a:r>
            <a:r>
              <a:rPr lang="en-US" dirty="0" err="1"/>
              <a:t>hijerarhijsku</a:t>
            </a:r>
            <a:r>
              <a:rPr lang="en-US" dirty="0"/>
              <a:t> </a:t>
            </a:r>
            <a:r>
              <a:rPr lang="en-US" dirty="0" err="1"/>
              <a:t>organizaciju</a:t>
            </a:r>
            <a:r>
              <a:rPr lang="en-US" dirty="0"/>
              <a:t> </a:t>
            </a:r>
            <a:r>
              <a:rPr lang="en-US" dirty="0" err="1"/>
              <a:t>datoteka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služe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način</a:t>
            </a:r>
            <a:r>
              <a:rPr lang="en-US" dirty="0"/>
              <a:t> </a:t>
            </a:r>
            <a:r>
              <a:rPr lang="en-US" dirty="0" err="1"/>
              <a:t>grupisanja</a:t>
            </a:r>
            <a:r>
              <a:rPr lang="en-US" dirty="0"/>
              <a:t> </a:t>
            </a:r>
            <a:r>
              <a:rPr lang="en-US" dirty="0" err="1"/>
              <a:t>povezanih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14004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FAT je </a:t>
            </a:r>
            <a:r>
              <a:rPr lang="en-US" dirty="0" err="1"/>
              <a:t>jednostavan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široko</a:t>
            </a:r>
            <a:r>
              <a:rPr lang="en-US" dirty="0"/>
              <a:t> </a:t>
            </a:r>
            <a:r>
              <a:rPr lang="en-US" dirty="0" err="1"/>
              <a:t>kompatibilan</a:t>
            </a:r>
            <a:r>
              <a:rPr lang="en-US" dirty="0"/>
              <a:t> </a:t>
            </a:r>
            <a:r>
              <a:rPr lang="en-US" dirty="0" err="1"/>
              <a:t>datotečni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.</a:t>
            </a:r>
            <a:br>
              <a:rPr lang="en-US" dirty="0"/>
            </a:br>
            <a:r>
              <a:rPr lang="en-US" dirty="0" err="1"/>
              <a:t>Njegova</a:t>
            </a:r>
            <a:r>
              <a:rPr lang="en-US" dirty="0"/>
              <a:t> </a:t>
            </a:r>
            <a:r>
              <a:rPr lang="en-US" dirty="0" err="1"/>
              <a:t>osnovna</a:t>
            </a:r>
            <a:r>
              <a:rPr lang="en-US" dirty="0"/>
              <a:t> </a:t>
            </a:r>
            <a:r>
              <a:rPr lang="en-US" dirty="0" err="1"/>
              <a:t>karakteristika</a:t>
            </a:r>
            <a:r>
              <a:rPr lang="en-US" dirty="0"/>
              <a:t> je FAT </a:t>
            </a:r>
            <a:r>
              <a:rPr lang="en-US" dirty="0" err="1"/>
              <a:t>tabela</a:t>
            </a:r>
            <a:r>
              <a:rPr lang="en-US" dirty="0"/>
              <a:t> </a:t>
            </a:r>
            <a:r>
              <a:rPr lang="en-US" dirty="0" err="1"/>
              <a:t>koja</a:t>
            </a:r>
            <a:r>
              <a:rPr lang="en-US" dirty="0"/>
              <a:t> </a:t>
            </a:r>
            <a:r>
              <a:rPr lang="en-US" dirty="0" err="1"/>
              <a:t>povezuje</a:t>
            </a:r>
            <a:r>
              <a:rPr lang="en-US" dirty="0"/>
              <a:t> </a:t>
            </a:r>
            <a:r>
              <a:rPr lang="en-US" dirty="0" err="1"/>
              <a:t>klastere</a:t>
            </a:r>
            <a:r>
              <a:rPr lang="en-US" dirty="0"/>
              <a:t> </a:t>
            </a:r>
            <a:r>
              <a:rPr lang="en-US" dirty="0" err="1"/>
              <a:t>datoteka</a:t>
            </a:r>
            <a:endParaRPr lang="sr-Latn-RS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sastoji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sledećih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osnovnih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komponenti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: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sektor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sadrži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osnovne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parametre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potrebne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njegovo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učitavanje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centralna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struktura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povezuje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klastere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Root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direktorijuma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–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osnovni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direktorijum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koji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sadrži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informacije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datotekama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poddirektorijumima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;</a:t>
            </a:r>
          </a:p>
          <a:p>
            <a:pPr marL="171450" lvl="0" indent="-171450">
              <a:buFont typeface="Arial" panose="020B0604020202020204" pitchFamily="34" charset="0"/>
              <a:buChar char="•"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Data region – deo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nalaze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stvarni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podaci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dirty="0" err="1"/>
              <a:t>Zbog</a:t>
            </a:r>
            <a:r>
              <a:rPr lang="en-US" dirty="0"/>
              <a:t> </a:t>
            </a:r>
            <a:r>
              <a:rPr lang="en-US" dirty="0" err="1"/>
              <a:t>svoje</a:t>
            </a:r>
            <a:r>
              <a:rPr lang="en-US" dirty="0"/>
              <a:t> </a:t>
            </a:r>
            <a:r>
              <a:rPr lang="en-US" dirty="0" err="1"/>
              <a:t>jednostavne</a:t>
            </a:r>
            <a:r>
              <a:rPr lang="en-US" dirty="0"/>
              <a:t> </a:t>
            </a:r>
            <a:r>
              <a:rPr lang="en-US" dirty="0" err="1"/>
              <a:t>strukture</a:t>
            </a:r>
            <a:r>
              <a:rPr lang="en-US" dirty="0"/>
              <a:t> </a:t>
            </a:r>
            <a:r>
              <a:rPr lang="en-US" dirty="0" err="1"/>
              <a:t>često</a:t>
            </a:r>
            <a:r>
              <a:rPr lang="en-US" dirty="0"/>
              <a:t> se </a:t>
            </a:r>
            <a:r>
              <a:rPr lang="en-US" dirty="0" err="1"/>
              <a:t>koristi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USB </a:t>
            </a:r>
            <a:r>
              <a:rPr lang="en-US" dirty="0" err="1"/>
              <a:t>uređajima</a:t>
            </a:r>
            <a:r>
              <a:rPr lang="en-US" dirty="0"/>
              <a:t>.</a:t>
            </a:r>
            <a:endParaRPr lang="sr-Latn-RS" dirty="0"/>
          </a:p>
          <a:p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Ova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hijerarhija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pokazuje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kako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FAT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organizuje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podatke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— od boot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sektora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FAT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do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direktorijuma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 </a:t>
            </a:r>
            <a:r>
              <a:rPr lang="en-US" sz="1200" b="0" i="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fajlova</a:t>
            </a:r>
            <a:r>
              <a:rPr lang="en-US" sz="1200" b="0" i="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35694575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E4E59A-6567-AAF5-A94C-39F773ECB00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5818B285-E8E4-C41D-9487-FAF0A2B3BF0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1D78315F-CDC0-B439-E06B-F11C7E3F853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NTFS je </a:t>
            </a:r>
            <a:r>
              <a:rPr lang="en-US" dirty="0" err="1"/>
              <a:t>savremeni</a:t>
            </a:r>
            <a:r>
              <a:rPr lang="en-US" dirty="0"/>
              <a:t> Windows </a:t>
            </a:r>
            <a:r>
              <a:rPr lang="en-US" dirty="0" err="1"/>
              <a:t>datotečni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čija</a:t>
            </a:r>
            <a:r>
              <a:rPr lang="en-US" dirty="0"/>
              <a:t> je </a:t>
            </a:r>
            <a:r>
              <a:rPr lang="en-US" dirty="0" err="1"/>
              <a:t>centralna</a:t>
            </a:r>
            <a:r>
              <a:rPr lang="en-US" dirty="0"/>
              <a:t> </a:t>
            </a:r>
            <a:r>
              <a:rPr lang="en-US" dirty="0" err="1"/>
              <a:t>struktura</a:t>
            </a:r>
            <a:r>
              <a:rPr lang="en-US" dirty="0"/>
              <a:t> Master File Table.</a:t>
            </a:r>
            <a:br>
              <a:rPr lang="en-US" dirty="0"/>
            </a:br>
            <a:r>
              <a:rPr lang="en-US" dirty="0" err="1"/>
              <a:t>Svaka</a:t>
            </a:r>
            <a:r>
              <a:rPr lang="en-US" dirty="0"/>
              <a:t> </a:t>
            </a:r>
            <a:r>
              <a:rPr lang="en-US" dirty="0" err="1"/>
              <a:t>datoteka</a:t>
            </a:r>
            <a:r>
              <a:rPr lang="en-US" dirty="0"/>
              <a:t> </a:t>
            </a:r>
            <a:r>
              <a:rPr lang="en-US" dirty="0" err="1"/>
              <a:t>ima</a:t>
            </a:r>
            <a:r>
              <a:rPr lang="en-US" dirty="0"/>
              <a:t> </a:t>
            </a:r>
            <a:r>
              <a:rPr lang="en-US" dirty="0" err="1"/>
              <a:t>svoj</a:t>
            </a:r>
            <a:r>
              <a:rPr lang="en-US" dirty="0"/>
              <a:t> </a:t>
            </a:r>
            <a:r>
              <a:rPr lang="en-US" dirty="0" err="1"/>
              <a:t>zapis</a:t>
            </a:r>
            <a:r>
              <a:rPr lang="en-US" dirty="0"/>
              <a:t> u MFT-u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bogatim</a:t>
            </a:r>
            <a:r>
              <a:rPr lang="en-US" dirty="0"/>
              <a:t> </a:t>
            </a:r>
            <a:r>
              <a:rPr lang="en-US" dirty="0" err="1"/>
              <a:t>metapodacima</a:t>
            </a:r>
            <a:r>
              <a:rPr lang="en-US" dirty="0"/>
              <a:t>.</a:t>
            </a:r>
            <a:r>
              <a:rPr lang="sr-Latn-RS" dirty="0"/>
              <a:t> </a:t>
            </a:r>
            <a:r>
              <a:rPr lang="en-US" dirty="0"/>
              <a:t>MFT </a:t>
            </a:r>
            <a:r>
              <a:rPr lang="en-US" dirty="0" err="1"/>
              <a:t>sadrži</a:t>
            </a:r>
            <a:r>
              <a:rPr lang="en-US" dirty="0"/>
              <a:t> </a:t>
            </a:r>
            <a:r>
              <a:rPr lang="en-US" dirty="0" err="1"/>
              <a:t>zapise</a:t>
            </a:r>
            <a:r>
              <a:rPr lang="en-US" dirty="0"/>
              <a:t> o </a:t>
            </a:r>
            <a:r>
              <a:rPr lang="en-US" dirty="0" err="1"/>
              <a:t>svim</a:t>
            </a:r>
            <a:r>
              <a:rPr lang="en-US" dirty="0"/>
              <a:t> </a:t>
            </a:r>
            <a:r>
              <a:rPr lang="en-US" dirty="0" err="1"/>
              <a:t>datotekama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direktorijumima</a:t>
            </a:r>
            <a:r>
              <a:rPr lang="en-US" dirty="0"/>
              <a:t>, </a:t>
            </a:r>
            <a:r>
              <a:rPr lang="en-US" dirty="0" err="1"/>
              <a:t>uključujući</a:t>
            </a:r>
            <a:r>
              <a:rPr lang="en-US" dirty="0"/>
              <a:t> </a:t>
            </a:r>
            <a:r>
              <a:rPr lang="en-US" dirty="0" err="1"/>
              <a:t>njihove</a:t>
            </a:r>
            <a:r>
              <a:rPr lang="en-US" dirty="0"/>
              <a:t> </a:t>
            </a:r>
            <a:r>
              <a:rPr lang="en-US" dirty="0" err="1"/>
              <a:t>atribute</a:t>
            </a:r>
            <a:r>
              <a:rPr lang="en-US" dirty="0"/>
              <a:t>, </a:t>
            </a:r>
            <a:r>
              <a:rPr lang="en-US" dirty="0" err="1"/>
              <a:t>lokaciju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bezbednosne</a:t>
            </a:r>
            <a:r>
              <a:rPr lang="en-US" dirty="0"/>
              <a:t> </a:t>
            </a:r>
            <a:r>
              <a:rPr lang="en-US" dirty="0" err="1"/>
              <a:t>informacije</a:t>
            </a:r>
            <a:r>
              <a:rPr lang="en-US" dirty="0"/>
              <a:t>.</a:t>
            </a:r>
          </a:p>
          <a:p>
            <a:r>
              <a:rPr lang="en-US" dirty="0" err="1"/>
              <a:t>Svaki</a:t>
            </a:r>
            <a:r>
              <a:rPr lang="en-US" dirty="0"/>
              <a:t> MFT </a:t>
            </a:r>
            <a:r>
              <a:rPr lang="en-US" dirty="0" err="1"/>
              <a:t>zapis</a:t>
            </a:r>
            <a:r>
              <a:rPr lang="en-US" dirty="0"/>
              <a:t> </a:t>
            </a:r>
            <a:r>
              <a:rPr lang="en-US" dirty="0" err="1"/>
              <a:t>ima</a:t>
            </a:r>
            <a:r>
              <a:rPr lang="en-US" dirty="0"/>
              <a:t> </a:t>
            </a:r>
            <a:r>
              <a:rPr lang="en-US" dirty="0" err="1"/>
              <a:t>fiksnu</a:t>
            </a:r>
            <a:r>
              <a:rPr lang="en-US" dirty="0"/>
              <a:t> </a:t>
            </a:r>
            <a:r>
              <a:rPr lang="en-US" dirty="0" err="1"/>
              <a:t>veličinu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može</a:t>
            </a:r>
            <a:r>
              <a:rPr lang="en-US" dirty="0"/>
              <a:t> </a:t>
            </a:r>
            <a:r>
              <a:rPr lang="en-US" dirty="0" err="1"/>
              <a:t>sadržati</a:t>
            </a:r>
            <a:r>
              <a:rPr lang="en-US" dirty="0"/>
              <a:t> </a:t>
            </a:r>
            <a:r>
              <a:rPr lang="en-US" dirty="0" err="1"/>
              <a:t>više</a:t>
            </a:r>
            <a:r>
              <a:rPr lang="en-US" dirty="0"/>
              <a:t> </a:t>
            </a:r>
            <a:r>
              <a:rPr lang="en-US" dirty="0" err="1"/>
              <a:t>atributa</a:t>
            </a:r>
            <a:r>
              <a:rPr lang="en-US" dirty="0"/>
              <a:t>,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su</a:t>
            </a:r>
            <a:r>
              <a:rPr lang="en-US" dirty="0"/>
              <a:t>: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informacije</a:t>
            </a:r>
            <a:r>
              <a:rPr lang="en-US" dirty="0"/>
              <a:t> o </a:t>
            </a:r>
            <a:r>
              <a:rPr lang="en-US" dirty="0" err="1"/>
              <a:t>imenu</a:t>
            </a:r>
            <a:r>
              <a:rPr lang="en-US" dirty="0"/>
              <a:t> </a:t>
            </a:r>
            <a:r>
              <a:rPr lang="en-US" dirty="0" err="1"/>
              <a:t>datoteke</a:t>
            </a:r>
            <a:r>
              <a:rPr lang="en-US" dirty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bezbednosni</a:t>
            </a:r>
            <a:r>
              <a:rPr lang="en-US" dirty="0"/>
              <a:t> </a:t>
            </a:r>
            <a:r>
              <a:rPr lang="en-US" dirty="0" err="1"/>
              <a:t>deskriptori</a:t>
            </a:r>
            <a:r>
              <a:rPr lang="en-US" dirty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vremenski</a:t>
            </a:r>
            <a:r>
              <a:rPr lang="en-US" dirty="0"/>
              <a:t> </a:t>
            </a:r>
            <a:r>
              <a:rPr lang="en-US" dirty="0" err="1"/>
              <a:t>žigovi</a:t>
            </a:r>
            <a:r>
              <a:rPr lang="en-US" dirty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pokazivači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klastere</a:t>
            </a:r>
            <a:r>
              <a:rPr lang="en-US" dirty="0"/>
              <a:t> u </a:t>
            </a:r>
            <a:r>
              <a:rPr lang="en-US" dirty="0" err="1"/>
              <a:t>kojima</a:t>
            </a:r>
            <a:r>
              <a:rPr lang="en-US" dirty="0"/>
              <a:t> se </a:t>
            </a:r>
            <a:r>
              <a:rPr lang="en-US" dirty="0" err="1"/>
              <a:t>nalaze</a:t>
            </a:r>
            <a:r>
              <a:rPr lang="en-US" dirty="0"/>
              <a:t> </a:t>
            </a:r>
            <a:r>
              <a:rPr lang="en-US" dirty="0" err="1"/>
              <a:t>podaci</a:t>
            </a:r>
            <a:r>
              <a:rPr lang="en-US" dirty="0"/>
              <a:t>.</a:t>
            </a:r>
          </a:p>
          <a:p>
            <a:r>
              <a:rPr lang="en-US" dirty="0"/>
              <a:t>NTFS </a:t>
            </a:r>
            <a:r>
              <a:rPr lang="en-US" dirty="0" err="1"/>
              <a:t>podržava</a:t>
            </a:r>
            <a:r>
              <a:rPr lang="en-US" dirty="0"/>
              <a:t> NTFS </a:t>
            </a:r>
            <a:r>
              <a:rPr lang="en-US" dirty="0" err="1"/>
              <a:t>podržava</a:t>
            </a:r>
            <a:r>
              <a:rPr lang="sr-Latn-RS" dirty="0"/>
              <a:t>:</a:t>
            </a:r>
            <a:endParaRPr lang="en-US" dirty="0"/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podršku</a:t>
            </a:r>
            <a:r>
              <a:rPr lang="en-US" dirty="0"/>
              <a:t> za </a:t>
            </a:r>
            <a:r>
              <a:rPr lang="en-US" dirty="0" err="1"/>
              <a:t>velike</a:t>
            </a:r>
            <a:r>
              <a:rPr lang="en-US" dirty="0"/>
              <a:t> </a:t>
            </a:r>
            <a:r>
              <a:rPr lang="en-US" dirty="0" err="1"/>
              <a:t>datoteke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volumene</a:t>
            </a:r>
            <a:r>
              <a:rPr lang="en-US" dirty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kontrolu</a:t>
            </a:r>
            <a:r>
              <a:rPr lang="en-US" dirty="0"/>
              <a:t> </a:t>
            </a:r>
            <a:r>
              <a:rPr lang="en-US" dirty="0" err="1"/>
              <a:t>pristupa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dozvole</a:t>
            </a:r>
            <a:r>
              <a:rPr lang="en-US" dirty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/>
              <a:t>journaling, koji </a:t>
            </a:r>
            <a:r>
              <a:rPr lang="en-US" dirty="0" err="1"/>
              <a:t>omogućava</a:t>
            </a:r>
            <a:r>
              <a:rPr lang="en-US" dirty="0"/>
              <a:t> </a:t>
            </a:r>
            <a:r>
              <a:rPr lang="en-US" dirty="0" err="1"/>
              <a:t>oporavak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 </a:t>
            </a:r>
            <a:r>
              <a:rPr lang="en-US" dirty="0" err="1"/>
              <a:t>nakon</a:t>
            </a:r>
            <a:r>
              <a:rPr lang="en-US" dirty="0"/>
              <a:t> </a:t>
            </a:r>
            <a:r>
              <a:rPr lang="en-US" dirty="0" err="1"/>
              <a:t>greške</a:t>
            </a:r>
            <a:r>
              <a:rPr lang="en-US" dirty="0"/>
              <a:t>;</a:t>
            </a:r>
          </a:p>
          <a:p>
            <a:pPr marL="171450" indent="-171450">
              <a:buFont typeface="Arial" panose="020B0604020202020204" pitchFamily="34" charset="0"/>
              <a:buChar char="•"/>
            </a:pPr>
            <a:r>
              <a:rPr lang="en-US" dirty="0" err="1"/>
              <a:t>enkripciju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kompresiju</a:t>
            </a:r>
            <a:r>
              <a:rPr lang="en-US" dirty="0"/>
              <a:t> </a:t>
            </a:r>
            <a:r>
              <a:rPr lang="en-US" dirty="0" err="1"/>
              <a:t>podataka</a:t>
            </a:r>
            <a:r>
              <a:rPr lang="en-US" dirty="0"/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 err="1"/>
              <a:t>Zbog</a:t>
            </a:r>
            <a:r>
              <a:rPr lang="en-US" dirty="0"/>
              <a:t> toga </a:t>
            </a:r>
            <a:r>
              <a:rPr lang="en-US" dirty="0" err="1"/>
              <a:t>ima</a:t>
            </a:r>
            <a:r>
              <a:rPr lang="en-US" dirty="0"/>
              <a:t> </a:t>
            </a:r>
            <a:r>
              <a:rPr lang="en-US" dirty="0" err="1"/>
              <a:t>znatno</a:t>
            </a:r>
            <a:r>
              <a:rPr lang="en-US" dirty="0"/>
              <a:t> </a:t>
            </a:r>
            <a:r>
              <a:rPr lang="en-US" dirty="0" err="1"/>
              <a:t>veći</a:t>
            </a:r>
            <a:r>
              <a:rPr lang="en-US" dirty="0"/>
              <a:t> </a:t>
            </a:r>
            <a:r>
              <a:rPr lang="en-US" dirty="0" err="1"/>
              <a:t>forenzički</a:t>
            </a:r>
            <a:r>
              <a:rPr lang="en-US" dirty="0"/>
              <a:t> </a:t>
            </a:r>
            <a:r>
              <a:rPr lang="en-US" dirty="0" err="1"/>
              <a:t>značaj</a:t>
            </a:r>
            <a:r>
              <a:rPr lang="en-US" dirty="0"/>
              <a:t> u </a:t>
            </a:r>
            <a:r>
              <a:rPr lang="en-US" dirty="0" err="1"/>
              <a:t>odnosu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FAT</a:t>
            </a:r>
            <a:endParaRPr lang="sr-Latn-RS" dirty="0"/>
          </a:p>
          <a:p>
            <a:endParaRPr lang="sr-Latn-R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66DA8CF-2F25-86DB-7B76-919B86906EB7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15159819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6844AA5-5D8E-CEE4-F50E-55E7810E2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0001949-EB46-3302-B8EF-E31B1DA6905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20E119F-4F42-7608-7EF4-A8B218F253B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FAT (FAT32) </a:t>
            </a:r>
            <a:r>
              <a:rPr lang="en-US" dirty="0" err="1"/>
              <a:t>i</a:t>
            </a:r>
            <a:r>
              <a:rPr lang="en-US" dirty="0"/>
              <a:t> NTFS </a:t>
            </a:r>
            <a:r>
              <a:rPr lang="en-US" dirty="0" err="1"/>
              <a:t>predstavljaju</a:t>
            </a:r>
            <a:r>
              <a:rPr lang="en-US" dirty="0"/>
              <a:t> </a:t>
            </a:r>
            <a:r>
              <a:rPr lang="en-US" dirty="0" err="1"/>
              <a:t>dva</a:t>
            </a:r>
            <a:r>
              <a:rPr lang="en-US" dirty="0"/>
              <a:t> </a:t>
            </a:r>
            <a:r>
              <a:rPr lang="en-US" dirty="0" err="1"/>
              <a:t>fundamentalno</a:t>
            </a:r>
            <a:r>
              <a:rPr lang="en-US" dirty="0"/>
              <a:t> </a:t>
            </a:r>
            <a:r>
              <a:rPr lang="en-US" dirty="0" err="1"/>
              <a:t>različita</a:t>
            </a:r>
            <a:r>
              <a:rPr lang="en-US" dirty="0"/>
              <a:t> </a:t>
            </a:r>
            <a:r>
              <a:rPr lang="en-US" dirty="0" err="1"/>
              <a:t>pristupa</a:t>
            </a:r>
            <a:r>
              <a:rPr lang="en-US" dirty="0"/>
              <a:t> </a:t>
            </a:r>
            <a:r>
              <a:rPr lang="en-US" dirty="0" err="1"/>
              <a:t>organizaciji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upravljanju</a:t>
            </a:r>
            <a:r>
              <a:rPr lang="en-US" dirty="0"/>
              <a:t> </a:t>
            </a:r>
            <a:r>
              <a:rPr lang="en-US" dirty="0" err="1"/>
              <a:t>podacima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storage </a:t>
            </a:r>
            <a:r>
              <a:rPr lang="en-US" dirty="0" err="1"/>
              <a:t>medijumima</a:t>
            </a:r>
            <a:r>
              <a:rPr lang="en-US" dirty="0"/>
              <a:t>. </a:t>
            </a:r>
            <a:r>
              <a:rPr lang="en-US" dirty="0" err="1"/>
              <a:t>Iako</a:t>
            </a:r>
            <a:r>
              <a:rPr lang="en-US" dirty="0"/>
              <a:t> oba </a:t>
            </a:r>
            <a:r>
              <a:rPr lang="en-US" dirty="0" err="1"/>
              <a:t>sistema</a:t>
            </a:r>
            <a:r>
              <a:rPr lang="en-US" dirty="0"/>
              <a:t> </a:t>
            </a:r>
            <a:r>
              <a:rPr lang="en-US" dirty="0" err="1"/>
              <a:t>imaju</a:t>
            </a:r>
            <a:r>
              <a:rPr lang="en-US" dirty="0"/>
              <a:t> </a:t>
            </a:r>
            <a:r>
              <a:rPr lang="en-US" dirty="0" err="1"/>
              <a:t>istu</a:t>
            </a:r>
            <a:r>
              <a:rPr lang="en-US" dirty="0"/>
              <a:t> </a:t>
            </a:r>
            <a:r>
              <a:rPr lang="en-US" dirty="0" err="1"/>
              <a:t>osnovnu</a:t>
            </a:r>
            <a:r>
              <a:rPr lang="en-US" dirty="0"/>
              <a:t> </a:t>
            </a:r>
            <a:r>
              <a:rPr lang="en-US" dirty="0" err="1"/>
              <a:t>ulogu</a:t>
            </a:r>
            <a:r>
              <a:rPr lang="en-US" dirty="0"/>
              <a:t> – </a:t>
            </a:r>
            <a:r>
              <a:rPr lang="en-US" dirty="0" err="1"/>
              <a:t>skladištenje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pristup</a:t>
            </a:r>
            <a:r>
              <a:rPr lang="en-US" dirty="0"/>
              <a:t> </a:t>
            </a:r>
            <a:r>
              <a:rPr lang="en-US" dirty="0" err="1"/>
              <a:t>podacima</a:t>
            </a:r>
            <a:r>
              <a:rPr lang="en-US" dirty="0"/>
              <a:t> – </a:t>
            </a:r>
            <a:r>
              <a:rPr lang="en-US" dirty="0" err="1"/>
              <a:t>njihove</a:t>
            </a:r>
            <a:r>
              <a:rPr lang="en-US" dirty="0"/>
              <a:t> </a:t>
            </a:r>
            <a:r>
              <a:rPr lang="en-US" dirty="0" err="1"/>
              <a:t>unutrašnje</a:t>
            </a:r>
            <a:r>
              <a:rPr lang="en-US" dirty="0"/>
              <a:t> </a:t>
            </a:r>
            <a:r>
              <a:rPr lang="en-US" dirty="0" err="1"/>
              <a:t>strukture</a:t>
            </a:r>
            <a:r>
              <a:rPr lang="en-US" dirty="0"/>
              <a:t>, </a:t>
            </a:r>
            <a:r>
              <a:rPr lang="en-US" dirty="0" err="1"/>
              <a:t>bezbednosni</a:t>
            </a:r>
            <a:r>
              <a:rPr lang="en-US" dirty="0"/>
              <a:t> </a:t>
            </a:r>
            <a:r>
              <a:rPr lang="en-US" dirty="0" err="1"/>
              <a:t>mehanizmi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način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koji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njima</a:t>
            </a:r>
            <a:r>
              <a:rPr lang="en-US" dirty="0"/>
              <a:t> </a:t>
            </a:r>
            <a:r>
              <a:rPr lang="en-US" dirty="0" err="1"/>
              <a:t>upravlja</a:t>
            </a:r>
            <a:r>
              <a:rPr lang="en-US" dirty="0"/>
              <a:t> </a:t>
            </a:r>
            <a:r>
              <a:rPr lang="en-US" dirty="0" err="1"/>
              <a:t>značajno</a:t>
            </a:r>
            <a:r>
              <a:rPr lang="en-US" dirty="0"/>
              <a:t> se </a:t>
            </a:r>
            <a:r>
              <a:rPr lang="en-US" dirty="0" err="1"/>
              <a:t>razlikuju</a:t>
            </a:r>
            <a:r>
              <a:rPr lang="en-US" dirty="0"/>
              <a:t>. Ove </a:t>
            </a:r>
            <a:r>
              <a:rPr lang="en-US" dirty="0" err="1"/>
              <a:t>razlike</a:t>
            </a:r>
            <a:r>
              <a:rPr lang="en-US" dirty="0"/>
              <a:t> </a:t>
            </a:r>
            <a:r>
              <a:rPr lang="en-US" dirty="0" err="1"/>
              <a:t>imaju</a:t>
            </a:r>
            <a:r>
              <a:rPr lang="en-US" dirty="0"/>
              <a:t> </a:t>
            </a:r>
            <a:r>
              <a:rPr lang="en-US" dirty="0" err="1"/>
              <a:t>direktan</a:t>
            </a:r>
            <a:r>
              <a:rPr lang="en-US" dirty="0"/>
              <a:t> </a:t>
            </a:r>
            <a:r>
              <a:rPr lang="en-US" dirty="0" err="1"/>
              <a:t>uticaj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rezultate</a:t>
            </a:r>
            <a:r>
              <a:rPr lang="en-US" dirty="0"/>
              <a:t> </a:t>
            </a:r>
            <a:r>
              <a:rPr lang="en-US" dirty="0" err="1"/>
              <a:t>forenzičke</a:t>
            </a:r>
            <a:r>
              <a:rPr lang="en-US" dirty="0"/>
              <a:t> </a:t>
            </a:r>
            <a:r>
              <a:rPr lang="en-US" dirty="0" err="1"/>
              <a:t>analize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ponašanje</a:t>
            </a:r>
            <a:r>
              <a:rPr lang="en-US" dirty="0"/>
              <a:t> </a:t>
            </a:r>
            <a:r>
              <a:rPr lang="en-US" dirty="0" err="1"/>
              <a:t>operativnog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 </a:t>
            </a:r>
            <a:r>
              <a:rPr lang="en-US" dirty="0" err="1"/>
              <a:t>prilikom</a:t>
            </a:r>
            <a:r>
              <a:rPr lang="en-US" dirty="0"/>
              <a:t> </a:t>
            </a:r>
            <a:r>
              <a:rPr lang="en-US" dirty="0" err="1"/>
              <a:t>manipulacije</a:t>
            </a:r>
            <a:r>
              <a:rPr lang="en-US" dirty="0"/>
              <a:t> </a:t>
            </a:r>
            <a:r>
              <a:rPr lang="en-US" dirty="0" err="1"/>
              <a:t>particijama</a:t>
            </a:r>
            <a:r>
              <a:rPr lang="en-US" dirty="0"/>
              <a:t>. U </a:t>
            </a:r>
            <a:r>
              <a:rPr lang="en-US" dirty="0" err="1"/>
              <a:t>Tabeli</a:t>
            </a:r>
            <a:r>
              <a:rPr lang="en-US" dirty="0"/>
              <a:t> 2 </a:t>
            </a:r>
            <a:r>
              <a:rPr lang="en-US" dirty="0" err="1"/>
              <a:t>dat</a:t>
            </a:r>
            <a:r>
              <a:rPr lang="en-US" dirty="0"/>
              <a:t> je </a:t>
            </a:r>
            <a:r>
              <a:rPr lang="en-US" dirty="0" err="1"/>
              <a:t>uporedni</a:t>
            </a:r>
            <a:r>
              <a:rPr lang="en-US" dirty="0"/>
              <a:t> </a:t>
            </a:r>
            <a:r>
              <a:rPr lang="en-US" dirty="0" err="1"/>
              <a:t>prikaz</a:t>
            </a:r>
            <a:r>
              <a:rPr lang="en-US" dirty="0"/>
              <a:t> </a:t>
            </a:r>
            <a:r>
              <a:rPr lang="en-US" dirty="0" err="1"/>
              <a:t>osnovnih</a:t>
            </a:r>
            <a:r>
              <a:rPr lang="en-US" dirty="0"/>
              <a:t> </a:t>
            </a:r>
            <a:r>
              <a:rPr lang="en-US" dirty="0" err="1"/>
              <a:t>karakteristika</a:t>
            </a:r>
            <a:r>
              <a:rPr lang="en-US" dirty="0"/>
              <a:t> ova </a:t>
            </a:r>
            <a:r>
              <a:rPr lang="en-US" dirty="0" err="1"/>
              <a:t>dva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, </a:t>
            </a:r>
            <a:r>
              <a:rPr lang="en-US" dirty="0" err="1"/>
              <a:t>čije</a:t>
            </a:r>
            <a:r>
              <a:rPr lang="en-US" dirty="0"/>
              <a:t> je </a:t>
            </a:r>
            <a:r>
              <a:rPr lang="en-US" dirty="0" err="1"/>
              <a:t>ponašanje</a:t>
            </a:r>
            <a:r>
              <a:rPr lang="en-US" dirty="0"/>
              <a:t> </a:t>
            </a:r>
            <a:r>
              <a:rPr lang="en-US" dirty="0" err="1"/>
              <a:t>dodatno</a:t>
            </a:r>
            <a:r>
              <a:rPr lang="en-US" dirty="0"/>
              <a:t> </a:t>
            </a:r>
            <a:r>
              <a:rPr lang="en-US" dirty="0" err="1"/>
              <a:t>analizirano</a:t>
            </a:r>
            <a:r>
              <a:rPr lang="en-US" dirty="0"/>
              <a:t> u </a:t>
            </a:r>
            <a:r>
              <a:rPr lang="en-US" dirty="0" err="1"/>
              <a:t>praktičnom</a:t>
            </a:r>
            <a:r>
              <a:rPr lang="en-US" dirty="0"/>
              <a:t> </a:t>
            </a:r>
            <a:r>
              <a:rPr lang="en-US" dirty="0" err="1"/>
              <a:t>delu</a:t>
            </a:r>
            <a:r>
              <a:rPr lang="en-US" dirty="0"/>
              <a:t> rada.</a:t>
            </a:r>
            <a:endParaRPr lang="sr-Latn-RS" dirty="0"/>
          </a:p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50FF588-A5F7-9170-D5A5-FC60372ED6F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2268096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Cilj</a:t>
            </a:r>
            <a:r>
              <a:rPr lang="en-US" dirty="0"/>
              <a:t> </a:t>
            </a:r>
            <a:r>
              <a:rPr lang="en-US" dirty="0" err="1"/>
              <a:t>eksperimenta</a:t>
            </a:r>
            <a:r>
              <a:rPr lang="en-US" dirty="0"/>
              <a:t> bio je da se </a:t>
            </a:r>
            <a:r>
              <a:rPr lang="en-US" dirty="0" err="1"/>
              <a:t>proveri</a:t>
            </a:r>
            <a:r>
              <a:rPr lang="en-US" dirty="0"/>
              <a:t> da li je </a:t>
            </a:r>
            <a:r>
              <a:rPr lang="en-US" dirty="0" err="1"/>
              <a:t>moguće</a:t>
            </a:r>
            <a:r>
              <a:rPr lang="en-US" dirty="0"/>
              <a:t> </a:t>
            </a:r>
            <a:r>
              <a:rPr lang="en-US" dirty="0" err="1"/>
              <a:t>sakriti</a:t>
            </a:r>
            <a:r>
              <a:rPr lang="en-US" dirty="0"/>
              <a:t> </a:t>
            </a:r>
            <a:r>
              <a:rPr lang="en-US" dirty="0" err="1"/>
              <a:t>particiju</a:t>
            </a:r>
            <a:r>
              <a:rPr lang="en-US" dirty="0"/>
              <a:t> </a:t>
            </a:r>
            <a:r>
              <a:rPr lang="en-US" dirty="0" err="1"/>
              <a:t>direktnom</a:t>
            </a:r>
            <a:r>
              <a:rPr lang="en-US" dirty="0"/>
              <a:t> </a:t>
            </a:r>
            <a:r>
              <a:rPr lang="en-US" dirty="0" err="1"/>
              <a:t>izmenom</a:t>
            </a:r>
            <a:r>
              <a:rPr lang="en-US" dirty="0"/>
              <a:t> MBR </a:t>
            </a:r>
            <a:r>
              <a:rPr lang="en-US" dirty="0" err="1"/>
              <a:t>particione</a:t>
            </a:r>
            <a:r>
              <a:rPr lang="en-US" dirty="0"/>
              <a:t> </a:t>
            </a:r>
            <a:r>
              <a:rPr lang="en-US" dirty="0" err="1"/>
              <a:t>tabele</a:t>
            </a:r>
            <a:r>
              <a:rPr lang="en-US" dirty="0"/>
              <a:t>. </a:t>
            </a:r>
            <a:r>
              <a:rPr lang="en-US" dirty="0" err="1"/>
              <a:t>Eksperiment</a:t>
            </a:r>
            <a:r>
              <a:rPr lang="en-US" dirty="0"/>
              <a:t> je </a:t>
            </a:r>
            <a:r>
              <a:rPr lang="en-US" dirty="0" err="1"/>
              <a:t>izveden</a:t>
            </a:r>
            <a:r>
              <a:rPr lang="en-US" dirty="0"/>
              <a:t> u </a:t>
            </a:r>
            <a:r>
              <a:rPr lang="en-US" dirty="0" err="1"/>
              <a:t>više</a:t>
            </a:r>
            <a:r>
              <a:rPr lang="en-US" dirty="0"/>
              <a:t> Windows </a:t>
            </a:r>
            <a:r>
              <a:rPr lang="en-US" dirty="0" err="1"/>
              <a:t>okruženja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različitim</a:t>
            </a:r>
            <a:r>
              <a:rPr lang="en-US" dirty="0"/>
              <a:t> </a:t>
            </a:r>
            <a:r>
              <a:rPr lang="en-US" dirty="0" err="1"/>
              <a:t>tipovima</a:t>
            </a:r>
            <a:r>
              <a:rPr lang="en-US" dirty="0"/>
              <a:t> </a:t>
            </a:r>
            <a:r>
              <a:rPr lang="en-US" dirty="0" err="1"/>
              <a:t>uređaja</a:t>
            </a:r>
            <a:r>
              <a:rPr lang="en-US" dirty="0"/>
              <a:t>, </a:t>
            </a:r>
            <a:r>
              <a:rPr lang="en-US" dirty="0" err="1"/>
              <a:t>uz</a:t>
            </a:r>
            <a:r>
              <a:rPr lang="en-US" dirty="0"/>
              <a:t> </a:t>
            </a:r>
            <a:r>
              <a:rPr lang="en-US" dirty="0" err="1"/>
              <a:t>obavezno</a:t>
            </a:r>
            <a:r>
              <a:rPr lang="en-US" dirty="0"/>
              <a:t> </a:t>
            </a:r>
            <a:r>
              <a:rPr lang="en-US" dirty="0" err="1"/>
              <a:t>kreiranje</a:t>
            </a:r>
            <a:r>
              <a:rPr lang="en-US" dirty="0"/>
              <a:t> backup-a pre </a:t>
            </a:r>
            <a:r>
              <a:rPr lang="en-US" dirty="0" err="1"/>
              <a:t>svake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sr-Latn-RS" dirty="0"/>
              <a:t>z</a:t>
            </a:r>
            <a:r>
              <a:rPr lang="en-US" dirty="0" err="1"/>
              <a:t>mene</a:t>
            </a:r>
            <a:endParaRPr lang="en-US" dirty="0"/>
          </a:p>
          <a:p>
            <a:endParaRPr lang="en-US" dirty="0"/>
          </a:p>
          <a:p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 ovom delu rada prikazan je postupak sakrivanja particije tvrdog diska, sa posebnim fokusom na NTFS 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datotečni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sistem. Eksperiment je realizovan u kontrolisanom okruženju, korišćenjem operativnog sistema Windows 11, koji predstavlja savremeni operativni sistem sa unapređenim bezbednosnim mehanizmima.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Sakrivanje particije realizovano je na dva različita načina: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direktnom izmenom struktura diska pomoću </a:t>
            </a:r>
            <a:r>
              <a:rPr lang="sr-Latn-RS" sz="1200" b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HeX</a:t>
            </a:r>
            <a:r>
              <a:rPr lang="sr-Latn-R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editora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pPr lvl="0"/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korišćenjem </a:t>
            </a:r>
            <a:r>
              <a:rPr lang="sr-Latn-RS" sz="1200" b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programa razvijenog u programskom jeziku C/C++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koji automatski izvršava potrebne izmene.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Cilj ovog dela rada je da se pokaže kako se manipulacijom </a:t>
            </a:r>
            <a:r>
              <a:rPr lang="sr-Latn-R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low-level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struktura diska može uticati na vidljivost particija u operativnom sistemu, kao i da se identifikuju ograničenja savremenih operativnih sistema u odnosu na starije verzije.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84041934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sr-Latn-R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HxD</a:t>
            </a:r>
            <a:r>
              <a:rPr lang="sr-Latn-R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r-Latn-R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heksadecimalni</a:t>
            </a:r>
            <a:r>
              <a:rPr lang="sr-Latn-R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editor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predstavlja alat koji omogućava direktan pristup RAW podacima na fizičkom disku, nezavisno od operativnog sistema i 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datotečnog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sistema. 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HxD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omogućava pregled i izmenu sadržaja diska na bajt-nivou, uključujući i sektore koji nisu vidljivi korisniku.</a:t>
            </a:r>
            <a:r>
              <a:rPr lang="en-US" dirty="0"/>
              <a:t> </a:t>
            </a:r>
            <a:r>
              <a:rPr lang="en-US" dirty="0" err="1"/>
              <a:t>Promenom</a:t>
            </a:r>
            <a:r>
              <a:rPr lang="en-US" dirty="0"/>
              <a:t> </a:t>
            </a:r>
            <a:r>
              <a:rPr lang="en-US" dirty="0" err="1"/>
              <a:t>karakteristike</a:t>
            </a:r>
            <a:r>
              <a:rPr lang="en-US" dirty="0"/>
              <a:t> </a:t>
            </a:r>
            <a:r>
              <a:rPr lang="en-US" dirty="0" err="1"/>
              <a:t>particije</a:t>
            </a:r>
            <a:r>
              <a:rPr lang="en-US" dirty="0"/>
              <a:t> </a:t>
            </a:r>
            <a:r>
              <a:rPr lang="en-US" dirty="0" err="1"/>
              <a:t>moguće</a:t>
            </a:r>
            <a:r>
              <a:rPr lang="en-US" dirty="0"/>
              <a:t> je </a:t>
            </a:r>
            <a:r>
              <a:rPr lang="en-US" dirty="0" err="1"/>
              <a:t>učiniti</a:t>
            </a:r>
            <a:r>
              <a:rPr lang="en-US" dirty="0"/>
              <a:t> da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više</a:t>
            </a:r>
            <a:r>
              <a:rPr lang="en-US" dirty="0"/>
              <a:t> ne </a:t>
            </a:r>
            <a:r>
              <a:rPr lang="en-US" dirty="0" err="1"/>
              <a:t>prikazuje</a:t>
            </a:r>
            <a:r>
              <a:rPr lang="en-US" dirty="0"/>
              <a:t> </a:t>
            </a:r>
            <a:r>
              <a:rPr lang="en-US" dirty="0" err="1"/>
              <a:t>particiju</a:t>
            </a:r>
            <a:r>
              <a:rPr lang="en-US" dirty="0"/>
              <a:t> u File Explorer-u, </a:t>
            </a:r>
            <a:r>
              <a:rPr lang="en-US" dirty="0" err="1"/>
              <a:t>iako</a:t>
            </a:r>
            <a:r>
              <a:rPr lang="en-US" dirty="0"/>
              <a:t> </a:t>
            </a:r>
            <a:r>
              <a:rPr lang="en-US" dirty="0" err="1"/>
              <a:t>ona</a:t>
            </a:r>
            <a:r>
              <a:rPr lang="en-US" dirty="0"/>
              <a:t> </a:t>
            </a:r>
            <a:r>
              <a:rPr lang="en-US" dirty="0" err="1"/>
              <a:t>fizički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dalje</a:t>
            </a:r>
            <a:r>
              <a:rPr lang="en-US" dirty="0"/>
              <a:t> </a:t>
            </a:r>
            <a:r>
              <a:rPr lang="en-US" dirty="0" err="1"/>
              <a:t>postoji</a:t>
            </a:r>
            <a:r>
              <a:rPr lang="en-US" dirty="0"/>
              <a:t>.</a:t>
            </a:r>
            <a:endParaRPr lang="sr-Latn-R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 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HxD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pokrenut sa administratorskim privilegijama, kako bi bio omogućen direktan pristup fizičkom disku. </a:t>
            </a:r>
            <a:endParaRPr lang="sr-Latn-RS" dirty="0"/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 izvođenja bilo kakvih izmena nad </a:t>
            </a:r>
            <a:r>
              <a:rPr lang="sr-Latn-RS" sz="1200" i="1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low-level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strukturama diska, neophodno je izvršiti izrada rezervne kopije (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backup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relevantnih podataka. Direktna manipulacija RAW sektorima diska, uključujući izmene Master 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Boot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Record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-a i </a:t>
            </a:r>
            <a:r>
              <a:rPr lang="sr-Latn-R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particione</a:t>
            </a:r>
            <a:r>
              <a:rPr lang="sr-Latn-R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tabele, nosi rizik od gubitka podataka ili neispravnog rada sistema u slučaju greške.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 typeface="Arial" panose="020B0604020202020204" pitchFamily="34" charset="0"/>
              <a:buChar char="•"/>
              <a:tabLst/>
              <a:defRPr/>
            </a:pP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opsegu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od 0x1BE do 0x1FD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nalazi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particiona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(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Master Partition Table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sadrži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zapise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o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karakteristikama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okviru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particionog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unosa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koji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odgovara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NTFS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Maxtor (E:),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adresi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0x1E2,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izvršena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vrednosti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Partition Type.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Standardna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vrednost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0x07,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označava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NTFS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zamenjena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vrednošću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0x17,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predstavlja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oznaku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skrivenu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NTFS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7396025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F8DB593-8544-11EA-62E5-C6C0435C42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8F802D5C-0386-2F74-AB8B-A02176C8241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506BB986-C1DD-1A8F-BACB-CEBB6731F15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 MBR </a:t>
            </a:r>
            <a:r>
              <a:rPr lang="en-US" dirty="0" err="1"/>
              <a:t>particionoj</a:t>
            </a:r>
            <a:r>
              <a:rPr lang="en-US" dirty="0"/>
              <a:t> </a:t>
            </a:r>
            <a:r>
              <a:rPr lang="en-US" dirty="0" err="1"/>
              <a:t>tabeli</a:t>
            </a:r>
            <a:r>
              <a:rPr lang="en-US" dirty="0"/>
              <a:t> </a:t>
            </a:r>
            <a:r>
              <a:rPr lang="en-US" dirty="0" err="1"/>
              <a:t>svaka</a:t>
            </a:r>
            <a:r>
              <a:rPr lang="en-US" dirty="0"/>
              <a:t> </a:t>
            </a:r>
            <a:r>
              <a:rPr lang="en-US" dirty="0" err="1"/>
              <a:t>particija</a:t>
            </a:r>
            <a:r>
              <a:rPr lang="en-US" dirty="0"/>
              <a:t> </a:t>
            </a:r>
            <a:r>
              <a:rPr lang="en-US" dirty="0" err="1"/>
              <a:t>ima</a:t>
            </a:r>
            <a:r>
              <a:rPr lang="en-US" dirty="0"/>
              <a:t> polje </a:t>
            </a:r>
            <a:r>
              <a:rPr lang="en-US" dirty="0" err="1"/>
              <a:t>koje</a:t>
            </a:r>
            <a:r>
              <a:rPr lang="en-US" dirty="0"/>
              <a:t> </a:t>
            </a:r>
            <a:r>
              <a:rPr lang="en-US" dirty="0" err="1"/>
              <a:t>definiše</a:t>
            </a:r>
            <a:r>
              <a:rPr lang="en-US" dirty="0"/>
              <a:t> </a:t>
            </a:r>
            <a:r>
              <a:rPr lang="en-US" dirty="0" err="1"/>
              <a:t>njen</a:t>
            </a:r>
            <a:r>
              <a:rPr lang="en-US" dirty="0"/>
              <a:t> tip.</a:t>
            </a:r>
            <a:r>
              <a:rPr lang="sr-Latn-RS" dirty="0"/>
              <a:t> To sam objašnjavala na 7.slajdu.</a:t>
            </a:r>
            <a:r>
              <a:rPr lang="en-US" dirty="0"/>
              <a:t> </a:t>
            </a:r>
            <a:r>
              <a:rPr lang="en-US" dirty="0" err="1"/>
              <a:t>Kod</a:t>
            </a:r>
            <a:r>
              <a:rPr lang="en-US" dirty="0"/>
              <a:t> NTFS </a:t>
            </a:r>
            <a:r>
              <a:rPr lang="en-US" dirty="0" err="1"/>
              <a:t>particija</a:t>
            </a:r>
            <a:r>
              <a:rPr lang="en-US" dirty="0"/>
              <a:t> ta </a:t>
            </a:r>
            <a:r>
              <a:rPr lang="en-US" dirty="0" err="1"/>
              <a:t>vrednost</a:t>
            </a:r>
            <a:r>
              <a:rPr lang="en-US" dirty="0"/>
              <a:t> je 0x07. </a:t>
            </a:r>
            <a:r>
              <a:rPr lang="en-US" dirty="0" err="1"/>
              <a:t>Promenom</a:t>
            </a:r>
            <a:r>
              <a:rPr lang="en-US" dirty="0"/>
              <a:t> </a:t>
            </a:r>
            <a:r>
              <a:rPr lang="en-US" dirty="0" err="1"/>
              <a:t>te</a:t>
            </a:r>
            <a:r>
              <a:rPr lang="en-US" dirty="0"/>
              <a:t> </a:t>
            </a:r>
            <a:r>
              <a:rPr lang="en-US" dirty="0" err="1"/>
              <a:t>vrednosti</a:t>
            </a:r>
            <a:r>
              <a:rPr lang="en-US" dirty="0"/>
              <a:t> u 0x17, </a:t>
            </a:r>
            <a:r>
              <a:rPr lang="en-US" dirty="0" err="1"/>
              <a:t>particija</a:t>
            </a:r>
            <a:r>
              <a:rPr lang="en-US" dirty="0"/>
              <a:t> se </a:t>
            </a:r>
            <a:r>
              <a:rPr lang="en-US" dirty="0" err="1"/>
              <a:t>označava</a:t>
            </a:r>
            <a:r>
              <a:rPr lang="en-US" dirty="0"/>
              <a:t> </a:t>
            </a:r>
            <a:r>
              <a:rPr lang="en-US" dirty="0" err="1"/>
              <a:t>kao</a:t>
            </a:r>
            <a:r>
              <a:rPr lang="en-US" dirty="0"/>
              <a:t> </a:t>
            </a:r>
            <a:r>
              <a:rPr lang="en-US" dirty="0" err="1"/>
              <a:t>skrivena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dovodi</a:t>
            </a:r>
            <a:r>
              <a:rPr lang="en-US" dirty="0"/>
              <a:t> do toga da je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ne </a:t>
            </a:r>
            <a:r>
              <a:rPr lang="en-US" dirty="0" err="1"/>
              <a:t>montira</a:t>
            </a:r>
            <a:r>
              <a:rPr lang="en-US" dirty="0"/>
              <a:t> u File Explorer-u.</a:t>
            </a:r>
            <a:endParaRPr lang="sr-Latn-RS" dirty="0"/>
          </a:p>
          <a:p>
            <a:endParaRPr lang="sr-Latn-RS" dirty="0"/>
          </a:p>
          <a:p>
            <a:r>
              <a:rPr lang="en-US" dirty="0"/>
              <a:t>Ova </a:t>
            </a:r>
            <a:r>
              <a:rPr lang="en-US" dirty="0" err="1"/>
              <a:t>izmena</a:t>
            </a:r>
            <a:r>
              <a:rPr lang="en-US" dirty="0"/>
              <a:t> ne </a:t>
            </a:r>
            <a:r>
              <a:rPr lang="en-US" dirty="0" err="1"/>
              <a:t>briše</a:t>
            </a:r>
            <a:r>
              <a:rPr lang="en-US" dirty="0"/>
              <a:t> </a:t>
            </a:r>
            <a:r>
              <a:rPr lang="en-US" dirty="0" err="1"/>
              <a:t>podatke</a:t>
            </a:r>
            <a:r>
              <a:rPr lang="en-US" dirty="0"/>
              <a:t>, </a:t>
            </a:r>
            <a:r>
              <a:rPr lang="en-US" dirty="0" err="1"/>
              <a:t>već</a:t>
            </a:r>
            <a:r>
              <a:rPr lang="en-US" dirty="0"/>
              <a:t> </a:t>
            </a:r>
            <a:r>
              <a:rPr lang="en-US" dirty="0" err="1"/>
              <a:t>menja</a:t>
            </a:r>
            <a:r>
              <a:rPr lang="en-US" dirty="0"/>
              <a:t> </a:t>
            </a:r>
            <a:r>
              <a:rPr lang="en-US" dirty="0" err="1"/>
              <a:t>način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koji </a:t>
            </a:r>
            <a:r>
              <a:rPr lang="en-US" dirty="0" err="1"/>
              <a:t>ih</a:t>
            </a:r>
            <a:r>
              <a:rPr lang="en-US" dirty="0"/>
              <a:t>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</a:t>
            </a:r>
            <a:r>
              <a:rPr lang="en-US" dirty="0"/>
              <a:t> </a:t>
            </a:r>
            <a:r>
              <a:rPr lang="en-US" dirty="0" err="1"/>
              <a:t>interpretira</a:t>
            </a:r>
            <a:r>
              <a:rPr lang="en-US" dirty="0"/>
              <a:t>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0D434AF-AE2A-BBCE-2B04-7521CECF2B63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25948774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734474D-368D-27ED-86B0-060930CBCB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25D70EF-9ADE-E9A7-400A-5EDACC89D13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353A31C7-3C4C-8816-20BE-0EC8E848ECD6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Na </a:t>
            </a:r>
            <a:r>
              <a:rPr lang="en-US" dirty="0" err="1"/>
              <a:t>levoj</a:t>
            </a:r>
            <a:r>
              <a:rPr lang="en-US" dirty="0"/>
              <a:t> </a:t>
            </a:r>
            <a:r>
              <a:rPr lang="en-US" dirty="0" err="1"/>
              <a:t>strani</a:t>
            </a:r>
            <a:r>
              <a:rPr lang="en-US" dirty="0"/>
              <a:t> se </a:t>
            </a:r>
            <a:r>
              <a:rPr lang="en-US" dirty="0" err="1"/>
              <a:t>vidi</a:t>
            </a:r>
            <a:r>
              <a:rPr lang="en-US" dirty="0"/>
              <a:t> </a:t>
            </a:r>
            <a:r>
              <a:rPr lang="en-US" dirty="0" err="1"/>
              <a:t>stanje</a:t>
            </a:r>
            <a:r>
              <a:rPr lang="en-US" dirty="0"/>
              <a:t> pre </a:t>
            </a:r>
            <a:r>
              <a:rPr lang="en-US" dirty="0" err="1"/>
              <a:t>izmene</a:t>
            </a:r>
            <a:r>
              <a:rPr lang="en-US" dirty="0"/>
              <a:t>, </a:t>
            </a:r>
            <a:r>
              <a:rPr lang="en-US" dirty="0" err="1"/>
              <a:t>gde</a:t>
            </a:r>
            <a:r>
              <a:rPr lang="en-US" dirty="0"/>
              <a:t> je </a:t>
            </a:r>
            <a:r>
              <a:rPr lang="en-US" dirty="0" err="1"/>
              <a:t>particija</a:t>
            </a:r>
            <a:r>
              <a:rPr lang="en-US" dirty="0"/>
              <a:t> </a:t>
            </a:r>
            <a:r>
              <a:rPr lang="en-US" dirty="0" err="1"/>
              <a:t>normalno</a:t>
            </a:r>
            <a:r>
              <a:rPr lang="en-US" dirty="0"/>
              <a:t> </a:t>
            </a:r>
            <a:r>
              <a:rPr lang="en-US" dirty="0" err="1"/>
              <a:t>dostupna</a:t>
            </a:r>
            <a:r>
              <a:rPr lang="en-US" dirty="0"/>
              <a:t> </a:t>
            </a:r>
            <a:r>
              <a:rPr lang="en-US" dirty="0" err="1"/>
              <a:t>korisniku</a:t>
            </a:r>
            <a:r>
              <a:rPr lang="en-US" dirty="0"/>
              <a:t>. </a:t>
            </a:r>
            <a:r>
              <a:rPr lang="en-US" dirty="0" err="1"/>
              <a:t>Nakon</a:t>
            </a:r>
            <a:r>
              <a:rPr lang="en-US" dirty="0"/>
              <a:t> </a:t>
            </a:r>
            <a:r>
              <a:rPr lang="en-US" dirty="0" err="1"/>
              <a:t>promene</a:t>
            </a:r>
            <a:r>
              <a:rPr lang="en-US" dirty="0"/>
              <a:t> Partition Type </a:t>
            </a:r>
            <a:r>
              <a:rPr lang="en-US" dirty="0" err="1"/>
              <a:t>vrednosti</a:t>
            </a:r>
            <a:r>
              <a:rPr lang="en-US" dirty="0"/>
              <a:t> u MBR-u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restarta</a:t>
            </a:r>
            <a:r>
              <a:rPr lang="en-US" dirty="0"/>
              <a:t> </a:t>
            </a:r>
            <a:r>
              <a:rPr lang="en-US" dirty="0" err="1"/>
              <a:t>sistema</a:t>
            </a:r>
            <a:r>
              <a:rPr lang="en-US" dirty="0"/>
              <a:t>, </a:t>
            </a:r>
            <a:r>
              <a:rPr lang="en-US" dirty="0" err="1"/>
              <a:t>particija</a:t>
            </a:r>
            <a:r>
              <a:rPr lang="en-US" dirty="0"/>
              <a:t> </a:t>
            </a:r>
            <a:r>
              <a:rPr lang="en-US" dirty="0" err="1"/>
              <a:t>više</a:t>
            </a:r>
            <a:r>
              <a:rPr lang="en-US" dirty="0"/>
              <a:t> </a:t>
            </a:r>
            <a:r>
              <a:rPr lang="en-US" dirty="0" err="1"/>
              <a:t>nije</a:t>
            </a:r>
            <a:r>
              <a:rPr lang="en-US" dirty="0"/>
              <a:t> </a:t>
            </a:r>
            <a:r>
              <a:rPr lang="en-US" dirty="0" err="1"/>
              <a:t>prikazana</a:t>
            </a:r>
            <a:r>
              <a:rPr lang="en-US" dirty="0"/>
              <a:t> u File Explorer-u </a:t>
            </a:r>
            <a:r>
              <a:rPr lang="en-US" dirty="0" err="1"/>
              <a:t>ali</a:t>
            </a:r>
            <a:r>
              <a:rPr lang="en-US" dirty="0"/>
              <a:t> je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dalje</a:t>
            </a:r>
            <a:r>
              <a:rPr lang="en-US" dirty="0"/>
              <a:t> </a:t>
            </a:r>
            <a:r>
              <a:rPr lang="en-US" dirty="0" err="1"/>
              <a:t>prisutna</a:t>
            </a:r>
            <a:r>
              <a:rPr lang="en-US" dirty="0"/>
              <a:t> u Disk Management </a:t>
            </a:r>
            <a:r>
              <a:rPr lang="en-US" dirty="0" err="1"/>
              <a:t>alatu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ED1C31AD-A77A-3D27-1E7B-CF4F0B578D6C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7204437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Glavni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cilj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razvijenog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jeste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automatizacija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postupka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sakrivanja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NTFS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koji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prethodno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realizovan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manuelno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pomoću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heksadecimalnog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editora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Program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omogućava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prikaz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boot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sektora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nakon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izvršene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promenu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karakteristike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NTFS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tipa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Master Boot Record-u. Na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ovaj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način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obezbeđena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automatizovana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kontrolisana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realizacija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postupka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sakrivanja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sr-Latn-R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okviru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programske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implementacije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posebna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pažnja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posvećena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bezbednosti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podataka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Program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automatski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kreira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poseban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direktorijum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za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rezervne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kopije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okviru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kojeg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čuva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backup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originalnog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pre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izvođenja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bilo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kakvih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Na taj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način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obezbeđena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mogućnost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povratka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prethodno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slučaju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greške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tokom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izvršavanja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programa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endParaRPr lang="sr-Latn-RS" dirty="0"/>
          </a:p>
          <a:p>
            <a:r>
              <a:rPr lang="en-US" dirty="0"/>
              <a:t>Program pored same </a:t>
            </a:r>
            <a:r>
              <a:rPr lang="en-US" dirty="0" err="1"/>
              <a:t>izmene</a:t>
            </a:r>
            <a:r>
              <a:rPr lang="en-US" dirty="0"/>
              <a:t> MBR </a:t>
            </a:r>
            <a:r>
              <a:rPr lang="en-US" dirty="0" err="1"/>
              <a:t>zapisa</a:t>
            </a:r>
            <a:r>
              <a:rPr lang="en-US" dirty="0"/>
              <a:t> </a:t>
            </a:r>
            <a:r>
              <a:rPr lang="en-US" dirty="0" err="1"/>
              <a:t>najpre</a:t>
            </a:r>
            <a:r>
              <a:rPr lang="en-US" dirty="0"/>
              <a:t> </a:t>
            </a:r>
            <a:r>
              <a:rPr lang="en-US" dirty="0" err="1"/>
              <a:t>kreira</a:t>
            </a:r>
            <a:r>
              <a:rPr lang="en-US" dirty="0"/>
              <a:t> </a:t>
            </a:r>
            <a:r>
              <a:rPr lang="en-US" dirty="0" err="1"/>
              <a:t>rezervnu</a:t>
            </a:r>
            <a:r>
              <a:rPr lang="en-US" dirty="0"/>
              <a:t> </a:t>
            </a:r>
            <a:r>
              <a:rPr lang="en-US" dirty="0" err="1"/>
              <a:t>kopiju</a:t>
            </a:r>
            <a:r>
              <a:rPr lang="en-US" dirty="0"/>
              <a:t> boot </a:t>
            </a:r>
            <a:r>
              <a:rPr lang="en-US" dirty="0" err="1"/>
              <a:t>sektora</a:t>
            </a:r>
            <a:r>
              <a:rPr lang="en-US" dirty="0"/>
              <a:t>, </a:t>
            </a:r>
            <a:r>
              <a:rPr lang="en-US" dirty="0" err="1"/>
              <a:t>čime</a:t>
            </a:r>
            <a:r>
              <a:rPr lang="en-US" dirty="0"/>
              <a:t> se </a:t>
            </a:r>
            <a:r>
              <a:rPr lang="en-US" dirty="0" err="1"/>
              <a:t>obezbeđuje</a:t>
            </a:r>
            <a:r>
              <a:rPr lang="en-US" dirty="0"/>
              <a:t> </a:t>
            </a:r>
            <a:r>
              <a:rPr lang="en-US" dirty="0" err="1"/>
              <a:t>mogućnost</a:t>
            </a:r>
            <a:r>
              <a:rPr lang="en-US" dirty="0"/>
              <a:t> </a:t>
            </a:r>
            <a:r>
              <a:rPr lang="sr-Latn-RS" dirty="0"/>
              <a:t>po</a:t>
            </a:r>
            <a:r>
              <a:rPr lang="en-US" dirty="0" err="1"/>
              <a:t>vraćaja</a:t>
            </a:r>
            <a:r>
              <a:rPr lang="en-US" dirty="0"/>
              <a:t> </a:t>
            </a:r>
            <a:r>
              <a:rPr lang="en-US" dirty="0" err="1"/>
              <a:t>originalnog</a:t>
            </a:r>
            <a:r>
              <a:rPr lang="en-US" dirty="0"/>
              <a:t> </a:t>
            </a:r>
            <a:r>
              <a:rPr lang="en-US" dirty="0" err="1"/>
              <a:t>stanja</a:t>
            </a:r>
            <a:r>
              <a:rPr lang="en-US" dirty="0"/>
              <a:t>. </a:t>
            </a:r>
            <a:r>
              <a:rPr lang="en-US" dirty="0" err="1"/>
              <a:t>Ovakav</a:t>
            </a:r>
            <a:r>
              <a:rPr lang="en-US" dirty="0"/>
              <a:t> </a:t>
            </a:r>
            <a:r>
              <a:rPr lang="en-US" dirty="0" err="1"/>
              <a:t>pristup</a:t>
            </a:r>
            <a:r>
              <a:rPr lang="en-US" dirty="0"/>
              <a:t> je u </a:t>
            </a:r>
            <a:r>
              <a:rPr lang="en-US" dirty="0" err="1"/>
              <a:t>skladu</a:t>
            </a:r>
            <a:r>
              <a:rPr lang="en-US" dirty="0"/>
              <a:t> </a:t>
            </a:r>
            <a:r>
              <a:rPr lang="en-US" dirty="0" err="1"/>
              <a:t>sa</a:t>
            </a:r>
            <a:r>
              <a:rPr lang="en-US" dirty="0"/>
              <a:t> </a:t>
            </a:r>
            <a:r>
              <a:rPr lang="en-US" dirty="0" err="1"/>
              <a:t>osnovnim</a:t>
            </a:r>
            <a:r>
              <a:rPr lang="en-US" dirty="0"/>
              <a:t> </a:t>
            </a:r>
            <a:r>
              <a:rPr lang="en-US" dirty="0" err="1"/>
              <a:t>principima</a:t>
            </a:r>
            <a:r>
              <a:rPr lang="en-US" dirty="0"/>
              <a:t> </a:t>
            </a:r>
            <a:r>
              <a:rPr lang="en-US" dirty="0" err="1"/>
              <a:t>digitalne</a:t>
            </a:r>
            <a:r>
              <a:rPr lang="en-US" dirty="0"/>
              <a:t> </a:t>
            </a:r>
            <a:r>
              <a:rPr lang="en-US" dirty="0" err="1"/>
              <a:t>forenzike</a:t>
            </a:r>
            <a:r>
              <a:rPr lang="en-US" dirty="0"/>
              <a:t>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101043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Razvijeni</a:t>
            </a:r>
            <a:r>
              <a:rPr lang="en-US" dirty="0"/>
              <a:t> program </a:t>
            </a:r>
            <a:r>
              <a:rPr lang="en-US" dirty="0" err="1"/>
              <a:t>funkcionalno</a:t>
            </a:r>
            <a:r>
              <a:rPr lang="en-US" dirty="0"/>
              <a:t> </a:t>
            </a:r>
            <a:r>
              <a:rPr lang="en-US" dirty="0" err="1"/>
              <a:t>replicira</a:t>
            </a:r>
            <a:r>
              <a:rPr lang="en-US" dirty="0"/>
              <a:t> </a:t>
            </a:r>
            <a:r>
              <a:rPr lang="en-US" dirty="0" err="1"/>
              <a:t>postupak</a:t>
            </a:r>
            <a:r>
              <a:rPr lang="en-US" dirty="0"/>
              <a:t> koji se </a:t>
            </a:r>
            <a:r>
              <a:rPr lang="en-US" dirty="0" err="1"/>
              <a:t>izvodi</a:t>
            </a:r>
            <a:r>
              <a:rPr lang="en-US" dirty="0"/>
              <a:t> </a:t>
            </a:r>
            <a:r>
              <a:rPr lang="en-US" dirty="0" err="1"/>
              <a:t>heksadecimalnim</a:t>
            </a:r>
            <a:r>
              <a:rPr lang="en-US" dirty="0"/>
              <a:t> </a:t>
            </a:r>
            <a:r>
              <a:rPr lang="en-US" dirty="0" err="1"/>
              <a:t>editorom</a:t>
            </a:r>
            <a:r>
              <a:rPr lang="en-US" dirty="0"/>
              <a:t>, </a:t>
            </a:r>
            <a:r>
              <a:rPr lang="en-US" dirty="0" err="1"/>
              <a:t>ali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kontrolisan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ponovljiv</a:t>
            </a:r>
            <a:r>
              <a:rPr lang="en-US" dirty="0"/>
              <a:t> </a:t>
            </a:r>
            <a:r>
              <a:rPr lang="en-US" dirty="0" err="1"/>
              <a:t>način</a:t>
            </a:r>
            <a:r>
              <a:rPr lang="en-US" dirty="0"/>
              <a:t>. Program </a:t>
            </a:r>
            <a:r>
              <a:rPr lang="en-US" dirty="0" err="1"/>
              <a:t>direktno</a:t>
            </a:r>
            <a:r>
              <a:rPr lang="en-US" dirty="0"/>
              <a:t> </a:t>
            </a:r>
            <a:r>
              <a:rPr lang="en-US" dirty="0" err="1"/>
              <a:t>pristupa</a:t>
            </a:r>
            <a:r>
              <a:rPr lang="en-US" dirty="0"/>
              <a:t> </a:t>
            </a:r>
            <a:r>
              <a:rPr lang="en-US" dirty="0" err="1"/>
              <a:t>fizičkom</a:t>
            </a:r>
            <a:r>
              <a:rPr lang="en-US" dirty="0"/>
              <a:t> </a:t>
            </a:r>
            <a:r>
              <a:rPr lang="en-US" dirty="0" err="1"/>
              <a:t>disku</a:t>
            </a:r>
            <a:r>
              <a:rPr lang="en-US" dirty="0"/>
              <a:t>, </a:t>
            </a:r>
            <a:r>
              <a:rPr lang="en-US" dirty="0" err="1"/>
              <a:t>očitava</a:t>
            </a:r>
            <a:r>
              <a:rPr lang="en-US" dirty="0"/>
              <a:t> MBR </a:t>
            </a:r>
            <a:r>
              <a:rPr lang="en-US" dirty="0" err="1"/>
              <a:t>sektor</a:t>
            </a:r>
            <a:r>
              <a:rPr lang="en-US" dirty="0"/>
              <a:t>, </a:t>
            </a:r>
            <a:r>
              <a:rPr lang="en-US" dirty="0" err="1"/>
              <a:t>kreira</a:t>
            </a:r>
            <a:r>
              <a:rPr lang="en-US" dirty="0"/>
              <a:t> </a:t>
            </a:r>
            <a:r>
              <a:rPr lang="en-US" dirty="0" err="1"/>
              <a:t>rezervnu</a:t>
            </a:r>
            <a:r>
              <a:rPr lang="en-US" dirty="0"/>
              <a:t> </a:t>
            </a:r>
            <a:r>
              <a:rPr lang="en-US" dirty="0" err="1"/>
              <a:t>kopiju</a:t>
            </a:r>
            <a:r>
              <a:rPr lang="en-US" dirty="0"/>
              <a:t>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zatim</a:t>
            </a:r>
            <a:r>
              <a:rPr lang="en-US" dirty="0"/>
              <a:t> </a:t>
            </a:r>
            <a:r>
              <a:rPr lang="en-US" dirty="0" err="1"/>
              <a:t>menja</a:t>
            </a:r>
            <a:r>
              <a:rPr lang="en-US" dirty="0"/>
              <a:t> </a:t>
            </a:r>
            <a:r>
              <a:rPr lang="en-US" dirty="0" err="1"/>
              <a:t>karakteristiku</a:t>
            </a:r>
            <a:r>
              <a:rPr lang="en-US" dirty="0"/>
              <a:t> </a:t>
            </a:r>
            <a:r>
              <a:rPr lang="en-US" dirty="0" err="1"/>
              <a:t>particije</a:t>
            </a:r>
            <a:r>
              <a:rPr lang="en-US" dirty="0"/>
              <a:t> u MBR </a:t>
            </a:r>
            <a:r>
              <a:rPr lang="en-US" dirty="0" err="1"/>
              <a:t>tabeli</a:t>
            </a:r>
            <a:r>
              <a:rPr lang="en-US" dirty="0"/>
              <a:t>. </a:t>
            </a:r>
            <a:r>
              <a:rPr lang="en-US" dirty="0" err="1"/>
              <a:t>Izmena</a:t>
            </a:r>
            <a:r>
              <a:rPr lang="en-US" dirty="0"/>
              <a:t> se </a:t>
            </a:r>
            <a:r>
              <a:rPr lang="en-US" dirty="0" err="1"/>
              <a:t>vrši</a:t>
            </a:r>
            <a:r>
              <a:rPr lang="en-US" dirty="0"/>
              <a:t> </a:t>
            </a:r>
            <a:r>
              <a:rPr lang="en-US" dirty="0" err="1"/>
              <a:t>isključivo</a:t>
            </a:r>
            <a:r>
              <a:rPr lang="en-US" dirty="0"/>
              <a:t> </a:t>
            </a:r>
            <a:r>
              <a:rPr lang="en-US" dirty="0" err="1"/>
              <a:t>uz</a:t>
            </a:r>
            <a:r>
              <a:rPr lang="en-US" dirty="0"/>
              <a:t> </a:t>
            </a:r>
            <a:r>
              <a:rPr lang="en-US" dirty="0" err="1"/>
              <a:t>administratorske</a:t>
            </a:r>
            <a:r>
              <a:rPr lang="en-US" dirty="0"/>
              <a:t> </a:t>
            </a:r>
            <a:r>
              <a:rPr lang="en-US" dirty="0" err="1"/>
              <a:t>privilegije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12549454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EBCD6E0-256D-FA85-5227-2381137DCA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610BC9CB-4F7B-64A2-088D-DC18F9C2D98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1681B4B-8921-F928-B9D7-0870626A9D7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dirty="0"/>
              <a:t>Na </a:t>
            </a:r>
            <a:r>
              <a:rPr lang="en-US" dirty="0" err="1"/>
              <a:t>levoj</a:t>
            </a:r>
            <a:r>
              <a:rPr lang="en-US" dirty="0"/>
              <a:t> </a:t>
            </a:r>
            <a:r>
              <a:rPr lang="en-US" dirty="0" err="1"/>
              <a:t>strani</a:t>
            </a:r>
            <a:r>
              <a:rPr lang="en-US" dirty="0"/>
              <a:t> se </a:t>
            </a:r>
            <a:r>
              <a:rPr lang="en-US" dirty="0" err="1"/>
              <a:t>vidi</a:t>
            </a:r>
            <a:r>
              <a:rPr lang="en-US" dirty="0"/>
              <a:t> </a:t>
            </a:r>
            <a:r>
              <a:rPr lang="en-US" dirty="0" err="1"/>
              <a:t>stanje</a:t>
            </a:r>
            <a:r>
              <a:rPr lang="en-US" dirty="0"/>
              <a:t> pre </a:t>
            </a:r>
            <a:r>
              <a:rPr lang="en-US" dirty="0" err="1"/>
              <a:t>izmene</a:t>
            </a:r>
            <a:r>
              <a:rPr lang="sr-Latn-RS" dirty="0"/>
              <a:t>, a na desnoj promenu </a:t>
            </a:r>
            <a:r>
              <a:rPr lang="en-US" dirty="0"/>
              <a:t>Partition Type </a:t>
            </a:r>
            <a:r>
              <a:rPr lang="sr-Latn-RS" dirty="0"/>
              <a:t>.</a:t>
            </a:r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68C6EF6-7EF3-2021-BA44-A3DA9515B36F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21086666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 err="1"/>
              <a:t>Iako</a:t>
            </a:r>
            <a:r>
              <a:rPr lang="en-US" dirty="0"/>
              <a:t> je </a:t>
            </a:r>
            <a:r>
              <a:rPr lang="en-US" dirty="0" err="1"/>
              <a:t>izmena</a:t>
            </a:r>
            <a:r>
              <a:rPr lang="en-US" dirty="0"/>
              <a:t> MBR </a:t>
            </a:r>
            <a:r>
              <a:rPr lang="en-US" dirty="0" err="1"/>
              <a:t>particione</a:t>
            </a:r>
            <a:r>
              <a:rPr lang="en-US" dirty="0"/>
              <a:t> </a:t>
            </a:r>
            <a:r>
              <a:rPr lang="en-US" dirty="0" err="1"/>
              <a:t>tabele</a:t>
            </a:r>
            <a:r>
              <a:rPr lang="en-US" dirty="0"/>
              <a:t> </a:t>
            </a:r>
            <a:r>
              <a:rPr lang="en-US" dirty="0" err="1"/>
              <a:t>izvršena</a:t>
            </a:r>
            <a:r>
              <a:rPr lang="en-US" dirty="0"/>
              <a:t> </a:t>
            </a:r>
            <a:r>
              <a:rPr lang="en-US" dirty="0" err="1"/>
              <a:t>korektno</a:t>
            </a:r>
            <a:r>
              <a:rPr lang="en-US" dirty="0"/>
              <a:t>, </a:t>
            </a:r>
            <a:r>
              <a:rPr lang="en-US" dirty="0" err="1"/>
              <a:t>savremeni</a:t>
            </a:r>
            <a:r>
              <a:rPr lang="en-US" dirty="0"/>
              <a:t> Windows </a:t>
            </a:r>
            <a:r>
              <a:rPr lang="en-US" dirty="0" err="1"/>
              <a:t>operativni</a:t>
            </a:r>
            <a:r>
              <a:rPr lang="en-US" dirty="0"/>
              <a:t> </a:t>
            </a:r>
            <a:r>
              <a:rPr lang="en-US" dirty="0" err="1"/>
              <a:t>sistemi</a:t>
            </a:r>
            <a:r>
              <a:rPr lang="en-US" dirty="0"/>
              <a:t> </a:t>
            </a:r>
            <a:r>
              <a:rPr lang="en-US" dirty="0" err="1"/>
              <a:t>imaju</a:t>
            </a:r>
            <a:r>
              <a:rPr lang="en-US" dirty="0"/>
              <a:t> </a:t>
            </a:r>
            <a:r>
              <a:rPr lang="en-US" dirty="0" err="1"/>
              <a:t>dodatne</a:t>
            </a:r>
            <a:r>
              <a:rPr lang="en-US" dirty="0"/>
              <a:t> </a:t>
            </a:r>
            <a:r>
              <a:rPr lang="en-US" dirty="0" err="1"/>
              <a:t>mehanizme</a:t>
            </a:r>
            <a:r>
              <a:rPr lang="en-US" dirty="0"/>
              <a:t> koji </a:t>
            </a:r>
            <a:r>
              <a:rPr lang="en-US" dirty="0" err="1"/>
              <a:t>utiču</a:t>
            </a:r>
            <a:r>
              <a:rPr lang="en-US" dirty="0"/>
              <a:t> </a:t>
            </a:r>
            <a:r>
              <a:rPr lang="en-US" dirty="0" err="1"/>
              <a:t>na</a:t>
            </a:r>
            <a:r>
              <a:rPr lang="en-US" dirty="0"/>
              <a:t> </a:t>
            </a:r>
            <a:r>
              <a:rPr lang="en-US" dirty="0" err="1"/>
              <a:t>vidljivost</a:t>
            </a:r>
            <a:r>
              <a:rPr lang="en-US" dirty="0"/>
              <a:t> </a:t>
            </a:r>
            <a:r>
              <a:rPr lang="en-US" dirty="0" err="1"/>
              <a:t>particija</a:t>
            </a:r>
            <a:r>
              <a:rPr lang="en-US" dirty="0"/>
              <a:t>. </a:t>
            </a:r>
            <a:r>
              <a:rPr lang="en-US" dirty="0" err="1"/>
              <a:t>Posebno</a:t>
            </a:r>
            <a:r>
              <a:rPr lang="en-US" dirty="0"/>
              <a:t> </a:t>
            </a:r>
            <a:r>
              <a:rPr lang="en-US" dirty="0" err="1"/>
              <a:t>kod</a:t>
            </a:r>
            <a:r>
              <a:rPr lang="en-US" dirty="0"/>
              <a:t> removable media </a:t>
            </a:r>
            <a:r>
              <a:rPr lang="en-US" dirty="0" err="1"/>
              <a:t>uređaja</a:t>
            </a:r>
            <a:r>
              <a:rPr lang="en-US" dirty="0"/>
              <a:t>, Windows </a:t>
            </a:r>
            <a:r>
              <a:rPr lang="en-US" dirty="0" err="1"/>
              <a:t>ignoriše</a:t>
            </a:r>
            <a:r>
              <a:rPr lang="en-US" dirty="0"/>
              <a:t> hidden partition type </a:t>
            </a:r>
            <a:r>
              <a:rPr lang="en-US" dirty="0" err="1"/>
              <a:t>i</a:t>
            </a:r>
            <a:r>
              <a:rPr lang="en-US" dirty="0"/>
              <a:t> </a:t>
            </a:r>
            <a:r>
              <a:rPr lang="en-US" dirty="0" err="1"/>
              <a:t>automatski</a:t>
            </a:r>
            <a:r>
              <a:rPr lang="en-US" dirty="0"/>
              <a:t> </a:t>
            </a:r>
            <a:r>
              <a:rPr lang="en-US" dirty="0" err="1"/>
              <a:t>montira</a:t>
            </a:r>
            <a:r>
              <a:rPr lang="en-US" dirty="0"/>
              <a:t> </a:t>
            </a:r>
            <a:r>
              <a:rPr lang="en-US" dirty="0" err="1"/>
              <a:t>particiju</a:t>
            </a:r>
            <a:r>
              <a:rPr lang="en-US" dirty="0"/>
              <a:t>, </a:t>
            </a:r>
            <a:r>
              <a:rPr lang="en-US" dirty="0" err="1"/>
              <a:t>što</a:t>
            </a:r>
            <a:r>
              <a:rPr lang="en-US" dirty="0"/>
              <a:t> </a:t>
            </a:r>
            <a:r>
              <a:rPr lang="en-US" dirty="0" err="1"/>
              <a:t>onemogućava</a:t>
            </a:r>
            <a:r>
              <a:rPr lang="en-US" dirty="0"/>
              <a:t> </a:t>
            </a:r>
            <a:r>
              <a:rPr lang="en-US" dirty="0" err="1"/>
              <a:t>sakrivanje</a:t>
            </a:r>
            <a:r>
              <a:rPr lang="en-US" dirty="0"/>
              <a:t> </a:t>
            </a:r>
            <a:r>
              <a:rPr lang="en-US" dirty="0" err="1"/>
              <a:t>korišćenjem</a:t>
            </a:r>
            <a:r>
              <a:rPr lang="en-US" dirty="0"/>
              <a:t> MBR </a:t>
            </a:r>
            <a:r>
              <a:rPr lang="en-US" dirty="0" err="1"/>
              <a:t>izmene</a:t>
            </a:r>
            <a:r>
              <a:rPr lang="en-US" dirty="0"/>
              <a:t>.</a:t>
            </a:r>
            <a:endParaRPr lang="sr-Latn-RS" dirty="0"/>
          </a:p>
          <a:p>
            <a:endParaRPr lang="sr-Latn-RS" dirty="0"/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Eksperiment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dodatno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sproveden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nad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FAT32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USB flash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uređajima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MBR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particione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izvršena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korektno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promenom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vrednosti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polja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Partition Type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offsetu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450,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gde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heksadecimalna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vrednost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0x0C (FAT32 LBA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)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zamenjuje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vrednošću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0x1C,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označava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skrivenu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FAT32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Ova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predstavlja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ispravnu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standardnu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modifikaciju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zapisa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particionoj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tabeli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Međutim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prilikom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izvođenja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eksperimenta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uočen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niz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ograničenja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onemogućavaju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uspešnu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realizaciju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istog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postupka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savremenim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Windows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operativnim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Na USB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uređajima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Windows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operativni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prepoznaje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removable media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oznaka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skrivene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ignoriše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operativni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automatski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dodeljuje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slovo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diska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zbog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čega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particija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ostaje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vidljiva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File Explorer-u,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uprkos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korektno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izvršenoj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izmeni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MBR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zapisa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</a:t>
            </a:r>
          </a:p>
          <a:p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Kako bi se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proverilo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da li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uočena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ograničenja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posledica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samog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datotečnog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ili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unapređenih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bezbednosnih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mehanizama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operativnog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,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eksperiment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je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dodatno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testiran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virtuelnom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okruženju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i="1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VirtualBox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. U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tu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svrhu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kreirane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su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dve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virtuelne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mašine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operativnim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sistemima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Windows 7 </a:t>
            </a:r>
            <a:r>
              <a:rPr lang="en-US" sz="1200" kern="1200" dirty="0" err="1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i</a:t>
            </a:r>
            <a:r>
              <a:rPr lang="en-US" sz="1200" kern="1200" dirty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Windows XP.</a:t>
            </a:r>
          </a:p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04592753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9066688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DB28AC9-BAD4-472A-9095-C606D319C324}" type="slidenum">
              <a:rPr lang="en-US" smtClean="0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6353959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2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11" name="Group 10"/>
          <p:cNvGrpSpPr/>
          <p:nvPr/>
        </p:nvGrpSpPr>
        <p:grpSpPr>
          <a:xfrm>
            <a:off x="0" y="0"/>
            <a:ext cx="2305051" cy="6858001"/>
            <a:chOff x="0" y="0"/>
            <a:chExt cx="2305051" cy="6858001"/>
          </a:xfrm>
          <a:gradFill flip="none" rotWithShape="1">
            <a:gsLst>
              <a:gs pos="0">
                <a:schemeClr val="tx2"/>
              </a:gs>
              <a:gs pos="100000">
                <a:schemeClr val="bg2">
                  <a:lumMod val="60000"/>
                  <a:lumOff val="40000"/>
                </a:schemeClr>
              </a:gs>
            </a:gsLst>
            <a:lin ang="5400000" scaled="0"/>
            <a:tileRect/>
          </a:gradFill>
        </p:grpSpPr>
        <p:sp>
          <p:nvSpPr>
            <p:cNvPr id="12" name="Rectangle 5"/>
            <p:cNvSpPr>
              <a:spLocks noChangeArrowheads="1"/>
            </p:cNvSpPr>
            <p:nvPr/>
          </p:nvSpPr>
          <p:spPr bwMode="auto">
            <a:xfrm>
              <a:off x="1209675" y="4763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3" name="Freeform 6"/>
            <p:cNvSpPr>
              <a:spLocks noEditPoints="1"/>
            </p:cNvSpPr>
            <p:nvPr/>
          </p:nvSpPr>
          <p:spPr bwMode="auto">
            <a:xfrm>
              <a:off x="1128713" y="21764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4" name="Freeform 7"/>
            <p:cNvSpPr>
              <a:spLocks noEditPoints="1"/>
            </p:cNvSpPr>
            <p:nvPr/>
          </p:nvSpPr>
          <p:spPr bwMode="auto">
            <a:xfrm>
              <a:off x="1123950" y="4021138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5" name="Rectangle 8"/>
            <p:cNvSpPr>
              <a:spLocks noChangeArrowheads="1"/>
            </p:cNvSpPr>
            <p:nvPr/>
          </p:nvSpPr>
          <p:spPr bwMode="auto">
            <a:xfrm>
              <a:off x="414338" y="9525"/>
              <a:ext cx="28575" cy="4481513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16" name="Freeform 9"/>
            <p:cNvSpPr>
              <a:spLocks noEditPoints="1"/>
            </p:cNvSpPr>
            <p:nvPr/>
          </p:nvSpPr>
          <p:spPr bwMode="auto">
            <a:xfrm>
              <a:off x="333375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7" name="Freeform 10"/>
            <p:cNvSpPr/>
            <p:nvPr/>
          </p:nvSpPr>
          <p:spPr bwMode="auto">
            <a:xfrm>
              <a:off x="190500" y="9525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66"/>
                  </a:lnTo>
                  <a:lnTo>
                    <a:pt x="81" y="380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3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8" name="Freeform 11"/>
            <p:cNvSpPr/>
            <p:nvPr/>
          </p:nvSpPr>
          <p:spPr bwMode="auto">
            <a:xfrm>
              <a:off x="1290638" y="14288"/>
              <a:ext cx="376238" cy="1801813"/>
            </a:xfrm>
            <a:custGeom>
              <a:avLst/>
              <a:gdLst/>
              <a:ahLst/>
              <a:cxnLst/>
              <a:rect l="0" t="0" r="r" b="b"/>
              <a:pathLst>
                <a:path w="237" h="1135">
                  <a:moveTo>
                    <a:pt x="222" y="1135"/>
                  </a:moveTo>
                  <a:lnTo>
                    <a:pt x="0" y="620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17"/>
                  </a:lnTo>
                  <a:lnTo>
                    <a:pt x="237" y="1129"/>
                  </a:lnTo>
                  <a:lnTo>
                    <a:pt x="222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19" name="Freeform 12"/>
            <p:cNvSpPr>
              <a:spLocks noEditPoints="1"/>
            </p:cNvSpPr>
            <p:nvPr/>
          </p:nvSpPr>
          <p:spPr bwMode="auto">
            <a:xfrm>
              <a:off x="1600200" y="180181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0" name="Freeform 13"/>
            <p:cNvSpPr/>
            <p:nvPr/>
          </p:nvSpPr>
          <p:spPr bwMode="auto">
            <a:xfrm>
              <a:off x="1381125" y="9525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219" y="898"/>
                  </a:moveTo>
                  <a:lnTo>
                    <a:pt x="0" y="3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380"/>
                  </a:lnTo>
                  <a:lnTo>
                    <a:pt x="234" y="892"/>
                  </a:lnTo>
                  <a:lnTo>
                    <a:pt x="219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1" name="Freeform 14"/>
            <p:cNvSpPr/>
            <p:nvPr/>
          </p:nvSpPr>
          <p:spPr bwMode="auto">
            <a:xfrm>
              <a:off x="1643063" y="0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96" y="575"/>
                  </a:moveTo>
                  <a:lnTo>
                    <a:pt x="78" y="575"/>
                  </a:lnTo>
                  <a:lnTo>
                    <a:pt x="78" y="192"/>
                  </a:lnTo>
                  <a:lnTo>
                    <a:pt x="0" y="6"/>
                  </a:lnTo>
                  <a:lnTo>
                    <a:pt x="15" y="0"/>
                  </a:lnTo>
                  <a:lnTo>
                    <a:pt x="96" y="189"/>
                  </a:lnTo>
                  <a:lnTo>
                    <a:pt x="96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2" name="Freeform 15"/>
            <p:cNvSpPr>
              <a:spLocks noEditPoints="1"/>
            </p:cNvSpPr>
            <p:nvPr/>
          </p:nvSpPr>
          <p:spPr bwMode="auto">
            <a:xfrm>
              <a:off x="1685925" y="14208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3" name="Freeform 16"/>
            <p:cNvSpPr>
              <a:spLocks noEditPoints="1"/>
            </p:cNvSpPr>
            <p:nvPr/>
          </p:nvSpPr>
          <p:spPr bwMode="auto">
            <a:xfrm>
              <a:off x="168592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4" name="Freeform 17"/>
            <p:cNvSpPr/>
            <p:nvPr/>
          </p:nvSpPr>
          <p:spPr bwMode="auto">
            <a:xfrm>
              <a:off x="1743075" y="4763"/>
              <a:ext cx="419100" cy="522288"/>
            </a:xfrm>
            <a:custGeom>
              <a:avLst/>
              <a:gdLst/>
              <a:ahLst/>
              <a:cxnLst/>
              <a:rect l="0" t="0" r="r" b="b"/>
              <a:pathLst>
                <a:path w="264" h="329">
                  <a:moveTo>
                    <a:pt x="252" y="329"/>
                  </a:moveTo>
                  <a:lnTo>
                    <a:pt x="45" y="120"/>
                  </a:lnTo>
                  <a:lnTo>
                    <a:pt x="0" y="6"/>
                  </a:lnTo>
                  <a:lnTo>
                    <a:pt x="15" y="0"/>
                  </a:lnTo>
                  <a:lnTo>
                    <a:pt x="60" y="111"/>
                  </a:lnTo>
                  <a:lnTo>
                    <a:pt x="264" y="317"/>
                  </a:lnTo>
                  <a:lnTo>
                    <a:pt x="252" y="32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5" name="Freeform 18"/>
            <p:cNvSpPr>
              <a:spLocks noEditPoints="1"/>
            </p:cNvSpPr>
            <p:nvPr/>
          </p:nvSpPr>
          <p:spPr bwMode="auto">
            <a:xfrm>
              <a:off x="2119313" y="488950"/>
              <a:ext cx="161925" cy="147638"/>
            </a:xfrm>
            <a:custGeom>
              <a:avLst/>
              <a:gdLst/>
              <a:ahLst/>
              <a:cxnLst/>
              <a:rect l="0" t="0" r="r" b="b"/>
              <a:pathLst>
                <a:path w="34" h="31">
                  <a:moveTo>
                    <a:pt x="17" y="31"/>
                  </a:moveTo>
                  <a:cubicBezTo>
                    <a:pt x="13" y="31"/>
                    <a:pt x="9" y="30"/>
                    <a:pt x="6" y="27"/>
                  </a:cubicBezTo>
                  <a:cubicBezTo>
                    <a:pt x="0" y="20"/>
                    <a:pt x="0" y="10"/>
                    <a:pt x="6" y="4"/>
                  </a:cubicBezTo>
                  <a:cubicBezTo>
                    <a:pt x="9" y="1"/>
                    <a:pt x="13" y="0"/>
                    <a:pt x="17" y="0"/>
                  </a:cubicBezTo>
                  <a:cubicBezTo>
                    <a:pt x="21" y="0"/>
                    <a:pt x="25" y="1"/>
                    <a:pt x="28" y="4"/>
                  </a:cubicBezTo>
                  <a:cubicBezTo>
                    <a:pt x="34" y="10"/>
                    <a:pt x="34" y="20"/>
                    <a:pt x="28" y="27"/>
                  </a:cubicBezTo>
                  <a:cubicBezTo>
                    <a:pt x="25" y="30"/>
                    <a:pt x="21" y="31"/>
                    <a:pt x="17" y="31"/>
                  </a:cubicBezTo>
                  <a:close/>
                  <a:moveTo>
                    <a:pt x="17" y="4"/>
                  </a:moveTo>
                  <a:cubicBezTo>
                    <a:pt x="14" y="4"/>
                    <a:pt x="11" y="5"/>
                    <a:pt x="9" y="7"/>
                  </a:cubicBezTo>
                  <a:cubicBezTo>
                    <a:pt x="4" y="12"/>
                    <a:pt x="4" y="19"/>
                    <a:pt x="9" y="24"/>
                  </a:cubicBezTo>
                  <a:cubicBezTo>
                    <a:pt x="11" y="26"/>
                    <a:pt x="14" y="27"/>
                    <a:pt x="17" y="27"/>
                  </a:cubicBezTo>
                  <a:cubicBezTo>
                    <a:pt x="20" y="27"/>
                    <a:pt x="23" y="26"/>
                    <a:pt x="25" y="24"/>
                  </a:cubicBezTo>
                  <a:cubicBezTo>
                    <a:pt x="30" y="19"/>
                    <a:pt x="30" y="12"/>
                    <a:pt x="25" y="7"/>
                  </a:cubicBezTo>
                  <a:cubicBezTo>
                    <a:pt x="23" y="5"/>
                    <a:pt x="20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6" name="Freeform 19"/>
            <p:cNvSpPr/>
            <p:nvPr/>
          </p:nvSpPr>
          <p:spPr bwMode="auto">
            <a:xfrm>
              <a:off x="952500" y="4763"/>
              <a:ext cx="152400" cy="908050"/>
            </a:xfrm>
            <a:custGeom>
              <a:avLst/>
              <a:gdLst/>
              <a:ahLst/>
              <a:cxnLst/>
              <a:rect l="0" t="0" r="r" b="b"/>
              <a:pathLst>
                <a:path w="96" h="572">
                  <a:moveTo>
                    <a:pt x="15" y="572"/>
                  </a:moveTo>
                  <a:lnTo>
                    <a:pt x="0" y="572"/>
                  </a:lnTo>
                  <a:lnTo>
                    <a:pt x="0" y="189"/>
                  </a:lnTo>
                  <a:lnTo>
                    <a:pt x="81" y="0"/>
                  </a:lnTo>
                  <a:lnTo>
                    <a:pt x="96" y="6"/>
                  </a:lnTo>
                  <a:lnTo>
                    <a:pt x="15" y="192"/>
                  </a:lnTo>
                  <a:lnTo>
                    <a:pt x="15" y="57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7" name="Freeform 20"/>
            <p:cNvSpPr>
              <a:spLocks noEditPoints="1"/>
            </p:cNvSpPr>
            <p:nvPr/>
          </p:nvSpPr>
          <p:spPr bwMode="auto">
            <a:xfrm>
              <a:off x="8667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2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8" name="Freeform 21"/>
            <p:cNvSpPr>
              <a:spLocks noEditPoints="1"/>
            </p:cNvSpPr>
            <p:nvPr/>
          </p:nvSpPr>
          <p:spPr bwMode="auto">
            <a:xfrm>
              <a:off x="890588" y="155416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29" name="Freeform 22"/>
            <p:cNvSpPr/>
            <p:nvPr/>
          </p:nvSpPr>
          <p:spPr bwMode="auto">
            <a:xfrm>
              <a:off x="738188" y="5622925"/>
              <a:ext cx="338138" cy="1216025"/>
            </a:xfrm>
            <a:custGeom>
              <a:avLst/>
              <a:gdLst/>
              <a:ahLst/>
              <a:cxnLst/>
              <a:rect l="0" t="0" r="r" b="b"/>
              <a:pathLst>
                <a:path w="213" h="766">
                  <a:moveTo>
                    <a:pt x="213" y="766"/>
                  </a:moveTo>
                  <a:lnTo>
                    <a:pt x="195" y="766"/>
                  </a:lnTo>
                  <a:lnTo>
                    <a:pt x="195" y="464"/>
                  </a:lnTo>
                  <a:lnTo>
                    <a:pt x="0" y="6"/>
                  </a:lnTo>
                  <a:lnTo>
                    <a:pt x="12" y="0"/>
                  </a:lnTo>
                  <a:lnTo>
                    <a:pt x="213" y="461"/>
                  </a:lnTo>
                  <a:lnTo>
                    <a:pt x="213" y="76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0" name="Freeform 23"/>
            <p:cNvSpPr>
              <a:spLocks noEditPoints="1"/>
            </p:cNvSpPr>
            <p:nvPr/>
          </p:nvSpPr>
          <p:spPr bwMode="auto">
            <a:xfrm>
              <a:off x="647700" y="5480050"/>
              <a:ext cx="157163" cy="157163"/>
            </a:xfrm>
            <a:custGeom>
              <a:avLst/>
              <a:gdLst/>
              <a:ahLst/>
              <a:cxnLst/>
              <a:rect l="0" t="0" r="r" b="b"/>
              <a:pathLst>
                <a:path w="33" h="33">
                  <a:moveTo>
                    <a:pt x="17" y="33"/>
                  </a:moveTo>
                  <a:cubicBezTo>
                    <a:pt x="8" y="33"/>
                    <a:pt x="0" y="26"/>
                    <a:pt x="0" y="17"/>
                  </a:cubicBezTo>
                  <a:cubicBezTo>
                    <a:pt x="0" y="8"/>
                    <a:pt x="8" y="0"/>
                    <a:pt x="17" y="0"/>
                  </a:cubicBezTo>
                  <a:cubicBezTo>
                    <a:pt x="26" y="0"/>
                    <a:pt x="33" y="8"/>
                    <a:pt x="33" y="17"/>
                  </a:cubicBezTo>
                  <a:cubicBezTo>
                    <a:pt x="33" y="26"/>
                    <a:pt x="26" y="33"/>
                    <a:pt x="17" y="33"/>
                  </a:cubicBezTo>
                  <a:close/>
                  <a:moveTo>
                    <a:pt x="17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29"/>
                    <a:pt x="17" y="29"/>
                  </a:cubicBezTo>
                  <a:cubicBezTo>
                    <a:pt x="23" y="29"/>
                    <a:pt x="29" y="24"/>
                    <a:pt x="29" y="17"/>
                  </a:cubicBezTo>
                  <a:cubicBezTo>
                    <a:pt x="29" y="10"/>
                    <a:pt x="23" y="4"/>
                    <a:pt x="17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1" name="Freeform 24"/>
            <p:cNvSpPr>
              <a:spLocks noEditPoints="1"/>
            </p:cNvSpPr>
            <p:nvPr/>
          </p:nvSpPr>
          <p:spPr bwMode="auto">
            <a:xfrm>
              <a:off x="66675" y="9032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2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2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2" name="Freeform 25"/>
            <p:cNvSpPr/>
            <p:nvPr/>
          </p:nvSpPr>
          <p:spPr bwMode="auto">
            <a:xfrm>
              <a:off x="0" y="3897313"/>
              <a:ext cx="133350" cy="266700"/>
            </a:xfrm>
            <a:custGeom>
              <a:avLst/>
              <a:gdLst/>
              <a:ahLst/>
              <a:cxnLst/>
              <a:rect l="0" t="0" r="r" b="b"/>
              <a:pathLst>
                <a:path w="84" h="168">
                  <a:moveTo>
                    <a:pt x="69" y="168"/>
                  </a:moveTo>
                  <a:lnTo>
                    <a:pt x="0" y="6"/>
                  </a:lnTo>
                  <a:lnTo>
                    <a:pt x="12" y="0"/>
                  </a:lnTo>
                  <a:lnTo>
                    <a:pt x="84" y="162"/>
                  </a:lnTo>
                  <a:lnTo>
                    <a:pt x="69" y="16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3" name="Freeform 26"/>
            <p:cNvSpPr>
              <a:spLocks noEditPoints="1"/>
            </p:cNvSpPr>
            <p:nvPr/>
          </p:nvSpPr>
          <p:spPr bwMode="auto">
            <a:xfrm>
              <a:off x="66675" y="414972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4" name="Freeform 27"/>
            <p:cNvSpPr/>
            <p:nvPr/>
          </p:nvSpPr>
          <p:spPr bwMode="auto">
            <a:xfrm>
              <a:off x="0" y="1644650"/>
              <a:ext cx="133350" cy="269875"/>
            </a:xfrm>
            <a:custGeom>
              <a:avLst/>
              <a:gdLst/>
              <a:ahLst/>
              <a:cxnLst/>
              <a:rect l="0" t="0" r="r" b="b"/>
              <a:pathLst>
                <a:path w="84" h="170">
                  <a:moveTo>
                    <a:pt x="12" y="170"/>
                  </a:moveTo>
                  <a:lnTo>
                    <a:pt x="0" y="164"/>
                  </a:lnTo>
                  <a:lnTo>
                    <a:pt x="69" y="0"/>
                  </a:lnTo>
                  <a:lnTo>
                    <a:pt x="84" y="6"/>
                  </a:lnTo>
                  <a:lnTo>
                    <a:pt x="12" y="17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5" name="Freeform 28"/>
            <p:cNvSpPr>
              <a:spLocks noEditPoints="1"/>
            </p:cNvSpPr>
            <p:nvPr/>
          </p:nvSpPr>
          <p:spPr bwMode="auto">
            <a:xfrm>
              <a:off x="66675" y="146843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6" name="Freeform 29"/>
            <p:cNvSpPr/>
            <p:nvPr/>
          </p:nvSpPr>
          <p:spPr bwMode="auto">
            <a:xfrm>
              <a:off x="695325" y="4763"/>
              <a:ext cx="309563" cy="1558925"/>
            </a:xfrm>
            <a:custGeom>
              <a:avLst/>
              <a:gdLst/>
              <a:ahLst/>
              <a:cxnLst/>
              <a:rect l="0" t="0" r="r" b="b"/>
              <a:pathLst>
                <a:path w="195" h="982">
                  <a:moveTo>
                    <a:pt x="195" y="982"/>
                  </a:moveTo>
                  <a:lnTo>
                    <a:pt x="177" y="982"/>
                  </a:lnTo>
                  <a:lnTo>
                    <a:pt x="177" y="805"/>
                  </a:lnTo>
                  <a:lnTo>
                    <a:pt x="0" y="629"/>
                  </a:lnTo>
                  <a:lnTo>
                    <a:pt x="0" y="0"/>
                  </a:lnTo>
                  <a:lnTo>
                    <a:pt x="18" y="0"/>
                  </a:lnTo>
                  <a:lnTo>
                    <a:pt x="18" y="623"/>
                  </a:lnTo>
                  <a:lnTo>
                    <a:pt x="195" y="796"/>
                  </a:lnTo>
                  <a:lnTo>
                    <a:pt x="195" y="98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7" name="Freeform 30"/>
            <p:cNvSpPr>
              <a:spLocks noEditPoints="1"/>
            </p:cNvSpPr>
            <p:nvPr/>
          </p:nvSpPr>
          <p:spPr bwMode="auto">
            <a:xfrm>
              <a:off x="57150" y="48815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8" name="Freeform 31"/>
            <p:cNvSpPr/>
            <p:nvPr/>
          </p:nvSpPr>
          <p:spPr bwMode="auto">
            <a:xfrm>
              <a:off x="138113" y="5060950"/>
              <a:ext cx="304800" cy="1778000"/>
            </a:xfrm>
            <a:custGeom>
              <a:avLst/>
              <a:gdLst/>
              <a:ahLst/>
              <a:cxnLst/>
              <a:rect l="0" t="0" r="r" b="b"/>
              <a:pathLst>
                <a:path w="192" h="1120">
                  <a:moveTo>
                    <a:pt x="192" y="1120"/>
                  </a:moveTo>
                  <a:lnTo>
                    <a:pt x="177" y="1120"/>
                  </a:lnTo>
                  <a:lnTo>
                    <a:pt x="177" y="360"/>
                  </a:lnTo>
                  <a:lnTo>
                    <a:pt x="0" y="183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77"/>
                  </a:lnTo>
                  <a:lnTo>
                    <a:pt x="192" y="354"/>
                  </a:lnTo>
                  <a:lnTo>
                    <a:pt x="192" y="112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39" name="Freeform 32"/>
            <p:cNvSpPr>
              <a:spLocks noEditPoints="1"/>
            </p:cNvSpPr>
            <p:nvPr/>
          </p:nvSpPr>
          <p:spPr bwMode="auto">
            <a:xfrm>
              <a:off x="561975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0" name="Rectangle 33"/>
            <p:cNvSpPr>
              <a:spLocks noChangeArrowheads="1"/>
            </p:cNvSpPr>
            <p:nvPr/>
          </p:nvSpPr>
          <p:spPr bwMode="auto">
            <a:xfrm>
              <a:off x="642938" y="6610350"/>
              <a:ext cx="23813" cy="242888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41" name="Freeform 34"/>
            <p:cNvSpPr>
              <a:spLocks noEditPoints="1"/>
            </p:cNvSpPr>
            <p:nvPr/>
          </p:nvSpPr>
          <p:spPr bwMode="auto">
            <a:xfrm>
              <a:off x="76200" y="6430963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2" y="0"/>
                    <a:pt x="40" y="9"/>
                    <a:pt x="40" y="20"/>
                  </a:cubicBezTo>
                  <a:cubicBezTo>
                    <a:pt x="40" y="31"/>
                    <a:pt x="32" y="40"/>
                    <a:pt x="20" y="40"/>
                  </a:cubicBezTo>
                  <a:close/>
                  <a:moveTo>
                    <a:pt x="20" y="4"/>
                  </a:moveTo>
                  <a:cubicBezTo>
                    <a:pt x="12" y="4"/>
                    <a:pt x="4" y="11"/>
                    <a:pt x="4" y="20"/>
                  </a:cubicBezTo>
                  <a:cubicBezTo>
                    <a:pt x="4" y="29"/>
                    <a:pt x="12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2" name="Freeform 35"/>
            <p:cNvSpPr/>
            <p:nvPr/>
          </p:nvSpPr>
          <p:spPr bwMode="auto">
            <a:xfrm>
              <a:off x="0" y="5978525"/>
              <a:ext cx="190500" cy="461963"/>
            </a:xfrm>
            <a:custGeom>
              <a:avLst/>
              <a:gdLst/>
              <a:ahLst/>
              <a:cxnLst/>
              <a:rect l="0" t="0" r="r" b="b"/>
              <a:pathLst>
                <a:path w="120" h="291">
                  <a:moveTo>
                    <a:pt x="120" y="291"/>
                  </a:moveTo>
                  <a:lnTo>
                    <a:pt x="105" y="291"/>
                  </a:lnTo>
                  <a:lnTo>
                    <a:pt x="105" y="114"/>
                  </a:lnTo>
                  <a:lnTo>
                    <a:pt x="0" y="9"/>
                  </a:lnTo>
                  <a:lnTo>
                    <a:pt x="12" y="0"/>
                  </a:lnTo>
                  <a:lnTo>
                    <a:pt x="120" y="108"/>
                  </a:lnTo>
                  <a:lnTo>
                    <a:pt x="120" y="291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3" name="Freeform 36"/>
            <p:cNvSpPr/>
            <p:nvPr/>
          </p:nvSpPr>
          <p:spPr bwMode="auto">
            <a:xfrm>
              <a:off x="1014413" y="1801813"/>
              <a:ext cx="214313" cy="755650"/>
            </a:xfrm>
            <a:custGeom>
              <a:avLst/>
              <a:gdLst/>
              <a:ahLst/>
              <a:cxnLst/>
              <a:rect l="0" t="0" r="r" b="b"/>
              <a:pathLst>
                <a:path w="135" h="476">
                  <a:moveTo>
                    <a:pt x="12" y="476"/>
                  </a:moveTo>
                  <a:lnTo>
                    <a:pt x="0" y="476"/>
                  </a:lnTo>
                  <a:lnTo>
                    <a:pt x="0" y="128"/>
                  </a:lnTo>
                  <a:lnTo>
                    <a:pt x="126" y="0"/>
                  </a:lnTo>
                  <a:lnTo>
                    <a:pt x="135" y="9"/>
                  </a:lnTo>
                  <a:lnTo>
                    <a:pt x="12" y="131"/>
                  </a:lnTo>
                  <a:lnTo>
                    <a:pt x="12" y="47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4" name="Freeform 37"/>
            <p:cNvSpPr>
              <a:spLocks noEditPoints="1"/>
            </p:cNvSpPr>
            <p:nvPr/>
          </p:nvSpPr>
          <p:spPr bwMode="auto">
            <a:xfrm>
              <a:off x="938213" y="2547938"/>
              <a:ext cx="166688" cy="160338"/>
            </a:xfrm>
            <a:custGeom>
              <a:avLst/>
              <a:gdLst/>
              <a:ahLst/>
              <a:cxnLst/>
              <a:rect l="0" t="0" r="r" b="b"/>
              <a:pathLst>
                <a:path w="35" h="34">
                  <a:moveTo>
                    <a:pt x="18" y="34"/>
                  </a:moveTo>
                  <a:cubicBezTo>
                    <a:pt x="8" y="34"/>
                    <a:pt x="0" y="26"/>
                    <a:pt x="0" y="17"/>
                  </a:cubicBezTo>
                  <a:cubicBezTo>
                    <a:pt x="0" y="7"/>
                    <a:pt x="8" y="0"/>
                    <a:pt x="18" y="0"/>
                  </a:cubicBezTo>
                  <a:cubicBezTo>
                    <a:pt x="27" y="0"/>
                    <a:pt x="35" y="7"/>
                    <a:pt x="35" y="17"/>
                  </a:cubicBezTo>
                  <a:cubicBezTo>
                    <a:pt x="35" y="26"/>
                    <a:pt x="27" y="34"/>
                    <a:pt x="18" y="34"/>
                  </a:cubicBezTo>
                  <a:close/>
                  <a:moveTo>
                    <a:pt x="18" y="4"/>
                  </a:moveTo>
                  <a:cubicBezTo>
                    <a:pt x="10" y="4"/>
                    <a:pt x="4" y="10"/>
                    <a:pt x="4" y="17"/>
                  </a:cubicBezTo>
                  <a:cubicBezTo>
                    <a:pt x="4" y="24"/>
                    <a:pt x="10" y="30"/>
                    <a:pt x="18" y="30"/>
                  </a:cubicBezTo>
                  <a:cubicBezTo>
                    <a:pt x="25" y="30"/>
                    <a:pt x="31" y="24"/>
                    <a:pt x="31" y="17"/>
                  </a:cubicBezTo>
                  <a:cubicBezTo>
                    <a:pt x="31" y="10"/>
                    <a:pt x="25" y="4"/>
                    <a:pt x="18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5" name="Freeform 38"/>
            <p:cNvSpPr/>
            <p:nvPr/>
          </p:nvSpPr>
          <p:spPr bwMode="auto">
            <a:xfrm>
              <a:off x="595313" y="4763"/>
              <a:ext cx="638175" cy="4025900"/>
            </a:xfrm>
            <a:custGeom>
              <a:avLst/>
              <a:gdLst/>
              <a:ahLst/>
              <a:cxnLst/>
              <a:rect l="0" t="0" r="r" b="b"/>
              <a:pathLst>
                <a:path w="402" h="2536">
                  <a:moveTo>
                    <a:pt x="402" y="2536"/>
                  </a:moveTo>
                  <a:lnTo>
                    <a:pt x="387" y="2536"/>
                  </a:lnTo>
                  <a:lnTo>
                    <a:pt x="387" y="2311"/>
                  </a:lnTo>
                  <a:lnTo>
                    <a:pt x="0" y="1925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916"/>
                  </a:lnTo>
                  <a:lnTo>
                    <a:pt x="402" y="2302"/>
                  </a:lnTo>
                  <a:lnTo>
                    <a:pt x="402" y="2536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6" name="Freeform 39"/>
            <p:cNvSpPr/>
            <p:nvPr/>
          </p:nvSpPr>
          <p:spPr bwMode="auto">
            <a:xfrm>
              <a:off x="1223963" y="1382713"/>
              <a:ext cx="142875" cy="476250"/>
            </a:xfrm>
            <a:custGeom>
              <a:avLst/>
              <a:gdLst/>
              <a:ahLst/>
              <a:cxnLst/>
              <a:rect l="0" t="0" r="r" b="b"/>
              <a:pathLst>
                <a:path w="90" h="300">
                  <a:moveTo>
                    <a:pt x="90" y="300"/>
                  </a:moveTo>
                  <a:lnTo>
                    <a:pt x="78" y="300"/>
                  </a:lnTo>
                  <a:lnTo>
                    <a:pt x="78" y="84"/>
                  </a:lnTo>
                  <a:lnTo>
                    <a:pt x="0" y="9"/>
                  </a:lnTo>
                  <a:lnTo>
                    <a:pt x="9" y="0"/>
                  </a:lnTo>
                  <a:lnTo>
                    <a:pt x="90" y="81"/>
                  </a:lnTo>
                  <a:lnTo>
                    <a:pt x="90" y="300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7" name="Freeform 40"/>
            <p:cNvSpPr>
              <a:spLocks noEditPoints="1"/>
            </p:cNvSpPr>
            <p:nvPr/>
          </p:nvSpPr>
          <p:spPr bwMode="auto">
            <a:xfrm>
              <a:off x="1300163" y="1849438"/>
              <a:ext cx="109538" cy="107950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8" name="Freeform 41"/>
            <p:cNvSpPr/>
            <p:nvPr/>
          </p:nvSpPr>
          <p:spPr bwMode="auto">
            <a:xfrm>
              <a:off x="280988" y="3417888"/>
              <a:ext cx="142875" cy="474663"/>
            </a:xfrm>
            <a:custGeom>
              <a:avLst/>
              <a:gdLst/>
              <a:ahLst/>
              <a:cxnLst/>
              <a:rect l="0" t="0" r="r" b="b"/>
              <a:pathLst>
                <a:path w="90" h="299">
                  <a:moveTo>
                    <a:pt x="12" y="299"/>
                  </a:moveTo>
                  <a:lnTo>
                    <a:pt x="0" y="299"/>
                  </a:lnTo>
                  <a:lnTo>
                    <a:pt x="0" y="80"/>
                  </a:lnTo>
                  <a:lnTo>
                    <a:pt x="81" y="0"/>
                  </a:lnTo>
                  <a:lnTo>
                    <a:pt x="90" y="8"/>
                  </a:lnTo>
                  <a:lnTo>
                    <a:pt x="12" y="83"/>
                  </a:lnTo>
                  <a:lnTo>
                    <a:pt x="12" y="299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49" name="Freeform 42"/>
            <p:cNvSpPr>
              <a:spLocks noEditPoints="1"/>
            </p:cNvSpPr>
            <p:nvPr/>
          </p:nvSpPr>
          <p:spPr bwMode="auto">
            <a:xfrm>
              <a:off x="238125" y="38830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1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1" y="0"/>
                  </a:cubicBezTo>
                  <a:cubicBezTo>
                    <a:pt x="17" y="0"/>
                    <a:pt x="23" y="5"/>
                    <a:pt x="23" y="12"/>
                  </a:cubicBezTo>
                  <a:cubicBezTo>
                    <a:pt x="23" y="18"/>
                    <a:pt x="17" y="23"/>
                    <a:pt x="11" y="23"/>
                  </a:cubicBezTo>
                  <a:close/>
                  <a:moveTo>
                    <a:pt x="11" y="4"/>
                  </a:moveTo>
                  <a:cubicBezTo>
                    <a:pt x="7" y="4"/>
                    <a:pt x="4" y="8"/>
                    <a:pt x="4" y="12"/>
                  </a:cubicBezTo>
                  <a:cubicBezTo>
                    <a:pt x="4" y="16"/>
                    <a:pt x="7" y="19"/>
                    <a:pt x="11" y="19"/>
                  </a:cubicBezTo>
                  <a:cubicBezTo>
                    <a:pt x="15" y="19"/>
                    <a:pt x="19" y="16"/>
                    <a:pt x="19" y="12"/>
                  </a:cubicBezTo>
                  <a:cubicBezTo>
                    <a:pt x="19" y="8"/>
                    <a:pt x="15" y="4"/>
                    <a:pt x="11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0" name="Freeform 43"/>
            <p:cNvSpPr/>
            <p:nvPr/>
          </p:nvSpPr>
          <p:spPr bwMode="auto">
            <a:xfrm>
              <a:off x="4763" y="2166938"/>
              <a:ext cx="114300" cy="452438"/>
            </a:xfrm>
            <a:custGeom>
              <a:avLst/>
              <a:gdLst/>
              <a:ahLst/>
              <a:cxnLst/>
              <a:rect l="0" t="0" r="r" b="b"/>
              <a:pathLst>
                <a:path w="72" h="285">
                  <a:moveTo>
                    <a:pt x="6" y="285"/>
                  </a:moveTo>
                  <a:lnTo>
                    <a:pt x="0" y="276"/>
                  </a:lnTo>
                  <a:lnTo>
                    <a:pt x="60" y="216"/>
                  </a:lnTo>
                  <a:lnTo>
                    <a:pt x="60" y="0"/>
                  </a:lnTo>
                  <a:lnTo>
                    <a:pt x="72" y="0"/>
                  </a:lnTo>
                  <a:lnTo>
                    <a:pt x="72" y="222"/>
                  </a:lnTo>
                  <a:lnTo>
                    <a:pt x="6" y="28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1" name="Freeform 44"/>
            <p:cNvSpPr>
              <a:spLocks noEditPoints="1"/>
            </p:cNvSpPr>
            <p:nvPr/>
          </p:nvSpPr>
          <p:spPr bwMode="auto">
            <a:xfrm>
              <a:off x="52388" y="2066925"/>
              <a:ext cx="109538" cy="109538"/>
            </a:xfrm>
            <a:custGeom>
              <a:avLst/>
              <a:gdLst/>
              <a:ahLst/>
              <a:cxnLst/>
              <a:rect l="0" t="0" r="r" b="b"/>
              <a:pathLst>
                <a:path w="23" h="23">
                  <a:moveTo>
                    <a:pt x="12" y="23"/>
                  </a:moveTo>
                  <a:cubicBezTo>
                    <a:pt x="5" y="23"/>
                    <a:pt x="0" y="18"/>
                    <a:pt x="0" y="12"/>
                  </a:cubicBezTo>
                  <a:cubicBezTo>
                    <a:pt x="0" y="5"/>
                    <a:pt x="5" y="0"/>
                    <a:pt x="12" y="0"/>
                  </a:cubicBezTo>
                  <a:cubicBezTo>
                    <a:pt x="18" y="0"/>
                    <a:pt x="23" y="5"/>
                    <a:pt x="23" y="12"/>
                  </a:cubicBezTo>
                  <a:cubicBezTo>
                    <a:pt x="23" y="18"/>
                    <a:pt x="18" y="23"/>
                    <a:pt x="12" y="23"/>
                  </a:cubicBezTo>
                  <a:close/>
                  <a:moveTo>
                    <a:pt x="12" y="4"/>
                  </a:moveTo>
                  <a:cubicBezTo>
                    <a:pt x="8" y="4"/>
                    <a:pt x="4" y="8"/>
                    <a:pt x="4" y="12"/>
                  </a:cubicBezTo>
                  <a:cubicBezTo>
                    <a:pt x="4" y="16"/>
                    <a:pt x="8" y="19"/>
                    <a:pt x="12" y="19"/>
                  </a:cubicBezTo>
                  <a:cubicBezTo>
                    <a:pt x="16" y="19"/>
                    <a:pt x="19" y="16"/>
                    <a:pt x="19" y="12"/>
                  </a:cubicBezTo>
                  <a:cubicBezTo>
                    <a:pt x="19" y="8"/>
                    <a:pt x="16" y="4"/>
                    <a:pt x="12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2" name="Rectangle 45"/>
            <p:cNvSpPr>
              <a:spLocks noChangeArrowheads="1"/>
            </p:cNvSpPr>
            <p:nvPr/>
          </p:nvSpPr>
          <p:spPr bwMode="auto">
            <a:xfrm>
              <a:off x="1228725" y="4662488"/>
              <a:ext cx="23813" cy="2181225"/>
            </a:xfrm>
            <a:prstGeom prst="rect">
              <a:avLst/>
            </a:pr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sp>
        <p:sp>
          <p:nvSpPr>
            <p:cNvPr id="53" name="Freeform 46"/>
            <p:cNvSpPr/>
            <p:nvPr/>
          </p:nvSpPr>
          <p:spPr bwMode="auto">
            <a:xfrm>
              <a:off x="1319213" y="5041900"/>
              <a:ext cx="371475" cy="1801813"/>
            </a:xfrm>
            <a:custGeom>
              <a:avLst/>
              <a:gdLst/>
              <a:ahLst/>
              <a:cxnLst/>
              <a:rect l="0" t="0" r="r" b="b"/>
              <a:pathLst>
                <a:path w="234" h="1135">
                  <a:moveTo>
                    <a:pt x="15" y="1135"/>
                  </a:moveTo>
                  <a:lnTo>
                    <a:pt x="0" y="1135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19" y="0"/>
                  </a:lnTo>
                  <a:lnTo>
                    <a:pt x="234" y="6"/>
                  </a:lnTo>
                  <a:lnTo>
                    <a:pt x="15" y="518"/>
                  </a:lnTo>
                  <a:lnTo>
                    <a:pt x="15" y="113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4" name="Freeform 47"/>
            <p:cNvSpPr>
              <a:spLocks noEditPoints="1"/>
            </p:cNvSpPr>
            <p:nvPr/>
          </p:nvSpPr>
          <p:spPr bwMode="auto">
            <a:xfrm>
              <a:off x="1147763" y="44815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5" name="Freeform 48"/>
            <p:cNvSpPr/>
            <p:nvPr/>
          </p:nvSpPr>
          <p:spPr bwMode="auto">
            <a:xfrm>
              <a:off x="819150" y="3983038"/>
              <a:ext cx="347663" cy="2860675"/>
            </a:xfrm>
            <a:custGeom>
              <a:avLst/>
              <a:gdLst/>
              <a:ahLst/>
              <a:cxnLst/>
              <a:rect l="0" t="0" r="r" b="b"/>
              <a:pathLst>
                <a:path w="219" h="1802">
                  <a:moveTo>
                    <a:pt x="219" y="1802"/>
                  </a:moveTo>
                  <a:lnTo>
                    <a:pt x="201" y="1802"/>
                  </a:lnTo>
                  <a:lnTo>
                    <a:pt x="201" y="1185"/>
                  </a:lnTo>
                  <a:lnTo>
                    <a:pt x="0" y="3"/>
                  </a:lnTo>
                  <a:lnTo>
                    <a:pt x="15" y="0"/>
                  </a:lnTo>
                  <a:lnTo>
                    <a:pt x="219" y="1185"/>
                  </a:lnTo>
                  <a:lnTo>
                    <a:pt x="219" y="180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6" name="Freeform 49"/>
            <p:cNvSpPr>
              <a:spLocks noEditPoints="1"/>
            </p:cNvSpPr>
            <p:nvPr/>
          </p:nvSpPr>
          <p:spPr bwMode="auto">
            <a:xfrm>
              <a:off x="728663" y="3806825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8"/>
                    <a:pt x="11" y="36"/>
                    <a:pt x="20" y="36"/>
                  </a:cubicBezTo>
                  <a:cubicBezTo>
                    <a:pt x="29" y="36"/>
                    <a:pt x="36" y="28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7" name="Freeform 50"/>
            <p:cNvSpPr>
              <a:spLocks noEditPoints="1"/>
            </p:cNvSpPr>
            <p:nvPr/>
          </p:nvSpPr>
          <p:spPr bwMode="auto">
            <a:xfrm>
              <a:off x="1624013" y="4867275"/>
              <a:ext cx="190500" cy="188913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8" y="36"/>
                    <a:pt x="36" y="29"/>
                    <a:pt x="36" y="20"/>
                  </a:cubicBezTo>
                  <a:cubicBezTo>
                    <a:pt x="36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8" name="Freeform 51"/>
            <p:cNvSpPr/>
            <p:nvPr/>
          </p:nvSpPr>
          <p:spPr bwMode="auto">
            <a:xfrm>
              <a:off x="1404938" y="5422900"/>
              <a:ext cx="371475" cy="1425575"/>
            </a:xfrm>
            <a:custGeom>
              <a:avLst/>
              <a:gdLst/>
              <a:ahLst/>
              <a:cxnLst/>
              <a:rect l="0" t="0" r="r" b="b"/>
              <a:pathLst>
                <a:path w="234" h="898">
                  <a:moveTo>
                    <a:pt x="18" y="898"/>
                  </a:moveTo>
                  <a:lnTo>
                    <a:pt x="0" y="898"/>
                  </a:lnTo>
                  <a:lnTo>
                    <a:pt x="0" y="515"/>
                  </a:lnTo>
                  <a:lnTo>
                    <a:pt x="0" y="512"/>
                  </a:lnTo>
                  <a:lnTo>
                    <a:pt x="222" y="0"/>
                  </a:lnTo>
                  <a:lnTo>
                    <a:pt x="234" y="6"/>
                  </a:lnTo>
                  <a:lnTo>
                    <a:pt x="18" y="518"/>
                  </a:lnTo>
                  <a:lnTo>
                    <a:pt x="18" y="898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59" name="Freeform 52"/>
            <p:cNvSpPr/>
            <p:nvPr/>
          </p:nvSpPr>
          <p:spPr bwMode="auto">
            <a:xfrm>
              <a:off x="1666875" y="5945188"/>
              <a:ext cx="152400" cy="912813"/>
            </a:xfrm>
            <a:custGeom>
              <a:avLst/>
              <a:gdLst/>
              <a:ahLst/>
              <a:cxnLst/>
              <a:rect l="0" t="0" r="r" b="b"/>
              <a:pathLst>
                <a:path w="96" h="575">
                  <a:moveTo>
                    <a:pt x="15" y="575"/>
                  </a:moveTo>
                  <a:lnTo>
                    <a:pt x="0" y="569"/>
                  </a:lnTo>
                  <a:lnTo>
                    <a:pt x="81" y="383"/>
                  </a:lnTo>
                  <a:lnTo>
                    <a:pt x="81" y="0"/>
                  </a:lnTo>
                  <a:lnTo>
                    <a:pt x="96" y="0"/>
                  </a:lnTo>
                  <a:lnTo>
                    <a:pt x="96" y="386"/>
                  </a:lnTo>
                  <a:lnTo>
                    <a:pt x="15" y="57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0" name="Freeform 53"/>
            <p:cNvSpPr>
              <a:spLocks noEditPoints="1"/>
            </p:cNvSpPr>
            <p:nvPr/>
          </p:nvSpPr>
          <p:spPr bwMode="auto">
            <a:xfrm>
              <a:off x="1709738" y="5246688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1" name="Freeform 54"/>
            <p:cNvSpPr>
              <a:spLocks noEditPoints="1"/>
            </p:cNvSpPr>
            <p:nvPr/>
          </p:nvSpPr>
          <p:spPr bwMode="auto">
            <a:xfrm>
              <a:off x="1709738" y="5764213"/>
              <a:ext cx="190500" cy="190500"/>
            </a:xfrm>
            <a:custGeom>
              <a:avLst/>
              <a:gdLst/>
              <a:ahLst/>
              <a:cxnLst/>
              <a:rect l="0" t="0" r="r" b="b"/>
              <a:pathLst>
                <a:path w="40" h="40">
                  <a:moveTo>
                    <a:pt x="20" y="40"/>
                  </a:moveTo>
                  <a:cubicBezTo>
                    <a:pt x="9" y="40"/>
                    <a:pt x="0" y="31"/>
                    <a:pt x="0" y="20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1" y="0"/>
                    <a:pt x="40" y="9"/>
                    <a:pt x="40" y="20"/>
                  </a:cubicBezTo>
                  <a:cubicBezTo>
                    <a:pt x="40" y="31"/>
                    <a:pt x="31" y="40"/>
                    <a:pt x="20" y="40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20"/>
                  </a:cubicBezTo>
                  <a:cubicBezTo>
                    <a:pt x="4" y="29"/>
                    <a:pt x="11" y="36"/>
                    <a:pt x="20" y="36"/>
                  </a:cubicBezTo>
                  <a:cubicBezTo>
                    <a:pt x="29" y="36"/>
                    <a:pt x="36" y="29"/>
                    <a:pt x="36" y="20"/>
                  </a:cubicBezTo>
                  <a:cubicBezTo>
                    <a:pt x="36" y="11"/>
                    <a:pt x="29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2" name="Freeform 55"/>
            <p:cNvSpPr/>
            <p:nvPr/>
          </p:nvSpPr>
          <p:spPr bwMode="auto">
            <a:xfrm>
              <a:off x="1766888" y="6330950"/>
              <a:ext cx="419100" cy="527050"/>
            </a:xfrm>
            <a:custGeom>
              <a:avLst/>
              <a:gdLst/>
              <a:ahLst/>
              <a:cxnLst/>
              <a:rect l="0" t="0" r="r" b="b"/>
              <a:pathLst>
                <a:path w="264" h="332">
                  <a:moveTo>
                    <a:pt x="12" y="332"/>
                  </a:moveTo>
                  <a:lnTo>
                    <a:pt x="0" y="326"/>
                  </a:lnTo>
                  <a:lnTo>
                    <a:pt x="45" y="206"/>
                  </a:lnTo>
                  <a:lnTo>
                    <a:pt x="255" y="0"/>
                  </a:lnTo>
                  <a:lnTo>
                    <a:pt x="264" y="12"/>
                  </a:lnTo>
                  <a:lnTo>
                    <a:pt x="60" y="215"/>
                  </a:lnTo>
                  <a:lnTo>
                    <a:pt x="12" y="332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3" name="Freeform 56"/>
            <p:cNvSpPr>
              <a:spLocks noEditPoints="1"/>
            </p:cNvSpPr>
            <p:nvPr/>
          </p:nvSpPr>
          <p:spPr bwMode="auto">
            <a:xfrm>
              <a:off x="2147888" y="6221413"/>
              <a:ext cx="157163" cy="147638"/>
            </a:xfrm>
            <a:custGeom>
              <a:avLst/>
              <a:gdLst/>
              <a:ahLst/>
              <a:cxnLst/>
              <a:rect l="0" t="0" r="r" b="b"/>
              <a:pathLst>
                <a:path w="33" h="31">
                  <a:moveTo>
                    <a:pt x="16" y="31"/>
                  </a:moveTo>
                  <a:cubicBezTo>
                    <a:pt x="12" y="31"/>
                    <a:pt x="8" y="29"/>
                    <a:pt x="5" y="26"/>
                  </a:cubicBezTo>
                  <a:cubicBezTo>
                    <a:pt x="2" y="24"/>
                    <a:pt x="0" y="20"/>
                    <a:pt x="0" y="15"/>
                  </a:cubicBezTo>
                  <a:cubicBezTo>
                    <a:pt x="0" y="11"/>
                    <a:pt x="2" y="7"/>
                    <a:pt x="5" y="4"/>
                  </a:cubicBezTo>
                  <a:cubicBezTo>
                    <a:pt x="8" y="1"/>
                    <a:pt x="12" y="0"/>
                    <a:pt x="16" y="0"/>
                  </a:cubicBezTo>
                  <a:cubicBezTo>
                    <a:pt x="20" y="0"/>
                    <a:pt x="24" y="1"/>
                    <a:pt x="27" y="4"/>
                  </a:cubicBezTo>
                  <a:cubicBezTo>
                    <a:pt x="33" y="10"/>
                    <a:pt x="33" y="20"/>
                    <a:pt x="27" y="26"/>
                  </a:cubicBezTo>
                  <a:cubicBezTo>
                    <a:pt x="24" y="29"/>
                    <a:pt x="20" y="31"/>
                    <a:pt x="16" y="31"/>
                  </a:cubicBezTo>
                  <a:close/>
                  <a:moveTo>
                    <a:pt x="16" y="4"/>
                  </a:moveTo>
                  <a:cubicBezTo>
                    <a:pt x="13" y="4"/>
                    <a:pt x="10" y="5"/>
                    <a:pt x="8" y="7"/>
                  </a:cubicBezTo>
                  <a:cubicBezTo>
                    <a:pt x="6" y="9"/>
                    <a:pt x="4" y="12"/>
                    <a:pt x="4" y="15"/>
                  </a:cubicBezTo>
                  <a:cubicBezTo>
                    <a:pt x="4" y="19"/>
                    <a:pt x="6" y="21"/>
                    <a:pt x="8" y="24"/>
                  </a:cubicBezTo>
                  <a:cubicBezTo>
                    <a:pt x="10" y="26"/>
                    <a:pt x="13" y="27"/>
                    <a:pt x="16" y="27"/>
                  </a:cubicBezTo>
                  <a:cubicBezTo>
                    <a:pt x="19" y="27"/>
                    <a:pt x="22" y="26"/>
                    <a:pt x="24" y="24"/>
                  </a:cubicBezTo>
                  <a:cubicBezTo>
                    <a:pt x="29" y="19"/>
                    <a:pt x="29" y="12"/>
                    <a:pt x="24" y="7"/>
                  </a:cubicBezTo>
                  <a:cubicBezTo>
                    <a:pt x="22" y="5"/>
                    <a:pt x="19" y="4"/>
                    <a:pt x="16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4" name="Freeform 57"/>
            <p:cNvSpPr/>
            <p:nvPr/>
          </p:nvSpPr>
          <p:spPr bwMode="auto">
            <a:xfrm>
              <a:off x="504825" y="9525"/>
              <a:ext cx="233363" cy="5103813"/>
            </a:xfrm>
            <a:custGeom>
              <a:avLst/>
              <a:gdLst/>
              <a:ahLst/>
              <a:cxnLst/>
              <a:rect l="0" t="0" r="r" b="b"/>
              <a:pathLst>
                <a:path w="147" h="3215">
                  <a:moveTo>
                    <a:pt x="132" y="3215"/>
                  </a:moveTo>
                  <a:lnTo>
                    <a:pt x="129" y="2754"/>
                  </a:lnTo>
                  <a:lnTo>
                    <a:pt x="0" y="1901"/>
                  </a:lnTo>
                  <a:lnTo>
                    <a:pt x="0" y="0"/>
                  </a:lnTo>
                  <a:lnTo>
                    <a:pt x="15" y="0"/>
                  </a:lnTo>
                  <a:lnTo>
                    <a:pt x="15" y="1898"/>
                  </a:lnTo>
                  <a:lnTo>
                    <a:pt x="144" y="2754"/>
                  </a:lnTo>
                  <a:lnTo>
                    <a:pt x="147" y="3215"/>
                  </a:lnTo>
                  <a:lnTo>
                    <a:pt x="132" y="3215"/>
                  </a:ln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  <p:sp>
          <p:nvSpPr>
            <p:cNvPr id="65" name="Freeform 58"/>
            <p:cNvSpPr>
              <a:spLocks noEditPoints="1"/>
            </p:cNvSpPr>
            <p:nvPr/>
          </p:nvSpPr>
          <p:spPr bwMode="auto">
            <a:xfrm>
              <a:off x="633413" y="5103813"/>
              <a:ext cx="185738" cy="185738"/>
            </a:xfrm>
            <a:custGeom>
              <a:avLst/>
              <a:gdLst/>
              <a:ahLst/>
              <a:cxnLst/>
              <a:rect l="0" t="0" r="r" b="b"/>
              <a:pathLst>
                <a:path w="39" h="39">
                  <a:moveTo>
                    <a:pt x="20" y="39"/>
                  </a:moveTo>
                  <a:cubicBezTo>
                    <a:pt x="9" y="39"/>
                    <a:pt x="0" y="30"/>
                    <a:pt x="0" y="19"/>
                  </a:cubicBezTo>
                  <a:cubicBezTo>
                    <a:pt x="0" y="9"/>
                    <a:pt x="9" y="0"/>
                    <a:pt x="20" y="0"/>
                  </a:cubicBezTo>
                  <a:cubicBezTo>
                    <a:pt x="30" y="0"/>
                    <a:pt x="39" y="9"/>
                    <a:pt x="39" y="19"/>
                  </a:cubicBezTo>
                  <a:cubicBezTo>
                    <a:pt x="39" y="30"/>
                    <a:pt x="30" y="39"/>
                    <a:pt x="20" y="39"/>
                  </a:cubicBezTo>
                  <a:close/>
                  <a:moveTo>
                    <a:pt x="20" y="4"/>
                  </a:moveTo>
                  <a:cubicBezTo>
                    <a:pt x="11" y="4"/>
                    <a:pt x="4" y="11"/>
                    <a:pt x="4" y="19"/>
                  </a:cubicBezTo>
                  <a:cubicBezTo>
                    <a:pt x="4" y="28"/>
                    <a:pt x="11" y="35"/>
                    <a:pt x="20" y="35"/>
                  </a:cubicBezTo>
                  <a:cubicBezTo>
                    <a:pt x="28" y="35"/>
                    <a:pt x="35" y="28"/>
                    <a:pt x="35" y="19"/>
                  </a:cubicBezTo>
                  <a:cubicBezTo>
                    <a:pt x="35" y="11"/>
                    <a:pt x="28" y="4"/>
                    <a:pt x="20" y="4"/>
                  </a:cubicBezTo>
                  <a:close/>
                </a:path>
              </a:pathLst>
            </a:custGeom>
            <a:grpFill/>
            <a:ln>
              <a:noFill/>
            </a:ln>
            <a:extLst>
              <a:ext uri="{91240B29-F687-4f45-9708-019B960494DF}">
                <a14:hiddenLine xmlns:a14="http://schemas.microsoft.com/office/drawing/2010/main" xmlns="" w="9525">
                  <a:solidFill>
                    <a:srgbClr val="000000"/>
                  </a:solidFill>
                  <a:round/>
                  <a:headEnd/>
                  <a:tailEnd/>
                </a14:hiddenLine>
              </a:ext>
            </a:extLst>
          </p:spPr>
        </p:sp>
      </p:grpSp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76424" y="1122363"/>
            <a:ext cx="8791575" cy="2387600"/>
          </a:xfrm>
        </p:spPr>
        <p:txBody>
          <a:bodyPr anchor="b">
            <a:normAutofit/>
          </a:bodyPr>
          <a:lstStyle>
            <a:lvl1pPr algn="l">
              <a:defRPr sz="48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76424" y="3602038"/>
            <a:ext cx="8791575" cy="1655762"/>
          </a:xfrm>
        </p:spPr>
        <p:txBody>
          <a:bodyPr>
            <a:normAutofit/>
          </a:bodyPr>
          <a:lstStyle>
            <a:lvl1pPr marL="0" indent="0" algn="l">
              <a:buNone/>
              <a:defRPr sz="2000" cap="all" baseline="0">
                <a:solidFill>
                  <a:schemeClr val="tx2"/>
                </a:solidFill>
              </a:defRPr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7077511" y="5410201"/>
            <a:ext cx="2743200" cy="365125"/>
          </a:xfrm>
        </p:spPr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1876424" y="5410201"/>
            <a:ext cx="5124886" cy="365125"/>
          </a:xfr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9896911" y="5410199"/>
            <a:ext cx="771089" cy="365125"/>
          </a:xfrm>
        </p:spPr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113402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85151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1419226"/>
            <a:ext cx="9906000" cy="2852737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1" y="4424362"/>
            <a:ext cx="9906000" cy="1374776"/>
          </a:xfrm>
        </p:spPr>
        <p:txBody>
          <a:bodyPr>
            <a:normAutofit/>
          </a:bodyPr>
          <a:lstStyle>
            <a:lvl1pPr marL="0" indent="0">
              <a:buNone/>
              <a:defRPr sz="1800" cap="all" baseline="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26584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41410" y="2249486"/>
            <a:ext cx="4878389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2249486"/>
            <a:ext cx="4875211" cy="3541714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294172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1" y="619126"/>
            <a:ext cx="9906000" cy="1477961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70019" y="2249486"/>
            <a:ext cx="4649783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41410" y="3073397"/>
            <a:ext cx="4878391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400808" y="2249485"/>
            <a:ext cx="4646602" cy="823912"/>
          </a:xfrm>
        </p:spPr>
        <p:txBody>
          <a:bodyPr anchor="b"/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3073397"/>
            <a:ext cx="4875210" cy="2717801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75519712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426536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2988086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6705" y="609601"/>
            <a:ext cx="3856037" cy="1639884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56200" y="592666"/>
            <a:ext cx="5891209" cy="5198534"/>
          </a:xfrm>
        </p:spPr>
        <p:txBody>
          <a:bodyPr anchor="ctr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6705" y="2249486"/>
            <a:ext cx="3856037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77042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5934508" cy="1639886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380721" y="609601"/>
            <a:ext cx="3666690" cy="5181599"/>
          </a:xfrm>
          <a:prstGeom prst="round2DiagRect">
            <a:avLst>
              <a:gd name="adj1" fmla="val 5608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2249486"/>
            <a:ext cx="5934511" cy="3541714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781119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anoramic 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4304664"/>
            <a:ext cx="9912355" cy="819355"/>
          </a:xfrm>
        </p:spPr>
        <p:txBody>
          <a:bodyPr anchor="b">
            <a:normAutofit/>
          </a:bodyPr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41411" y="606426"/>
            <a:ext cx="9912354" cy="3299778"/>
          </a:xfrm>
          <a:prstGeom prst="round2DiagRect">
            <a:avLst>
              <a:gd name="adj1" fmla="val 4860"/>
              <a:gd name="adj2" fmla="val 0"/>
            </a:avLst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320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5124020"/>
            <a:ext cx="9910859" cy="682472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6312732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56" y="609600"/>
            <a:ext cx="9905955" cy="3429000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0" y="4419599"/>
            <a:ext cx="9904459" cy="1371599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72829000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446212" y="609599"/>
            <a:ext cx="9302752" cy="2748429"/>
          </a:xfrm>
        </p:spPr>
        <p:txBody>
          <a:bodyPr anchor="ctr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3"/>
          </p:nvPr>
        </p:nvSpPr>
        <p:spPr>
          <a:xfrm>
            <a:off x="1720644" y="3365557"/>
            <a:ext cx="8752299" cy="54896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411" y="4309919"/>
            <a:ext cx="9906002" cy="1489496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  <p:sp>
        <p:nvSpPr>
          <p:cNvPr id="60" name="TextBox 59"/>
          <p:cNvSpPr txBox="1"/>
          <p:nvPr/>
        </p:nvSpPr>
        <p:spPr>
          <a:xfrm>
            <a:off x="903512" y="732394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“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537370" y="2764972"/>
            <a:ext cx="609600" cy="584776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spcBef>
                <a:spcPct val="0"/>
              </a:spcBef>
              <a:buNone/>
              <a:defRPr sz="3200" b="0" cap="all">
                <a:ln w="3175" cmpd="sng">
                  <a:noFill/>
                </a:ln>
                <a:effectLst>
                  <a:glow rad="38100">
                    <a:schemeClr val="bg1">
                      <a:lumMod val="65000"/>
                      <a:lumOff val="35000"/>
                      <a:alpha val="40000"/>
                    </a:schemeClr>
                  </a:glow>
                  <a:outerShdw blurRad="28575" dist="38100" dir="14040000" algn="tl" rotWithShape="0">
                    <a:srgbClr val="000000">
                      <a:alpha val="25000"/>
                    </a:srgbClr>
                  </a:outerShdw>
                </a:effectLst>
                <a:latin typeface="+mj-lt"/>
                <a:ea typeface="+mj-ea"/>
                <a:cs typeface="Trebuchet MS"/>
              </a:defRPr>
            </a:lvl1pPr>
            <a:lvl2pPr>
              <a:defRPr>
                <a:solidFill>
                  <a:schemeClr val="tx2"/>
                </a:solidFill>
              </a:defRPr>
            </a:lvl2pPr>
            <a:lvl3pPr>
              <a:defRPr>
                <a:solidFill>
                  <a:schemeClr val="tx2"/>
                </a:solidFill>
              </a:defRPr>
            </a:lvl3pPr>
            <a:lvl4pPr>
              <a:defRPr>
                <a:solidFill>
                  <a:schemeClr val="tx2"/>
                </a:solidFill>
              </a:defRPr>
            </a:lvl4pPr>
            <a:lvl5pPr>
              <a:defRPr>
                <a:solidFill>
                  <a:schemeClr val="tx2"/>
                </a:solidFill>
              </a:defRPr>
            </a:lvl5pPr>
            <a:lvl6pPr>
              <a:defRPr>
                <a:solidFill>
                  <a:schemeClr val="tx2"/>
                </a:solidFill>
              </a:defRPr>
            </a:lvl6pPr>
            <a:lvl7pPr>
              <a:defRPr>
                <a:solidFill>
                  <a:schemeClr val="tx2"/>
                </a:solidFill>
              </a:defRPr>
            </a:lvl7pPr>
            <a:lvl8pPr>
              <a:defRPr>
                <a:solidFill>
                  <a:schemeClr val="tx2"/>
                </a:solidFill>
              </a:defRPr>
            </a:lvl8pPr>
            <a:lvl9pPr>
              <a:defRPr>
                <a:solidFill>
                  <a:schemeClr val="tx2"/>
                </a:solidFill>
              </a:defRPr>
            </a:lvl9pPr>
          </a:lstStyle>
          <a:p>
            <a:pPr lvl="0" algn="r"/>
            <a:r>
              <a:rPr lang="en-US" sz="8000" dirty="0">
                <a:solidFill>
                  <a:schemeClr val="tx1"/>
                </a:solidFill>
                <a:effectLst/>
              </a:rPr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36448441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ame Car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41410" y="2134041"/>
            <a:ext cx="9906001" cy="2511835"/>
          </a:xfrm>
        </p:spPr>
        <p:txBody>
          <a:bodyPr anchor="b">
            <a:normAutofit/>
          </a:bodyPr>
          <a:lstStyle>
            <a:lvl1pPr>
              <a:defRPr sz="3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41364" y="4657655"/>
            <a:ext cx="9904505" cy="1140644"/>
          </a:xfrm>
        </p:spPr>
        <p:txBody>
          <a:bodyPr anchor="t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0102198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Title 1"/>
          <p:cNvSpPr>
            <a:spLocks noGrp="1"/>
          </p:cNvSpPr>
          <p:nvPr>
            <p:ph type="title"/>
          </p:nvPr>
        </p:nvSpPr>
        <p:spPr>
          <a:xfrm>
            <a:off x="1141413" y="609600"/>
            <a:ext cx="9905998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7" name="Text Placeholder 2"/>
          <p:cNvSpPr>
            <a:spLocks noGrp="1"/>
          </p:cNvSpPr>
          <p:nvPr>
            <p:ph type="body" idx="1"/>
          </p:nvPr>
        </p:nvSpPr>
        <p:spPr>
          <a:xfrm>
            <a:off x="1141410" y="2674463"/>
            <a:ext cx="3196899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15"/>
          </p:nvPr>
        </p:nvSpPr>
        <p:spPr>
          <a:xfrm>
            <a:off x="1127918" y="3360263"/>
            <a:ext cx="3208735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9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514766" y="2677635"/>
            <a:ext cx="3184385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16"/>
          </p:nvPr>
        </p:nvSpPr>
        <p:spPr>
          <a:xfrm>
            <a:off x="4504213" y="3363435"/>
            <a:ext cx="3195830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1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442" y="2674463"/>
            <a:ext cx="3194968" cy="685800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4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12" name="Text Placeholder 3"/>
          <p:cNvSpPr>
            <a:spLocks noGrp="1"/>
          </p:cNvSpPr>
          <p:nvPr>
            <p:ph type="body" sz="half" idx="17"/>
          </p:nvPr>
        </p:nvSpPr>
        <p:spPr>
          <a:xfrm>
            <a:off x="7852442" y="3360263"/>
            <a:ext cx="3194968" cy="2430936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74004141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3 Pictur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" name="Title 1"/>
          <p:cNvSpPr>
            <a:spLocks noGrp="1"/>
          </p:cNvSpPr>
          <p:nvPr>
            <p:ph type="title"/>
          </p:nvPr>
        </p:nvSpPr>
        <p:spPr>
          <a:xfrm>
            <a:off x="1141411" y="609600"/>
            <a:ext cx="9905999" cy="190500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9" name="Text Placeholder 2"/>
          <p:cNvSpPr>
            <a:spLocks noGrp="1"/>
          </p:cNvSpPr>
          <p:nvPr>
            <p:ph type="body" idx="1"/>
          </p:nvPr>
        </p:nvSpPr>
        <p:spPr>
          <a:xfrm>
            <a:off x="1141413" y="4404596"/>
            <a:ext cx="319524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0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1141413" y="2666998"/>
            <a:ext cx="31952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1" name="Text Placeholder 3"/>
          <p:cNvSpPr>
            <a:spLocks noGrp="1"/>
          </p:cNvSpPr>
          <p:nvPr>
            <p:ph type="body" sz="half" idx="18"/>
          </p:nvPr>
        </p:nvSpPr>
        <p:spPr>
          <a:xfrm>
            <a:off x="1141413" y="4980858"/>
            <a:ext cx="3195240" cy="817843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2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489053" y="4404596"/>
            <a:ext cx="3200400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3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4489053" y="2666998"/>
            <a:ext cx="3198940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19"/>
          </p:nvPr>
        </p:nvSpPr>
        <p:spPr>
          <a:xfrm>
            <a:off x="4487593" y="4980857"/>
            <a:ext cx="3200400" cy="810342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5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852567" y="4404595"/>
            <a:ext cx="3190741" cy="576262"/>
          </a:xfrm>
        </p:spPr>
        <p:txBody>
          <a:bodyPr anchor="b">
            <a:noAutofit/>
          </a:bodyPr>
          <a:lstStyle>
            <a:lvl1pPr marL="0" indent="0">
              <a:lnSpc>
                <a:spcPct val="90000"/>
              </a:lnSpc>
              <a:buNone/>
              <a:defRPr sz="2000" b="0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26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852442" y="2666998"/>
            <a:ext cx="3194969" cy="1524000"/>
          </a:xfrm>
          <a:prstGeom prst="round2DiagRect">
            <a:avLst/>
          </a:prstGeom>
          <a:ln w="19050" cap="sq">
            <a:solidFill>
              <a:schemeClr val="tx2">
                <a:lumMod val="60000"/>
                <a:lumOff val="40000"/>
                <a:alpha val="60000"/>
              </a:schemeClr>
            </a:solidFill>
            <a:miter lim="800000"/>
          </a:ln>
          <a:effectLst>
            <a:outerShdw blurRad="88900" dist="38100" dir="5400000" algn="t" rotWithShape="0">
              <a:prstClr val="black">
                <a:alpha val="40000"/>
              </a:prstClr>
            </a:outerShdw>
          </a:effectLst>
        </p:spPr>
        <p:txBody>
          <a:bodyPr vert="horz" lIns="91440" tIns="45720" rIns="91440" bIns="45720" rtlCol="0" anchor="t">
            <a:normAutofit/>
          </a:bodyPr>
          <a:lstStyle>
            <a:lvl1pPr>
              <a:buNone/>
              <a:defRPr lang="en-US" sz="2000" dirty="0"/>
            </a:lvl1pPr>
          </a:lstStyle>
          <a:p>
            <a:pPr marL="0" lvl="0" indent="0">
              <a:buNone/>
            </a:pPr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27" name="Text Placeholder 3"/>
          <p:cNvSpPr>
            <a:spLocks noGrp="1"/>
          </p:cNvSpPr>
          <p:nvPr>
            <p:ph type="body" sz="half" idx="20"/>
          </p:nvPr>
        </p:nvSpPr>
        <p:spPr>
          <a:xfrm>
            <a:off x="7852442" y="4980854"/>
            <a:ext cx="3194968" cy="810345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51018642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0745505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9042400" y="609599"/>
            <a:ext cx="2005011" cy="5181601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141410" y="609599"/>
            <a:ext cx="7748590" cy="5181601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381688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\\DROBO-FS\QuickDrops\JB\PPTX NG\Droplets\LightingOverlay.png"/>
          <p:cNvPicPr>
            <a:picLocks noChangeAspect="1" noChangeArrowheads="1"/>
          </p:cNvPicPr>
          <p:nvPr/>
        </p:nvPicPr>
        <p:blipFill>
          <a:blip r:embed="rId19">
            <a:alphaModFix amt="3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0" y="-1"/>
            <a:ext cx="12192003" cy="685800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 xmlns="">
                <a:solidFill>
                  <a:srgbClr val="FFFFFF"/>
                </a:solidFill>
              </a14:hiddenFill>
            </a:ext>
          </a:extLst>
        </p:spPr>
      </p:pic>
      <p:grpSp>
        <p:nvGrpSpPr>
          <p:cNvPr id="8" name="Group 7"/>
          <p:cNvGrpSpPr/>
          <p:nvPr/>
        </p:nvGrpSpPr>
        <p:grpSpPr>
          <a:xfrm>
            <a:off x="-14288" y="0"/>
            <a:ext cx="12053888" cy="6858001"/>
            <a:chOff x="-14288" y="0"/>
            <a:chExt cx="12053888" cy="6858001"/>
          </a:xfrm>
        </p:grpSpPr>
        <p:grpSp>
          <p:nvGrpSpPr>
            <p:cNvPr id="9" name="Group 8"/>
            <p:cNvGrpSpPr/>
            <p:nvPr/>
          </p:nvGrpSpPr>
          <p:grpSpPr>
            <a:xfrm>
              <a:off x="-14288" y="0"/>
              <a:ext cx="1220788" cy="6858001"/>
              <a:chOff x="-14288" y="0"/>
              <a:chExt cx="1220788" cy="6858001"/>
            </a:xfrm>
            <a:gradFill flip="none" rotWithShape="1">
              <a:gsLst>
                <a:gs pos="0">
                  <a:schemeClr val="tx2"/>
                </a:gs>
                <a:gs pos="100000">
                  <a:schemeClr val="bg2">
                    <a:lumMod val="60000"/>
                    <a:lumOff val="4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21" name="Rectangle 5"/>
              <p:cNvSpPr>
                <a:spLocks noChangeArrowheads="1"/>
              </p:cNvSpPr>
              <p:nvPr/>
            </p:nvSpPr>
            <p:spPr bwMode="auto">
              <a:xfrm>
                <a:off x="114300" y="4763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22" name="Freeform 6"/>
              <p:cNvSpPr>
                <a:spLocks noEditPoints="1"/>
              </p:cNvSpPr>
              <p:nvPr/>
            </p:nvSpPr>
            <p:spPr bwMode="auto">
              <a:xfrm>
                <a:off x="33337" y="217646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3" name="Freeform 7"/>
              <p:cNvSpPr>
                <a:spLocks noEditPoints="1"/>
              </p:cNvSpPr>
              <p:nvPr/>
            </p:nvSpPr>
            <p:spPr bwMode="auto">
              <a:xfrm>
                <a:off x="28575" y="4021138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4" name="Freeform 8"/>
              <p:cNvSpPr/>
              <p:nvPr/>
            </p:nvSpPr>
            <p:spPr bwMode="auto">
              <a:xfrm>
                <a:off x="200025" y="4763"/>
                <a:ext cx="369888" cy="1811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41">
                    <a:moveTo>
                      <a:pt x="218" y="1141"/>
                    </a:moveTo>
                    <a:lnTo>
                      <a:pt x="0" y="626"/>
                    </a:lnTo>
                    <a:lnTo>
                      <a:pt x="0" y="0"/>
                    </a:lnTo>
                    <a:lnTo>
                      <a:pt x="15" y="0"/>
                    </a:lnTo>
                    <a:lnTo>
                      <a:pt x="15" y="623"/>
                    </a:lnTo>
                    <a:lnTo>
                      <a:pt x="233" y="1135"/>
                    </a:lnTo>
                    <a:lnTo>
                      <a:pt x="218" y="114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5" name="Freeform 9"/>
              <p:cNvSpPr>
                <a:spLocks noEditPoints="1"/>
              </p:cNvSpPr>
              <p:nvPr/>
            </p:nvSpPr>
            <p:spPr bwMode="auto">
              <a:xfrm>
                <a:off x="503237" y="1801813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6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6" name="Freeform 10"/>
              <p:cNvSpPr/>
              <p:nvPr/>
            </p:nvSpPr>
            <p:spPr bwMode="auto">
              <a:xfrm>
                <a:off x="285750" y="4763"/>
                <a:ext cx="369888" cy="1430338"/>
              </a:xfrm>
              <a:custGeom>
                <a:avLst/>
                <a:gdLst/>
                <a:ahLst/>
                <a:cxnLst/>
                <a:rect l="0" t="0" r="r" b="b"/>
                <a:pathLst>
                  <a:path w="233" h="901">
                    <a:moveTo>
                      <a:pt x="221" y="901"/>
                    </a:moveTo>
                    <a:lnTo>
                      <a:pt x="0" y="383"/>
                    </a:lnTo>
                    <a:lnTo>
                      <a:pt x="0" y="0"/>
                    </a:lnTo>
                    <a:lnTo>
                      <a:pt x="18" y="0"/>
                    </a:lnTo>
                    <a:lnTo>
                      <a:pt x="18" y="380"/>
                    </a:lnTo>
                    <a:lnTo>
                      <a:pt x="233" y="895"/>
                    </a:lnTo>
                    <a:lnTo>
                      <a:pt x="221" y="901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7" name="Freeform 11"/>
              <p:cNvSpPr/>
              <p:nvPr/>
            </p:nvSpPr>
            <p:spPr bwMode="auto">
              <a:xfrm>
                <a:off x="546100" y="0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96" y="575"/>
                    </a:moveTo>
                    <a:lnTo>
                      <a:pt x="78" y="575"/>
                    </a:lnTo>
                    <a:lnTo>
                      <a:pt x="78" y="192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96" y="189"/>
                    </a:lnTo>
                    <a:lnTo>
                      <a:pt x="96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8" name="Freeform 12"/>
              <p:cNvSpPr>
                <a:spLocks noEditPoints="1"/>
              </p:cNvSpPr>
              <p:nvPr/>
            </p:nvSpPr>
            <p:spPr bwMode="auto">
              <a:xfrm>
                <a:off x="588962" y="14208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3" y="0"/>
                      <a:pt x="40" y="7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9"/>
                      <a:pt x="31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9" name="Freeform 13"/>
              <p:cNvSpPr>
                <a:spLocks noEditPoints="1"/>
              </p:cNvSpPr>
              <p:nvPr/>
            </p:nvSpPr>
            <p:spPr bwMode="auto">
              <a:xfrm>
                <a:off x="588962" y="9032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0" name="Freeform 14"/>
              <p:cNvSpPr/>
              <p:nvPr/>
            </p:nvSpPr>
            <p:spPr bwMode="auto">
              <a:xfrm>
                <a:off x="641350" y="0"/>
                <a:ext cx="422275" cy="527050"/>
              </a:xfrm>
              <a:custGeom>
                <a:avLst/>
                <a:gdLst/>
                <a:ahLst/>
                <a:cxnLst/>
                <a:rect l="0" t="0" r="r" b="b"/>
                <a:pathLst>
                  <a:path w="266" h="332">
                    <a:moveTo>
                      <a:pt x="257" y="332"/>
                    </a:moveTo>
                    <a:lnTo>
                      <a:pt x="48" y="123"/>
                    </a:lnTo>
                    <a:lnTo>
                      <a:pt x="0" y="6"/>
                    </a:lnTo>
                    <a:lnTo>
                      <a:pt x="15" y="0"/>
                    </a:lnTo>
                    <a:lnTo>
                      <a:pt x="63" y="114"/>
                    </a:lnTo>
                    <a:lnTo>
                      <a:pt x="266" y="320"/>
                    </a:lnTo>
                    <a:lnTo>
                      <a:pt x="257" y="332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1" name="Freeform 15"/>
              <p:cNvSpPr>
                <a:spLocks noEditPoints="1"/>
              </p:cNvSpPr>
              <p:nvPr/>
            </p:nvSpPr>
            <p:spPr bwMode="auto">
              <a:xfrm>
                <a:off x="1020762" y="488950"/>
                <a:ext cx="161925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4" h="31">
                    <a:moveTo>
                      <a:pt x="17" y="31"/>
                    </a:moveTo>
                    <a:cubicBezTo>
                      <a:pt x="13" y="31"/>
                      <a:pt x="9" y="30"/>
                      <a:pt x="6" y="27"/>
                    </a:cubicBezTo>
                    <a:cubicBezTo>
                      <a:pt x="0" y="20"/>
                      <a:pt x="0" y="10"/>
                      <a:pt x="6" y="4"/>
                    </a:cubicBezTo>
                    <a:cubicBezTo>
                      <a:pt x="9" y="1"/>
                      <a:pt x="13" y="0"/>
                      <a:pt x="17" y="0"/>
                    </a:cubicBezTo>
                    <a:cubicBezTo>
                      <a:pt x="21" y="0"/>
                      <a:pt x="25" y="1"/>
                      <a:pt x="28" y="4"/>
                    </a:cubicBezTo>
                    <a:cubicBezTo>
                      <a:pt x="34" y="10"/>
                      <a:pt x="34" y="20"/>
                      <a:pt x="28" y="27"/>
                    </a:cubicBezTo>
                    <a:cubicBezTo>
                      <a:pt x="25" y="30"/>
                      <a:pt x="21" y="31"/>
                      <a:pt x="17" y="31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5"/>
                      <a:pt x="9" y="7"/>
                    </a:cubicBezTo>
                    <a:cubicBezTo>
                      <a:pt x="4" y="12"/>
                      <a:pt x="4" y="19"/>
                      <a:pt x="9" y="24"/>
                    </a:cubicBezTo>
                    <a:cubicBezTo>
                      <a:pt x="11" y="26"/>
                      <a:pt x="14" y="27"/>
                      <a:pt x="17" y="27"/>
                    </a:cubicBezTo>
                    <a:cubicBezTo>
                      <a:pt x="20" y="27"/>
                      <a:pt x="23" y="26"/>
                      <a:pt x="25" y="24"/>
                    </a:cubicBezTo>
                    <a:cubicBezTo>
                      <a:pt x="30" y="19"/>
                      <a:pt x="30" y="12"/>
                      <a:pt x="25" y="7"/>
                    </a:cubicBezTo>
                    <a:cubicBezTo>
                      <a:pt x="23" y="5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2" name="Line 16"/>
              <p:cNvSpPr>
                <a:spLocks noChangeShapeType="1"/>
              </p:cNvSpPr>
              <p:nvPr/>
            </p:nvSpPr>
            <p:spPr bwMode="auto">
              <a:xfrm>
                <a:off x="-4763" y="9525"/>
                <a:ext cx="0" cy="0"/>
              </a:xfrm>
              <a:prstGeom prst="line">
                <a:avLst/>
              </a:prstGeom>
              <a:grpFill/>
              <a:ln w="15" cap="flat">
                <a:solidFill>
                  <a:srgbClr val="FFFFFF"/>
                </a:solidFill>
                <a:prstDash val="solid"/>
                <a:miter lim="800000"/>
                <a:headEnd/>
                <a:tailEnd/>
              </a:ln>
            </p:spPr>
          </p:sp>
          <p:sp>
            <p:nvSpPr>
              <p:cNvPr id="33" name="Freeform 17"/>
              <p:cNvSpPr/>
              <p:nvPr/>
            </p:nvSpPr>
            <p:spPr bwMode="auto">
              <a:xfrm>
                <a:off x="9525" y="1801813"/>
                <a:ext cx="123825" cy="127000"/>
              </a:xfrm>
              <a:custGeom>
                <a:avLst/>
                <a:gdLst/>
                <a:ahLst/>
                <a:cxnLst/>
                <a:rect l="0" t="0" r="r" b="b"/>
                <a:pathLst>
                  <a:path w="78" h="80">
                    <a:moveTo>
                      <a:pt x="6" y="80"/>
                    </a:moveTo>
                    <a:lnTo>
                      <a:pt x="0" y="71"/>
                    </a:lnTo>
                    <a:lnTo>
                      <a:pt x="69" y="0"/>
                    </a:lnTo>
                    <a:lnTo>
                      <a:pt x="78" y="9"/>
                    </a:lnTo>
                    <a:lnTo>
                      <a:pt x="6" y="8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4" name="Freeform 18"/>
              <p:cNvSpPr/>
              <p:nvPr/>
            </p:nvSpPr>
            <p:spPr bwMode="auto">
              <a:xfrm>
                <a:off x="-9525" y="3549650"/>
                <a:ext cx="147638" cy="481013"/>
              </a:xfrm>
              <a:custGeom>
                <a:avLst/>
                <a:gdLst/>
                <a:ahLst/>
                <a:cxnLst/>
                <a:rect l="0" t="0" r="r" b="b"/>
                <a:pathLst>
                  <a:path w="93" h="303">
                    <a:moveTo>
                      <a:pt x="93" y="303"/>
                    </a:moveTo>
                    <a:lnTo>
                      <a:pt x="78" y="303"/>
                    </a:lnTo>
                    <a:lnTo>
                      <a:pt x="78" y="78"/>
                    </a:lnTo>
                    <a:lnTo>
                      <a:pt x="0" y="12"/>
                    </a:lnTo>
                    <a:lnTo>
                      <a:pt x="12" y="0"/>
                    </a:lnTo>
                    <a:lnTo>
                      <a:pt x="93" y="69"/>
                    </a:lnTo>
                    <a:lnTo>
                      <a:pt x="93" y="30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5" name="Freeform 19"/>
              <p:cNvSpPr/>
              <p:nvPr/>
            </p:nvSpPr>
            <p:spPr bwMode="auto">
              <a:xfrm>
                <a:off x="128587" y="1382713"/>
                <a:ext cx="142875" cy="476250"/>
              </a:xfrm>
              <a:custGeom>
                <a:avLst/>
                <a:gdLst/>
                <a:ahLst/>
                <a:cxnLst/>
                <a:rect l="0" t="0" r="r" b="b"/>
                <a:pathLst>
                  <a:path w="90" h="300">
                    <a:moveTo>
                      <a:pt x="90" y="300"/>
                    </a:moveTo>
                    <a:lnTo>
                      <a:pt x="78" y="300"/>
                    </a:lnTo>
                    <a:lnTo>
                      <a:pt x="78" y="84"/>
                    </a:lnTo>
                    <a:lnTo>
                      <a:pt x="0" y="9"/>
                    </a:lnTo>
                    <a:lnTo>
                      <a:pt x="9" y="0"/>
                    </a:lnTo>
                    <a:lnTo>
                      <a:pt x="90" y="81"/>
                    </a:lnTo>
                    <a:lnTo>
                      <a:pt x="90" y="300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6" name="Freeform 20"/>
              <p:cNvSpPr>
                <a:spLocks noEditPoints="1"/>
              </p:cNvSpPr>
              <p:nvPr/>
            </p:nvSpPr>
            <p:spPr bwMode="auto">
              <a:xfrm>
                <a:off x="204787" y="1849438"/>
                <a:ext cx="114300" cy="107950"/>
              </a:xfrm>
              <a:custGeom>
                <a:avLst/>
                <a:gdLst/>
                <a:ahLst/>
                <a:cxnLst/>
                <a:rect l="0" t="0" r="r" b="b"/>
                <a:pathLst>
                  <a:path w="24" h="23">
                    <a:moveTo>
                      <a:pt x="12" y="23"/>
                    </a:moveTo>
                    <a:cubicBezTo>
                      <a:pt x="6" y="23"/>
                      <a:pt x="0" y="18"/>
                      <a:pt x="0" y="12"/>
                    </a:cubicBezTo>
                    <a:cubicBezTo>
                      <a:pt x="0" y="5"/>
                      <a:pt x="6" y="0"/>
                      <a:pt x="12" y="0"/>
                    </a:cubicBezTo>
                    <a:cubicBezTo>
                      <a:pt x="18" y="0"/>
                      <a:pt x="24" y="5"/>
                      <a:pt x="24" y="12"/>
                    </a:cubicBezTo>
                    <a:cubicBezTo>
                      <a:pt x="24" y="18"/>
                      <a:pt x="18" y="23"/>
                      <a:pt x="12" y="23"/>
                    </a:cubicBezTo>
                    <a:close/>
                    <a:moveTo>
                      <a:pt x="12" y="4"/>
                    </a:moveTo>
                    <a:cubicBezTo>
                      <a:pt x="8" y="4"/>
                      <a:pt x="4" y="8"/>
                      <a:pt x="4" y="12"/>
                    </a:cubicBezTo>
                    <a:cubicBezTo>
                      <a:pt x="4" y="16"/>
                      <a:pt x="8" y="19"/>
                      <a:pt x="12" y="19"/>
                    </a:cubicBezTo>
                    <a:cubicBezTo>
                      <a:pt x="16" y="19"/>
                      <a:pt x="20" y="16"/>
                      <a:pt x="20" y="12"/>
                    </a:cubicBezTo>
                    <a:cubicBezTo>
                      <a:pt x="20" y="8"/>
                      <a:pt x="16" y="4"/>
                      <a:pt x="12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7" name="Rectangle 21"/>
              <p:cNvSpPr>
                <a:spLocks noChangeArrowheads="1"/>
              </p:cNvSpPr>
              <p:nvPr/>
            </p:nvSpPr>
            <p:spPr bwMode="auto">
              <a:xfrm>
                <a:off x="133350" y="4662488"/>
                <a:ext cx="23813" cy="2181225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  <p:sp>
            <p:nvSpPr>
              <p:cNvPr id="38" name="Freeform 22"/>
              <p:cNvSpPr/>
              <p:nvPr/>
            </p:nvSpPr>
            <p:spPr bwMode="auto">
              <a:xfrm>
                <a:off x="223837" y="5041900"/>
                <a:ext cx="369888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233" h="1135">
                    <a:moveTo>
                      <a:pt x="15" y="1135"/>
                    </a:moveTo>
                    <a:lnTo>
                      <a:pt x="0" y="1135"/>
                    </a:lnTo>
                    <a:lnTo>
                      <a:pt x="0" y="515"/>
                    </a:lnTo>
                    <a:lnTo>
                      <a:pt x="0" y="512"/>
                    </a:lnTo>
                    <a:lnTo>
                      <a:pt x="218" y="0"/>
                    </a:lnTo>
                    <a:lnTo>
                      <a:pt x="233" y="6"/>
                    </a:lnTo>
                    <a:lnTo>
                      <a:pt x="15" y="518"/>
                    </a:lnTo>
                    <a:lnTo>
                      <a:pt x="15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39" name="Freeform 23"/>
              <p:cNvSpPr>
                <a:spLocks noEditPoints="1"/>
              </p:cNvSpPr>
              <p:nvPr/>
            </p:nvSpPr>
            <p:spPr bwMode="auto">
              <a:xfrm>
                <a:off x="52387" y="44815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8" y="36"/>
                      <a:pt x="36" y="29"/>
                      <a:pt x="36" y="20"/>
                    </a:cubicBezTo>
                    <a:cubicBezTo>
                      <a:pt x="36" y="11"/>
                      <a:pt x="28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0" name="Freeform 24"/>
              <p:cNvSpPr/>
              <p:nvPr/>
            </p:nvSpPr>
            <p:spPr bwMode="auto">
              <a:xfrm>
                <a:off x="-14288" y="5627688"/>
                <a:ext cx="85725" cy="1216025"/>
              </a:xfrm>
              <a:custGeom>
                <a:avLst/>
                <a:gdLst/>
                <a:ahLst/>
                <a:cxnLst/>
                <a:rect l="0" t="0" r="r" b="b"/>
                <a:pathLst>
                  <a:path w="54" h="766">
                    <a:moveTo>
                      <a:pt x="54" y="766"/>
                    </a:moveTo>
                    <a:lnTo>
                      <a:pt x="36" y="766"/>
                    </a:lnTo>
                    <a:lnTo>
                      <a:pt x="36" y="149"/>
                    </a:lnTo>
                    <a:lnTo>
                      <a:pt x="0" y="3"/>
                    </a:lnTo>
                    <a:lnTo>
                      <a:pt x="18" y="0"/>
                    </a:lnTo>
                    <a:lnTo>
                      <a:pt x="54" y="146"/>
                    </a:lnTo>
                    <a:lnTo>
                      <a:pt x="54" y="76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1" name="Freeform 25"/>
              <p:cNvSpPr>
                <a:spLocks noEditPoints="1"/>
              </p:cNvSpPr>
              <p:nvPr/>
            </p:nvSpPr>
            <p:spPr bwMode="auto">
              <a:xfrm>
                <a:off x="527050" y="48672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2" name="Freeform 26"/>
              <p:cNvSpPr/>
              <p:nvPr/>
            </p:nvSpPr>
            <p:spPr bwMode="auto">
              <a:xfrm>
                <a:off x="309562" y="5422900"/>
                <a:ext cx="374650" cy="1425575"/>
              </a:xfrm>
              <a:custGeom>
                <a:avLst/>
                <a:gdLst/>
                <a:ahLst/>
                <a:cxnLst/>
                <a:rect l="0" t="0" r="r" b="b"/>
                <a:pathLst>
                  <a:path w="236" h="898">
                    <a:moveTo>
                      <a:pt x="18" y="898"/>
                    </a:moveTo>
                    <a:lnTo>
                      <a:pt x="0" y="898"/>
                    </a:lnTo>
                    <a:lnTo>
                      <a:pt x="0" y="515"/>
                    </a:lnTo>
                    <a:lnTo>
                      <a:pt x="3" y="512"/>
                    </a:lnTo>
                    <a:lnTo>
                      <a:pt x="221" y="0"/>
                    </a:lnTo>
                    <a:lnTo>
                      <a:pt x="236" y="6"/>
                    </a:lnTo>
                    <a:lnTo>
                      <a:pt x="18" y="518"/>
                    </a:lnTo>
                    <a:lnTo>
                      <a:pt x="18" y="898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3" name="Freeform 27"/>
              <p:cNvSpPr/>
              <p:nvPr/>
            </p:nvSpPr>
            <p:spPr bwMode="auto">
              <a:xfrm>
                <a:off x="569912" y="5945188"/>
                <a:ext cx="152400" cy="912813"/>
              </a:xfrm>
              <a:custGeom>
                <a:avLst/>
                <a:gdLst/>
                <a:ahLst/>
                <a:cxnLst/>
                <a:rect l="0" t="0" r="r" b="b"/>
                <a:pathLst>
                  <a:path w="96" h="575">
                    <a:moveTo>
                      <a:pt x="15" y="575"/>
                    </a:moveTo>
                    <a:lnTo>
                      <a:pt x="0" y="569"/>
                    </a:lnTo>
                    <a:lnTo>
                      <a:pt x="81" y="383"/>
                    </a:lnTo>
                    <a:lnTo>
                      <a:pt x="81" y="0"/>
                    </a:lnTo>
                    <a:lnTo>
                      <a:pt x="96" y="0"/>
                    </a:lnTo>
                    <a:lnTo>
                      <a:pt x="96" y="386"/>
                    </a:lnTo>
                    <a:lnTo>
                      <a:pt x="15" y="57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4" name="Freeform 28"/>
              <p:cNvSpPr>
                <a:spLocks noEditPoints="1"/>
              </p:cNvSpPr>
              <p:nvPr/>
            </p:nvSpPr>
            <p:spPr bwMode="auto">
              <a:xfrm>
                <a:off x="612775" y="5246688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5" name="Freeform 29"/>
              <p:cNvSpPr>
                <a:spLocks noEditPoints="1"/>
              </p:cNvSpPr>
              <p:nvPr/>
            </p:nvSpPr>
            <p:spPr bwMode="auto">
              <a:xfrm>
                <a:off x="612775" y="5764213"/>
                <a:ext cx="190500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6" name="Freeform 30"/>
              <p:cNvSpPr/>
              <p:nvPr/>
            </p:nvSpPr>
            <p:spPr bwMode="auto">
              <a:xfrm>
                <a:off x="669925" y="6330950"/>
                <a:ext cx="417513" cy="517525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6">
                    <a:moveTo>
                      <a:pt x="15" y="326"/>
                    </a:moveTo>
                    <a:lnTo>
                      <a:pt x="0" y="320"/>
                    </a:lnTo>
                    <a:lnTo>
                      <a:pt x="45" y="206"/>
                    </a:lnTo>
                    <a:lnTo>
                      <a:pt x="48" y="206"/>
                    </a:lnTo>
                    <a:lnTo>
                      <a:pt x="254" y="0"/>
                    </a:lnTo>
                    <a:lnTo>
                      <a:pt x="263" y="12"/>
                    </a:lnTo>
                    <a:lnTo>
                      <a:pt x="60" y="215"/>
                    </a:lnTo>
                    <a:lnTo>
                      <a:pt x="15" y="326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47" name="Freeform 31"/>
              <p:cNvSpPr>
                <a:spLocks noEditPoints="1"/>
              </p:cNvSpPr>
              <p:nvPr/>
            </p:nvSpPr>
            <p:spPr bwMode="auto">
              <a:xfrm>
                <a:off x="1049337" y="6221413"/>
                <a:ext cx="157163" cy="147638"/>
              </a:xfrm>
              <a:custGeom>
                <a:avLst/>
                <a:gdLst/>
                <a:ahLst/>
                <a:cxnLst/>
                <a:rect l="0" t="0" r="r" b="b"/>
                <a:pathLst>
                  <a:path w="33" h="31">
                    <a:moveTo>
                      <a:pt x="16" y="31"/>
                    </a:moveTo>
                    <a:cubicBezTo>
                      <a:pt x="12" y="31"/>
                      <a:pt x="8" y="29"/>
                      <a:pt x="5" y="26"/>
                    </a:cubicBezTo>
                    <a:cubicBezTo>
                      <a:pt x="2" y="24"/>
                      <a:pt x="0" y="20"/>
                      <a:pt x="0" y="15"/>
                    </a:cubicBezTo>
                    <a:cubicBezTo>
                      <a:pt x="0" y="11"/>
                      <a:pt x="2" y="7"/>
                      <a:pt x="5" y="4"/>
                    </a:cubicBezTo>
                    <a:cubicBezTo>
                      <a:pt x="8" y="1"/>
                      <a:pt x="12" y="0"/>
                      <a:pt x="16" y="0"/>
                    </a:cubicBezTo>
                    <a:cubicBezTo>
                      <a:pt x="20" y="0"/>
                      <a:pt x="24" y="1"/>
                      <a:pt x="27" y="4"/>
                    </a:cubicBezTo>
                    <a:cubicBezTo>
                      <a:pt x="33" y="10"/>
                      <a:pt x="33" y="20"/>
                      <a:pt x="27" y="26"/>
                    </a:cubicBezTo>
                    <a:cubicBezTo>
                      <a:pt x="24" y="29"/>
                      <a:pt x="20" y="31"/>
                      <a:pt x="16" y="31"/>
                    </a:cubicBezTo>
                    <a:close/>
                    <a:moveTo>
                      <a:pt x="16" y="4"/>
                    </a:moveTo>
                    <a:cubicBezTo>
                      <a:pt x="13" y="4"/>
                      <a:pt x="10" y="5"/>
                      <a:pt x="8" y="7"/>
                    </a:cubicBezTo>
                    <a:cubicBezTo>
                      <a:pt x="6" y="9"/>
                      <a:pt x="4" y="12"/>
                      <a:pt x="4" y="15"/>
                    </a:cubicBezTo>
                    <a:cubicBezTo>
                      <a:pt x="4" y="19"/>
                      <a:pt x="6" y="21"/>
                      <a:pt x="8" y="24"/>
                    </a:cubicBezTo>
                    <a:cubicBezTo>
                      <a:pt x="10" y="26"/>
                      <a:pt x="13" y="27"/>
                      <a:pt x="16" y="27"/>
                    </a:cubicBezTo>
                    <a:cubicBezTo>
                      <a:pt x="19" y="27"/>
                      <a:pt x="22" y="26"/>
                      <a:pt x="24" y="24"/>
                    </a:cubicBezTo>
                    <a:cubicBezTo>
                      <a:pt x="29" y="19"/>
                      <a:pt x="29" y="12"/>
                      <a:pt x="24" y="7"/>
                    </a:cubicBezTo>
                    <a:cubicBezTo>
                      <a:pt x="22" y="5"/>
                      <a:pt x="19" y="4"/>
                      <a:pt x="16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</p:grpSp>
        <p:grpSp>
          <p:nvGrpSpPr>
            <p:cNvPr id="10" name="Group 9"/>
            <p:cNvGrpSpPr/>
            <p:nvPr/>
          </p:nvGrpSpPr>
          <p:grpSpPr>
            <a:xfrm>
              <a:off x="11364912" y="0"/>
              <a:ext cx="674688" cy="6848476"/>
              <a:chOff x="11364912" y="0"/>
              <a:chExt cx="674688" cy="6848476"/>
            </a:xfrm>
            <a:gradFill flip="none" rotWithShape="1">
              <a:gsLst>
                <a:gs pos="0">
                  <a:schemeClr val="tx2">
                    <a:alpha val="80000"/>
                  </a:schemeClr>
                </a:gs>
                <a:gs pos="100000">
                  <a:schemeClr val="bg2">
                    <a:lumMod val="60000"/>
                    <a:lumOff val="40000"/>
                    <a:alpha val="60000"/>
                  </a:schemeClr>
                </a:gs>
              </a:gsLst>
              <a:lin ang="5400000" scaled="0"/>
              <a:tileRect/>
            </a:gradFill>
          </p:grpSpPr>
          <p:sp>
            <p:nvSpPr>
              <p:cNvPr id="11" name="Freeform 32"/>
              <p:cNvSpPr/>
              <p:nvPr/>
            </p:nvSpPr>
            <p:spPr bwMode="auto">
              <a:xfrm>
                <a:off x="11483975" y="0"/>
                <a:ext cx="417513" cy="512763"/>
              </a:xfrm>
              <a:custGeom>
                <a:avLst/>
                <a:gdLst/>
                <a:ahLst/>
                <a:cxnLst/>
                <a:rect l="0" t="0" r="r" b="b"/>
                <a:pathLst>
                  <a:path w="263" h="323">
                    <a:moveTo>
                      <a:pt x="12" y="323"/>
                    </a:moveTo>
                    <a:lnTo>
                      <a:pt x="0" y="314"/>
                    </a:lnTo>
                    <a:lnTo>
                      <a:pt x="203" y="108"/>
                    </a:lnTo>
                    <a:lnTo>
                      <a:pt x="248" y="0"/>
                    </a:lnTo>
                    <a:lnTo>
                      <a:pt x="263" y="6"/>
                    </a:lnTo>
                    <a:lnTo>
                      <a:pt x="218" y="117"/>
                    </a:lnTo>
                    <a:lnTo>
                      <a:pt x="218" y="117"/>
                    </a:lnTo>
                    <a:lnTo>
                      <a:pt x="12" y="32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2" name="Freeform 33"/>
              <p:cNvSpPr>
                <a:spLocks noEditPoints="1"/>
              </p:cNvSpPr>
              <p:nvPr/>
            </p:nvSpPr>
            <p:spPr bwMode="auto">
              <a:xfrm>
                <a:off x="11364912" y="474663"/>
                <a:ext cx="157163" cy="152400"/>
              </a:xfrm>
              <a:custGeom>
                <a:avLst/>
                <a:gdLst/>
                <a:ahLst/>
                <a:cxnLst/>
                <a:rect l="0" t="0" r="r" b="b"/>
                <a:pathLst>
                  <a:path w="33" h="32">
                    <a:moveTo>
                      <a:pt x="17" y="32"/>
                    </a:moveTo>
                    <a:cubicBezTo>
                      <a:pt x="13" y="32"/>
                      <a:pt x="9" y="30"/>
                      <a:pt x="6" y="27"/>
                    </a:cubicBezTo>
                    <a:cubicBezTo>
                      <a:pt x="0" y="21"/>
                      <a:pt x="0" y="11"/>
                      <a:pt x="6" y="5"/>
                    </a:cubicBezTo>
                    <a:cubicBezTo>
                      <a:pt x="9" y="2"/>
                      <a:pt x="13" y="0"/>
                      <a:pt x="17" y="0"/>
                    </a:cubicBezTo>
                    <a:cubicBezTo>
                      <a:pt x="21" y="0"/>
                      <a:pt x="25" y="2"/>
                      <a:pt x="28" y="5"/>
                    </a:cubicBezTo>
                    <a:cubicBezTo>
                      <a:pt x="31" y="8"/>
                      <a:pt x="33" y="12"/>
                      <a:pt x="33" y="16"/>
                    </a:cubicBezTo>
                    <a:cubicBezTo>
                      <a:pt x="33" y="20"/>
                      <a:pt x="31" y="24"/>
                      <a:pt x="28" y="27"/>
                    </a:cubicBezTo>
                    <a:cubicBezTo>
                      <a:pt x="25" y="30"/>
                      <a:pt x="21" y="32"/>
                      <a:pt x="17" y="32"/>
                    </a:cubicBezTo>
                    <a:close/>
                    <a:moveTo>
                      <a:pt x="17" y="4"/>
                    </a:moveTo>
                    <a:cubicBezTo>
                      <a:pt x="14" y="4"/>
                      <a:pt x="11" y="6"/>
                      <a:pt x="9" y="8"/>
                    </a:cubicBezTo>
                    <a:cubicBezTo>
                      <a:pt x="4" y="12"/>
                      <a:pt x="4" y="20"/>
                      <a:pt x="9" y="24"/>
                    </a:cubicBezTo>
                    <a:cubicBezTo>
                      <a:pt x="11" y="27"/>
                      <a:pt x="14" y="28"/>
                      <a:pt x="17" y="28"/>
                    </a:cubicBezTo>
                    <a:cubicBezTo>
                      <a:pt x="20" y="28"/>
                      <a:pt x="23" y="27"/>
                      <a:pt x="26" y="24"/>
                    </a:cubicBezTo>
                    <a:cubicBezTo>
                      <a:pt x="30" y="20"/>
                      <a:pt x="30" y="12"/>
                      <a:pt x="26" y="8"/>
                    </a:cubicBezTo>
                    <a:cubicBezTo>
                      <a:pt x="23" y="6"/>
                      <a:pt x="20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3" name="Freeform 34"/>
              <p:cNvSpPr>
                <a:spLocks noEditPoints="1"/>
              </p:cNvSpPr>
              <p:nvPr/>
            </p:nvSpPr>
            <p:spPr bwMode="auto">
              <a:xfrm>
                <a:off x="11631612" y="1539875"/>
                <a:ext cx="188913" cy="190500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4" name="Freeform 35"/>
              <p:cNvSpPr/>
              <p:nvPr/>
            </p:nvSpPr>
            <p:spPr bwMode="auto">
              <a:xfrm>
                <a:off x="11531600" y="5694363"/>
                <a:ext cx="298450" cy="1154113"/>
              </a:xfrm>
              <a:custGeom>
                <a:avLst/>
                <a:gdLst/>
                <a:ahLst/>
                <a:cxnLst/>
                <a:rect l="0" t="0" r="r" b="b"/>
                <a:pathLst>
                  <a:path w="188" h="727">
                    <a:moveTo>
                      <a:pt x="15" y="727"/>
                    </a:moveTo>
                    <a:lnTo>
                      <a:pt x="0" y="727"/>
                    </a:lnTo>
                    <a:lnTo>
                      <a:pt x="0" y="407"/>
                    </a:lnTo>
                    <a:lnTo>
                      <a:pt x="0" y="407"/>
                    </a:lnTo>
                    <a:lnTo>
                      <a:pt x="176" y="0"/>
                    </a:lnTo>
                    <a:lnTo>
                      <a:pt x="188" y="6"/>
                    </a:lnTo>
                    <a:lnTo>
                      <a:pt x="15" y="410"/>
                    </a:lnTo>
                    <a:lnTo>
                      <a:pt x="15" y="727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5" name="Freeform 36"/>
              <p:cNvSpPr>
                <a:spLocks noEditPoints="1"/>
              </p:cNvSpPr>
              <p:nvPr/>
            </p:nvSpPr>
            <p:spPr bwMode="auto">
              <a:xfrm>
                <a:off x="11772900" y="5551488"/>
                <a:ext cx="157163" cy="155575"/>
              </a:xfrm>
              <a:custGeom>
                <a:avLst/>
                <a:gdLst/>
                <a:ahLst/>
                <a:cxnLst/>
                <a:rect l="0" t="0" r="r" b="b"/>
                <a:pathLst>
                  <a:path w="33" h="33">
                    <a:moveTo>
                      <a:pt x="17" y="33"/>
                    </a:moveTo>
                    <a:cubicBezTo>
                      <a:pt x="8" y="33"/>
                      <a:pt x="0" y="25"/>
                      <a:pt x="0" y="16"/>
                    </a:cubicBezTo>
                    <a:cubicBezTo>
                      <a:pt x="0" y="7"/>
                      <a:pt x="8" y="0"/>
                      <a:pt x="17" y="0"/>
                    </a:cubicBezTo>
                    <a:cubicBezTo>
                      <a:pt x="26" y="0"/>
                      <a:pt x="33" y="7"/>
                      <a:pt x="33" y="16"/>
                    </a:cubicBezTo>
                    <a:cubicBezTo>
                      <a:pt x="33" y="25"/>
                      <a:pt x="26" y="33"/>
                      <a:pt x="17" y="33"/>
                    </a:cubicBezTo>
                    <a:close/>
                    <a:moveTo>
                      <a:pt x="17" y="4"/>
                    </a:moveTo>
                    <a:cubicBezTo>
                      <a:pt x="10" y="4"/>
                      <a:pt x="4" y="9"/>
                      <a:pt x="4" y="16"/>
                    </a:cubicBezTo>
                    <a:cubicBezTo>
                      <a:pt x="4" y="23"/>
                      <a:pt x="10" y="29"/>
                      <a:pt x="17" y="29"/>
                    </a:cubicBezTo>
                    <a:cubicBezTo>
                      <a:pt x="23" y="29"/>
                      <a:pt x="29" y="23"/>
                      <a:pt x="29" y="16"/>
                    </a:cubicBezTo>
                    <a:cubicBezTo>
                      <a:pt x="29" y="9"/>
                      <a:pt x="23" y="4"/>
                      <a:pt x="17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6" name="Freeform 37"/>
              <p:cNvSpPr/>
              <p:nvPr/>
            </p:nvSpPr>
            <p:spPr bwMode="auto">
              <a:xfrm>
                <a:off x="11710987" y="4763"/>
                <a:ext cx="304800" cy="1544638"/>
              </a:xfrm>
              <a:custGeom>
                <a:avLst/>
                <a:gdLst/>
                <a:ahLst/>
                <a:cxnLst/>
                <a:rect l="0" t="0" r="r" b="b"/>
                <a:pathLst>
                  <a:path w="192" h="973">
                    <a:moveTo>
                      <a:pt x="15" y="973"/>
                    </a:moveTo>
                    <a:lnTo>
                      <a:pt x="0" y="973"/>
                    </a:lnTo>
                    <a:lnTo>
                      <a:pt x="0" y="790"/>
                    </a:lnTo>
                    <a:lnTo>
                      <a:pt x="174" y="614"/>
                    </a:lnTo>
                    <a:lnTo>
                      <a:pt x="174" y="0"/>
                    </a:lnTo>
                    <a:lnTo>
                      <a:pt x="192" y="0"/>
                    </a:lnTo>
                    <a:lnTo>
                      <a:pt x="192" y="620"/>
                    </a:lnTo>
                    <a:lnTo>
                      <a:pt x="15" y="796"/>
                    </a:lnTo>
                    <a:lnTo>
                      <a:pt x="15" y="973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7" name="Freeform 38"/>
              <p:cNvSpPr>
                <a:spLocks noEditPoints="1"/>
              </p:cNvSpPr>
              <p:nvPr/>
            </p:nvSpPr>
            <p:spPr bwMode="auto">
              <a:xfrm>
                <a:off x="11636375" y="4867275"/>
                <a:ext cx="188913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1" y="4"/>
                      <a:pt x="4" y="11"/>
                      <a:pt x="4" y="20"/>
                    </a:cubicBezTo>
                    <a:cubicBezTo>
                      <a:pt x="4" y="29"/>
                      <a:pt x="11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8" name="Freeform 39"/>
              <p:cNvSpPr/>
              <p:nvPr/>
            </p:nvSpPr>
            <p:spPr bwMode="auto">
              <a:xfrm>
                <a:off x="11441112" y="5046663"/>
                <a:ext cx="307975" cy="1801813"/>
              </a:xfrm>
              <a:custGeom>
                <a:avLst/>
                <a:gdLst/>
                <a:ahLst/>
                <a:cxnLst/>
                <a:rect l="0" t="0" r="r" b="b"/>
                <a:pathLst>
                  <a:path w="194" h="1135">
                    <a:moveTo>
                      <a:pt x="18" y="1135"/>
                    </a:moveTo>
                    <a:lnTo>
                      <a:pt x="0" y="1135"/>
                    </a:lnTo>
                    <a:lnTo>
                      <a:pt x="0" y="354"/>
                    </a:lnTo>
                    <a:lnTo>
                      <a:pt x="176" y="177"/>
                    </a:lnTo>
                    <a:lnTo>
                      <a:pt x="176" y="0"/>
                    </a:lnTo>
                    <a:lnTo>
                      <a:pt x="194" y="0"/>
                    </a:lnTo>
                    <a:lnTo>
                      <a:pt x="194" y="183"/>
                    </a:lnTo>
                    <a:lnTo>
                      <a:pt x="18" y="360"/>
                    </a:lnTo>
                    <a:lnTo>
                      <a:pt x="18" y="1135"/>
                    </a:ln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19" name="Freeform 40"/>
              <p:cNvSpPr>
                <a:spLocks noEditPoints="1"/>
              </p:cNvSpPr>
              <p:nvPr/>
            </p:nvSpPr>
            <p:spPr bwMode="auto">
              <a:xfrm>
                <a:off x="11849100" y="6416675"/>
                <a:ext cx="190500" cy="188913"/>
              </a:xfrm>
              <a:custGeom>
                <a:avLst/>
                <a:gdLst/>
                <a:ahLst/>
                <a:cxnLst/>
                <a:rect l="0" t="0" r="r" b="b"/>
                <a:pathLst>
                  <a:path w="40" h="40">
                    <a:moveTo>
                      <a:pt x="20" y="40"/>
                    </a:moveTo>
                    <a:cubicBezTo>
                      <a:pt x="9" y="40"/>
                      <a:pt x="0" y="31"/>
                      <a:pt x="0" y="20"/>
                    </a:cubicBezTo>
                    <a:cubicBezTo>
                      <a:pt x="0" y="9"/>
                      <a:pt x="9" y="0"/>
                      <a:pt x="20" y="0"/>
                    </a:cubicBezTo>
                    <a:cubicBezTo>
                      <a:pt x="31" y="0"/>
                      <a:pt x="40" y="9"/>
                      <a:pt x="40" y="20"/>
                    </a:cubicBezTo>
                    <a:cubicBezTo>
                      <a:pt x="40" y="31"/>
                      <a:pt x="31" y="40"/>
                      <a:pt x="20" y="40"/>
                    </a:cubicBezTo>
                    <a:close/>
                    <a:moveTo>
                      <a:pt x="20" y="4"/>
                    </a:moveTo>
                    <a:cubicBezTo>
                      <a:pt x="12" y="4"/>
                      <a:pt x="4" y="11"/>
                      <a:pt x="4" y="20"/>
                    </a:cubicBezTo>
                    <a:cubicBezTo>
                      <a:pt x="4" y="29"/>
                      <a:pt x="12" y="36"/>
                      <a:pt x="20" y="36"/>
                    </a:cubicBezTo>
                    <a:cubicBezTo>
                      <a:pt x="29" y="36"/>
                      <a:pt x="36" y="29"/>
                      <a:pt x="36" y="20"/>
                    </a:cubicBezTo>
                    <a:cubicBezTo>
                      <a:pt x="36" y="11"/>
                      <a:pt x="29" y="4"/>
                      <a:pt x="20" y="4"/>
                    </a:cubicBezTo>
                    <a:close/>
                  </a:path>
                </a:pathLst>
              </a:cu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round/>
                    <a:headEnd/>
                    <a:tailEnd/>
                  </a14:hiddenLine>
                </a:ext>
              </a:extLst>
            </p:spPr>
          </p:sp>
          <p:sp>
            <p:nvSpPr>
              <p:cNvPr id="20" name="Rectangle 41"/>
              <p:cNvSpPr>
                <a:spLocks noChangeArrowheads="1"/>
              </p:cNvSpPr>
              <p:nvPr/>
            </p:nvSpPr>
            <p:spPr bwMode="auto">
              <a:xfrm>
                <a:off x="11939587" y="6596063"/>
                <a:ext cx="23813" cy="252413"/>
              </a:xfrm>
              <a:prstGeom prst="rect">
                <a:avLst/>
              </a:prstGeom>
              <a:grpFill/>
              <a:ln>
                <a:noFill/>
              </a:ln>
              <a:extLst>
                <a:ext uri="{91240B29-F687-4f45-9708-019B960494DF}">
                  <a14:hiddenLine xmlns:a14="http://schemas.microsoft.com/office/drawing/2010/main" xmlns="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sp>
        </p:grpSp>
      </p:grp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141413" y="618518"/>
            <a:ext cx="9905998" cy="147857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41412" y="2249487"/>
            <a:ext cx="9905999" cy="3541714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7456921" y="5883276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BCF1281-E1A6-4171-9532-849ECA001A50}" type="datetimeFigureOut">
              <a:rPr lang="en-US" smtClean="0"/>
              <a:t>3/1/2026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1141411" y="5883275"/>
            <a:ext cx="623930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05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0276321" y="5883274"/>
            <a:ext cx="77108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05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C7E3C76-F46C-4D50-8F37-C07A4515E9CA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594549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3600" kern="1200" cap="all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125000"/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120000"/>
        </a:lnSpc>
        <a:spcBef>
          <a:spcPts val="500"/>
        </a:spcBef>
        <a:buSzPct val="125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4" Type="http://schemas.openxmlformats.org/officeDocument/2006/relationships/comments" Target="../comments/comment1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1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019C62-3EB0-4B7B-ADF8-865AAA3BE46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04441"/>
            <a:ext cx="12192000" cy="1173479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Forenzika</a:t>
            </a:r>
            <a:r>
              <a:rPr lang="en-US" sz="5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storage </a:t>
            </a:r>
            <a:r>
              <a:rPr lang="en-US" sz="5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medijuma</a:t>
            </a:r>
            <a:br>
              <a:rPr lang="sr-Latn-R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sr-Latn-R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</a:t>
            </a:r>
            <a:r>
              <a:rPr lang="sr-Latn-R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pristup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podacima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sakrivanje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9D188FF8-4986-4244-BA38-849906C2CDC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2424" y="4831398"/>
            <a:ext cx="11341736" cy="1853882"/>
          </a:xfrm>
        </p:spPr>
        <p:txBody>
          <a:bodyPr>
            <a:no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Profesor: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				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tudent: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 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BRATISLAV PREDIĆ						dušica milanović</a:t>
            </a:r>
          </a:p>
          <a:p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					br.indeksa: 2128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01541670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87A99E-5153-48EF-9477-57D135D420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73760"/>
          </a:xfrm>
        </p:spPr>
        <p:txBody>
          <a:bodyPr/>
          <a:lstStyle/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Sadržaj prezentacije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</a:rPr>
              <a:t>:</a:t>
            </a:r>
            <a:endParaRPr lang="en-US" dirty="0">
              <a:solidFill>
                <a:schemeClr val="accent5">
                  <a:lumMod val="50000"/>
                </a:schemeClr>
              </a:solidFill>
            </a:endParaRP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0841D44-BCB5-4C67-8303-3E07BD65A24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95680" y="1168400"/>
            <a:ext cx="10759440" cy="5560874"/>
          </a:xfrm>
        </p:spPr>
        <p:txBody>
          <a:bodyPr>
            <a:noAutofit/>
          </a:bodyPr>
          <a:lstStyle/>
          <a:p>
            <a:pPr marL="457200" indent="-457200">
              <a:buFont typeface="+mj-lt"/>
              <a:buAutoNum type="arabicPeriod"/>
            </a:pPr>
            <a:r>
              <a:rPr lang="sr-Latn-R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Tema seminarskog rada</a:t>
            </a:r>
          </a:p>
          <a:p>
            <a:pPr marL="457200" indent="-457200">
              <a:buFont typeface="+mj-lt"/>
              <a:buAutoNum type="arabicPeriod"/>
            </a:pPr>
            <a:r>
              <a:rPr lang="sr-Latn-R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Osnovni pojmovi tvrdog diska:</a:t>
            </a:r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sr-Latn-R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Latn-R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sektor i Master </a:t>
            </a:r>
            <a:r>
              <a:rPr lang="sr-Latn-R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Latn-R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Record</a:t>
            </a:r>
            <a:r>
              <a:rPr lang="sr-Latn-R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 (MBR)</a:t>
            </a:r>
          </a:p>
          <a:p>
            <a:pPr lvl="1">
              <a:spcBef>
                <a:spcPts val="600"/>
              </a:spcBef>
              <a:spcAft>
                <a:spcPts val="600"/>
              </a:spcAft>
            </a:pPr>
            <a:r>
              <a:rPr lang="sr-Latn-R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sz="2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Datotečni</a:t>
            </a:r>
            <a:r>
              <a:rPr lang="sr-Latn-RS" sz="2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sistem</a:t>
            </a:r>
            <a:endParaRPr 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indent="-457200">
              <a:buFont typeface="+mj-lt"/>
              <a:buAutoNum type="arabicPeriod"/>
            </a:pPr>
            <a:r>
              <a:rPr lang="sr-Latn-R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Sakrivanje particije tvrdog diska – praktična implementacija</a:t>
            </a:r>
          </a:p>
          <a:p>
            <a:pPr marL="457200" indent="-457200">
              <a:buFont typeface="+mj-lt"/>
              <a:buAutoNum type="arabicPeriod"/>
            </a:pPr>
            <a:r>
              <a:rPr lang="en-US" sz="32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Ograničenja</a:t>
            </a:r>
            <a:r>
              <a:rPr lang="sr-Latn-R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 ponašanje Windows OS</a:t>
            </a:r>
          </a:p>
          <a:p>
            <a:pPr marL="457200" indent="-457200">
              <a:buFont typeface="+mj-lt"/>
              <a:buAutoNum type="arabicPeriod"/>
            </a:pPr>
            <a:r>
              <a:rPr lang="sr-Latn-RS" sz="3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Zaključak</a:t>
            </a:r>
            <a:endParaRPr lang="en-US" sz="3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345116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CFB0BD5-FA19-40D9-AFE8-5E3AAB4FA7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9306" y="1921565"/>
            <a:ext cx="10593388" cy="3472070"/>
          </a:xfrm>
        </p:spPr>
        <p:txBody>
          <a:bodyPr>
            <a:norm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Tema rada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obuhvata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forenzičku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storage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medijuma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posebnim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fokusom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RAW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podacima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strukturu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Master Boot Record-a (MBR).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okviru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rada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analizirani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FAT (FAT32)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NTFS,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njihovo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ponašanje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prilikom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Praktični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deo rada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obuhvata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demonstraciju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korišćenjem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heksadecimalnog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editora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HxD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programskog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rešenja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direktnim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ponašanja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različitih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Windows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operativnih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</a:p>
          <a:p>
            <a:pPr marL="0" indent="0" algn="just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45DEC4F1-7C74-41F3-A3EA-C1653FB9EA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73760"/>
          </a:xfrm>
        </p:spPr>
        <p:txBody>
          <a:bodyPr/>
          <a:lstStyle/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1. TEMA SEMINARSKOG RADA: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2137589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A92FCBE-77E7-2846-B0BE-937E3E0D3C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EAC3C71-51DE-C099-BF77-0918864D317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048243" y="1803540"/>
            <a:ext cx="8127842" cy="3939534"/>
          </a:xfrm>
        </p:spPr>
        <p:txBody>
          <a:bodyPr>
            <a:normAutofit fontScale="92500" lnSpcReduction="10000"/>
          </a:bodyPr>
          <a:lstStyle/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Direktan pristup sektorima diska (LBA)</a:t>
            </a:r>
          </a:p>
          <a:p>
            <a:pPr lvl="1"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Zaobilazi logičke strukture/mehanizme OS-a</a:t>
            </a:r>
          </a:p>
          <a:p>
            <a:pPr lvl="1"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Omogućava uvid u skrivene i obrisane podatke</a:t>
            </a:r>
          </a:p>
          <a:p>
            <a:pPr lvl="1"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Ne zavisi od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datotečnog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sistema</a:t>
            </a:r>
          </a:p>
          <a:p>
            <a:pPr lvl="1"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Ključan za digitalnu forenziku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incident response-u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korišćen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praktičnom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delu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rada za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direktnu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zapisa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omogućava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otkrivanje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neslaganja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između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prikaza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Title 1">
            <a:extLst>
              <a:ext uri="{FF2B5EF4-FFF2-40B4-BE49-F238E27FC236}">
                <a16:creationId xmlns:a16="http://schemas.microsoft.com/office/drawing/2014/main" id="{BEC9F035-F5AA-5385-E211-6C57C6E7E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1"/>
            <a:ext cx="12192000" cy="873760"/>
          </a:xfrm>
        </p:spPr>
        <p:txBody>
          <a:bodyPr/>
          <a:lstStyle/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RAW PRISTUP PODACIMA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10222948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F9CE78E-178E-4BB3-AC1A-593A44446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9599" y="1499449"/>
            <a:ext cx="4691217" cy="3963563"/>
          </a:xfrm>
        </p:spPr>
        <p:txBody>
          <a:bodyPr>
            <a:normAutofit fontScale="92500" lnSpcReduction="20000"/>
          </a:bodyPr>
          <a:lstStyle/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Prvi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particionisanog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(LBA 0)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Sadrži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boot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tabelu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potpis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0x55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0xAA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Definiše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vidljivost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Kritična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tačka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forenzičke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Česta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meta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forenzičke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manipulacije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zapisa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moguće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particiju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457200" lvl="1" indent="0">
              <a:buNone/>
            </a:pP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4E036DD3-2435-4DF9-9B87-46E5EC7C523E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2. Master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record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mbr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549E576-77FE-61DE-FF49-44BC160D71C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349507" y="1499449"/>
            <a:ext cx="4322439" cy="3859102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5A83D3EC-0860-9819-8356-F868A4C5901D}"/>
              </a:ext>
            </a:extLst>
          </p:cNvPr>
          <p:cNvSpPr txBox="1"/>
          <p:nvPr/>
        </p:nvSpPr>
        <p:spPr>
          <a:xfrm>
            <a:off x="6930500" y="5486399"/>
            <a:ext cx="3160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Struktura Master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Record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5845735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E1F3CC-BEC0-2C17-4A1E-B58F77ACCA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1298808-44B6-B36D-525E-CB8C67A529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89599" y="1499450"/>
            <a:ext cx="4691217" cy="3282616"/>
          </a:xfrm>
        </p:spPr>
        <p:txBody>
          <a:bodyPr>
            <a:normAutofit/>
          </a:bodyPr>
          <a:lstStyle/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Veličina 512B</a:t>
            </a:r>
          </a:p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Struktura MBR-a:</a:t>
            </a:r>
          </a:p>
          <a:p>
            <a:pPr lvl="1" algn="just"/>
            <a:r>
              <a:rPr lang="sr-Latn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Bootstrap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code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Area 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bajtovi 0-455 (446 bajtova)</a:t>
            </a:r>
          </a:p>
          <a:p>
            <a:pPr lvl="1" algn="just"/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Master </a:t>
            </a:r>
            <a:r>
              <a:rPr lang="sr-Latn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Partition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Table (MPT) 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bajtovi 446-509</a:t>
            </a:r>
          </a:p>
          <a:p>
            <a:pPr lvl="1" algn="just"/>
            <a:r>
              <a:rPr lang="sr-Latn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potpis 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– bajtovi 510-511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54692687-045D-94BE-2B9C-A6F7ED210927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Master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record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mbr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4CBB2FD-52D2-FF30-F7C6-31D4D27FF7DC}"/>
              </a:ext>
            </a:extLst>
          </p:cNvPr>
          <p:cNvSpPr txBox="1"/>
          <p:nvPr/>
        </p:nvSpPr>
        <p:spPr>
          <a:xfrm>
            <a:off x="7246325" y="4782066"/>
            <a:ext cx="3160451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Struktura MBR sektora (LBA 0)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2" name="Table 11">
            <a:extLst>
              <a:ext uri="{FF2B5EF4-FFF2-40B4-BE49-F238E27FC236}">
                <a16:creationId xmlns:a16="http://schemas.microsoft.com/office/drawing/2014/main" id="{A98C0D24-DC95-BD36-98DC-BA365AF237F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51445721"/>
              </p:ext>
            </p:extLst>
          </p:nvPr>
        </p:nvGraphicFramePr>
        <p:xfrm>
          <a:off x="6611186" y="1805457"/>
          <a:ext cx="4430731" cy="2706131"/>
        </p:xfrm>
        <a:graphic>
          <a:graphicData uri="http://schemas.openxmlformats.org/drawingml/2006/table">
            <a:tbl>
              <a:tblPr firstRow="1" firstCol="1">
                <a:tableStyleId>{7DF18680-E054-41AD-8BC1-D1AEF772440D}</a:tableStyleId>
              </a:tblPr>
              <a:tblGrid>
                <a:gridCol w="1311033">
                  <a:extLst>
                    <a:ext uri="{9D8B030D-6E8A-4147-A177-3AD203B41FA5}">
                      <a16:colId xmlns:a16="http://schemas.microsoft.com/office/drawing/2014/main" val="815980451"/>
                    </a:ext>
                  </a:extLst>
                </a:gridCol>
                <a:gridCol w="766102">
                  <a:extLst>
                    <a:ext uri="{9D8B030D-6E8A-4147-A177-3AD203B41FA5}">
                      <a16:colId xmlns:a16="http://schemas.microsoft.com/office/drawing/2014/main" val="2106773861"/>
                    </a:ext>
                  </a:extLst>
                </a:gridCol>
                <a:gridCol w="2353596">
                  <a:extLst>
                    <a:ext uri="{9D8B030D-6E8A-4147-A177-3AD203B41FA5}">
                      <a16:colId xmlns:a16="http://schemas.microsoft.com/office/drawing/2014/main" val="3245439884"/>
                    </a:ext>
                  </a:extLst>
                </a:gridCol>
              </a:tblGrid>
              <a:tr h="63080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Cyrl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Offset</a:t>
                      </a:r>
                      <a:r>
                        <a:rPr lang="sr-Cyrl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</a:t>
                      </a:r>
                      <a:r>
                        <a:rPr lang="sr-Cyrl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hex</a:t>
                      </a:r>
                      <a:r>
                        <a:rPr lang="sr-Cyrl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)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Veličina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Opis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0975832"/>
                  </a:ext>
                </a:extLst>
              </a:tr>
              <a:tr h="63080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Cyrl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0x000 – 0x1BD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446 B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Boot code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7674668"/>
                  </a:ext>
                </a:extLst>
              </a:tr>
              <a:tr h="81373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Cyrl-R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0x1BE – 0x1FD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64 B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Cyrl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Partition</a:t>
                      </a:r>
                      <a:r>
                        <a:rPr lang="sr-Cyrl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sr-Cyrl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table</a:t>
                      </a:r>
                      <a:r>
                        <a:rPr lang="sr-Cyrl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(4 × 16 B)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93362900"/>
                  </a:ext>
                </a:extLst>
              </a:tr>
              <a:tr h="630800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Cyrl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0x1FE – 0x1FF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2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 B</a:t>
                      </a:r>
                      <a:endParaRPr lang="en-US" sz="11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Cyrl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MBR </a:t>
                      </a:r>
                      <a:r>
                        <a:rPr lang="sr-Cyrl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signature</a:t>
                      </a:r>
                      <a:r>
                        <a:rPr lang="sr-Cyrl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(55 AA)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120146662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0761405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6D4996C-CB48-F984-7767-F93464C057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DD436D3-2FA6-AA67-B11D-8C9803CCC8C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21869" y="1561111"/>
            <a:ext cx="5666636" cy="5000110"/>
          </a:xfrm>
        </p:spPr>
        <p:txBody>
          <a:bodyPr>
            <a:normAutofit fontScale="92500" lnSpcReduction="20000"/>
          </a:bodyPr>
          <a:lstStyle/>
          <a:p>
            <a:pPr algn="just"/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Partition</a:t>
            </a:r>
            <a:r>
              <a:rPr lang="sr-Cyrl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table</a:t>
            </a:r>
            <a:r>
              <a:rPr lang="sr-Cyrl-R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sadrži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4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unosa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Svaki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16B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unos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opisuje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particiju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tipično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sadrži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Entry</a:t>
            </a:r>
            <a:r>
              <a:rPr lang="sr-Cyrl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#1 -</a:t>
            </a:r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status</a:t>
            </a:r>
            <a:r>
              <a:rPr lang="sr-Cyrl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Cyrl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flag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označava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aktivna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Entry #2 - partition type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NTFS, FAT32, “hidden”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varijante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itd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.),</a:t>
            </a:r>
          </a:p>
          <a:p>
            <a:pPr lvl="1" algn="just"/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Entry</a:t>
            </a:r>
            <a:r>
              <a:rPr lang="sr-Cyrl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#3 - </a:t>
            </a:r>
            <a:r>
              <a:rPr lang="sr-Cyrl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start</a:t>
            </a:r>
            <a:r>
              <a:rPr lang="sr-Cyrl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LBA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gde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Cyrl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počinje</a:t>
            </a:r>
            <a:r>
              <a:rPr lang="sr-Cyrl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i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Entry #4 - size in sectors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veličina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izražena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sektorima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).</a:t>
            </a: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vrši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tačno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definisanom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offsetu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unutar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sektora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(decimalno: 450,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hex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0x1C2)</a:t>
            </a:r>
          </a:p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0x07 – označava NTFS particiju</a:t>
            </a: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3CCDF557-33F2-2A50-0BB1-91D7FE6438B8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Master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partition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table (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mpt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444F42A6-28FD-A307-FF08-B921303527C0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r="11351"/>
          <a:stretch>
            <a:fillRect/>
          </a:stretch>
        </p:blipFill>
        <p:spPr>
          <a:xfrm>
            <a:off x="6440715" y="2594916"/>
            <a:ext cx="5372341" cy="2273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823526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2D2859A-7FE0-48FE-B084-BBEFC8B08C0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155769" y="2278311"/>
            <a:ext cx="8148870" cy="2301378"/>
          </a:xfrm>
        </p:spPr>
        <p:txBody>
          <a:bodyPr>
            <a:normAutofit/>
          </a:bodyPr>
          <a:lstStyle/>
          <a:p>
            <a:pPr fontAlgn="base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Definišu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način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organizacije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podacima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fontAlgn="base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Omogućavaju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datotekama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direktorijumima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fontAlgn="base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Skrivaju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lokaciju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podataka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korisnika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fontAlgn="base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Razlikuju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po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strukturi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bezbednosti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forenzičkom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značaju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4E17E8F-7524-4B31-A683-FD121FBAFAA8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Datotečni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sistem (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fat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ntfs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26713444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A5FA6BB-D365-424F-8C2A-5E121A4C291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1979" y="1277139"/>
            <a:ext cx="6598507" cy="5160731"/>
          </a:xfrm>
        </p:spPr>
        <p:txBody>
          <a:bodyPr>
            <a:normAutofit/>
          </a:bodyPr>
          <a:lstStyle/>
          <a:p>
            <a:pPr algn="just"/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FAT (File Allocation Table)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-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obuhvata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varijante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FAT12, FAT16 </a:t>
            </a:r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FAT32</a:t>
            </a:r>
            <a:r>
              <a:rPr lang="sr-Latn-R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8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Jednostavan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i široko kompatibilan sistem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.</a:t>
            </a:r>
            <a:endParaRPr lang="sr-Latn-R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sr-Latn-R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Koristi FAT tabelu za povezivanje klastera</a:t>
            </a:r>
          </a:p>
          <a:p>
            <a:pPr algn="just"/>
            <a:r>
              <a:rPr lang="sr-Latn-R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Glavne komponente</a:t>
            </a:r>
            <a:r>
              <a:rPr lang="en-US" sz="18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</a:p>
          <a:p>
            <a:pPr lvl="1" algn="just"/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Boot </a:t>
            </a:r>
            <a:r>
              <a:rPr lang="en-US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FAT </a:t>
            </a:r>
            <a:r>
              <a:rPr lang="en-US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tabela</a:t>
            </a:r>
            <a:endParaRPr lang="en-US" sz="1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 </a:t>
            </a:r>
            <a:r>
              <a:rPr lang="en-US" sz="1800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direktorijuma</a:t>
            </a:r>
            <a:endParaRPr lang="sr-Latn-RS" sz="1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sz="18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Data region</a:t>
            </a:r>
            <a:endParaRPr lang="sr-Latn-RS" sz="1800" i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sr-Latn-RS" sz="22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Često korišćen na USB uređajima</a:t>
            </a:r>
            <a:endParaRPr lang="en-US" sz="22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4EE2212-B3D9-4741-B996-D14974587EF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FAT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datotečni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sistem</a:t>
            </a:r>
            <a:endParaRPr lang="en-US" i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drawing">
            <a:extLst>
              <a:ext uri="{FF2B5EF4-FFF2-40B4-BE49-F238E27FC236}">
                <a16:creationId xmlns:a16="http://schemas.microsoft.com/office/drawing/2014/main" id="{2B9C4EF8-E802-C255-FB48-AC317E71897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t="6891" b="15224"/>
          <a:stretch>
            <a:fillRect/>
          </a:stretch>
        </p:blipFill>
        <p:spPr>
          <a:xfrm>
            <a:off x="7608570" y="1277139"/>
            <a:ext cx="3761814" cy="4395430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6BD1E0C-973B-DB2C-F03E-FCD1AE1B8484}"/>
              </a:ext>
            </a:extLst>
          </p:cNvPr>
          <p:cNvSpPr txBox="1"/>
          <p:nvPr/>
        </p:nvSpPr>
        <p:spPr>
          <a:xfrm>
            <a:off x="7765709" y="5795318"/>
            <a:ext cx="344753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Hijerarhija FAT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datotečnog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sistema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59521799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0ADB349-78CB-C773-C945-331BC43E34C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B326F11-73B1-F10F-6F5E-AFF87C22693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49433" y="1119383"/>
            <a:ext cx="6358178" cy="4619233"/>
          </a:xfrm>
        </p:spPr>
        <p:txBody>
          <a:bodyPr>
            <a:normAutofit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NTFS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(New Technology File System)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–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avremeni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Windows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Centralna struktura - </a:t>
            </a:r>
            <a:r>
              <a:rPr lang="en-U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Master File Table (MFT) 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ogat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metapoda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ci o fajlovima</a:t>
            </a: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Podrž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ka za:</a:t>
            </a:r>
          </a:p>
          <a:p>
            <a:pPr lvl="1"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ACL dozvole</a:t>
            </a:r>
          </a:p>
          <a:p>
            <a:pPr lvl="1"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Journaling</a:t>
            </a:r>
          </a:p>
          <a:p>
            <a:pPr lvl="1"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Velike fajlove i volumene</a:t>
            </a:r>
          </a:p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Visok forenzički značaj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8A27764D-B4A5-6A91-1141-A0953F61D3F6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ntfs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datotečni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sitem</a:t>
            </a:r>
            <a:endParaRPr lang="en-US" i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4A21265-BF9B-A84D-4207-0CC170432E66}"/>
              </a:ext>
            </a:extLst>
          </p:cNvPr>
          <p:cNvSpPr txBox="1"/>
          <p:nvPr/>
        </p:nvSpPr>
        <p:spPr>
          <a:xfrm>
            <a:off x="7500551" y="5795318"/>
            <a:ext cx="3712694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Hijerarhija NTFS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datotečnog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sistema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DED1F04B-9252-931F-6940-C38E5D05B314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60559" y="1404730"/>
            <a:ext cx="3992677" cy="42572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9049967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745E4F-55A6-D365-E6B1-8CDE9092E17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3592085-CF39-29AE-0759-448277B145D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47605" y="1601651"/>
            <a:ext cx="5123934" cy="3654698"/>
          </a:xfrm>
        </p:spPr>
        <p:txBody>
          <a:bodyPr>
            <a:normAutofit fontScale="92500" lnSpcReduction="20000"/>
          </a:bodyPr>
          <a:lstStyle/>
          <a:p>
            <a:pPr algn="just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Različite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unutrašnje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strukture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mogućnosti</a:t>
            </a:r>
            <a:endParaRPr lang="sr-Latn-R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FAT (FAT32)</a:t>
            </a:r>
            <a:r>
              <a:rPr lang="sr-Latn-R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jednostavan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kompatibilan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bez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napredne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kontrole</a:t>
            </a:r>
            <a:endParaRPr lang="sr-Latn-R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NTFS</a:t>
            </a:r>
            <a:r>
              <a:rPr lang="sr-Latn-R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napredan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bezbedan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bogati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metapodaci</a:t>
            </a:r>
            <a:endParaRPr lang="sr-Latn-R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Različit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tretman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od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strane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Windows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operativnog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Sistema</a:t>
            </a:r>
            <a:endParaRPr lang="sr-Latn-R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FAT32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USB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uređajima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ostaju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vidljive</a:t>
            </a:r>
            <a:endParaRPr lang="sr-Latn-R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ignoriše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hidden partition type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za FAT32</a:t>
            </a:r>
            <a:endParaRPr lang="sr-Latn-R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NTFS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eksternim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hard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diskovima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uspešno</a:t>
            </a:r>
            <a:r>
              <a:rPr lang="en-U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sakrivaju</a:t>
            </a:r>
            <a:endParaRPr lang="sr-Latn-R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pl-PL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Razlike nisu u MBR zapisu, već u načinu na koji Windows tumači uređaj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2BE7611-37BC-D521-3433-E22CEBC86C09}"/>
              </a:ext>
            </a:extLst>
          </p:cNvPr>
          <p:cNvSpPr txBox="1">
            <a:spLocks/>
          </p:cNvSpPr>
          <p:nvPr/>
        </p:nvSpPr>
        <p:spPr>
          <a:xfrm>
            <a:off x="-1" y="1"/>
            <a:ext cx="12761835" cy="90830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just"/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Fat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vs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ntfs</a:t>
            </a:r>
            <a:endParaRPr lang="en-US" i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78484B5-6902-E3A4-3DE8-9FE0830DC024}"/>
              </a:ext>
            </a:extLst>
          </p:cNvPr>
          <p:cNvSpPr txBox="1"/>
          <p:nvPr/>
        </p:nvSpPr>
        <p:spPr>
          <a:xfrm>
            <a:off x="6320462" y="5780418"/>
            <a:ext cx="506630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sr-Latn-C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Uporedni prikaz FAT (FAT32) i NTFS </a:t>
            </a:r>
            <a:r>
              <a:rPr lang="sr-Latn-CS" sz="16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datotečnih</a:t>
            </a:r>
            <a:r>
              <a:rPr lang="sr-Latn-CS" sz="16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sistema</a:t>
            </a:r>
            <a:endParaRPr lang="en-US" sz="16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39C5E06F-B791-E690-0140-4ABBDEBAACBA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07460072"/>
              </p:ext>
            </p:extLst>
          </p:nvPr>
        </p:nvGraphicFramePr>
        <p:xfrm>
          <a:off x="6320462" y="1224554"/>
          <a:ext cx="5123934" cy="4408892"/>
        </p:xfrm>
        <a:graphic>
          <a:graphicData uri="http://schemas.openxmlformats.org/drawingml/2006/table">
            <a:tbl>
              <a:tblPr firstRow="1" firstCol="1">
                <a:tableStyleId>{7DF18680-E054-41AD-8BC1-D1AEF772440D}</a:tableStyleId>
              </a:tblPr>
              <a:tblGrid>
                <a:gridCol w="1707978">
                  <a:extLst>
                    <a:ext uri="{9D8B030D-6E8A-4147-A177-3AD203B41FA5}">
                      <a16:colId xmlns:a16="http://schemas.microsoft.com/office/drawing/2014/main" val="2491983071"/>
                    </a:ext>
                  </a:extLst>
                </a:gridCol>
                <a:gridCol w="1707978">
                  <a:extLst>
                    <a:ext uri="{9D8B030D-6E8A-4147-A177-3AD203B41FA5}">
                      <a16:colId xmlns:a16="http://schemas.microsoft.com/office/drawing/2014/main" val="757177005"/>
                    </a:ext>
                  </a:extLst>
                </a:gridCol>
                <a:gridCol w="1707978">
                  <a:extLst>
                    <a:ext uri="{9D8B030D-6E8A-4147-A177-3AD203B41FA5}">
                      <a16:colId xmlns:a16="http://schemas.microsoft.com/office/drawing/2014/main" val="3110841651"/>
                    </a:ext>
                  </a:extLst>
                </a:gridCol>
              </a:tblGrid>
              <a:tr h="201360"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Karakteristika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FAT (FAT32)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ctr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1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NTFS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469151234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Tip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datotečnog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sistema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Jednostavan, legacy datotečni sistem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Savremeni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datotečni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sistem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107078184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Centralna struktura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FAT tabela (File Allocation Table)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Master File Table (MFT)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953666740"/>
                  </a:ext>
                </a:extLst>
              </a:tr>
              <a:tr h="179948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Organizacija datoteka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Lančano povezani klasteri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Zapisi sa atributima u MFT-u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3708811106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Maksimalna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veličina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datoteke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Ograničena (do 4 GB)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Praktično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neograničena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466928138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Podrška za velike volumene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Ograničena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Podržaba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824319449"/>
                  </a:ext>
                </a:extLst>
              </a:tr>
              <a:tr h="179948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Bezbednosni mehanizmi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Nisu podržani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ACL, dozvole, audit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865087740"/>
                  </a:ext>
                </a:extLst>
              </a:tr>
              <a:tr h="179948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Journaling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Nije podržan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Podržan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1212154786"/>
                  </a:ext>
                </a:extLst>
              </a:tr>
              <a:tr h="179948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Oporavak nakon greške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Ograničen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Napredan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3493503831"/>
                  </a:ext>
                </a:extLst>
              </a:tr>
              <a:tr h="179948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Fragmentacija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Visoka sklonost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Manja sklonost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3383256110"/>
                  </a:ext>
                </a:extLst>
              </a:tr>
              <a:tr h="179948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Metapodaci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Minimalni 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Opsežni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231109416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Mogućnost smeštanja podataka u metapodatke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Nije podržana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Podržana (resident files)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1693419102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Tipična primena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USB fleš memorije, memorijske kartice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Sistemski i eksterni hard diskovi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803523137"/>
                  </a:ext>
                </a:extLst>
              </a:tr>
              <a:tr h="179948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Forenzički značaj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Ograničen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Visok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1061785944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Poštovanje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hidden partition type u Windows OS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Ignoriše se na USB uređajima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Poštuje se na fiksnim i eksternim diskovima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867726717"/>
                  </a:ext>
                </a:extLst>
              </a:tr>
              <a:tr h="368487"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Ponašanje u praktičnom delu rada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Particija ostaje vidljiva u File Explorer-u</a:t>
                      </a:r>
                      <a:endParaRPr lang="en-US" sz="90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tc>
                  <a:txBody>
                    <a:bodyPr/>
                    <a:lstStyle/>
                    <a:p>
                      <a:pPr algn="just"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Particija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postaje</a:t>
                      </a:r>
                      <a:r>
                        <a:rPr lang="en-US" sz="10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en-US" sz="10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skrivena</a:t>
                      </a:r>
                      <a:endParaRPr lang="en-US" sz="9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55029" marR="55029" marT="0" marB="0" anchor="ctr"/>
                </a:tc>
                <a:extLst>
                  <a:ext uri="{0D108BD9-81ED-4DB2-BD59-A6C34878D82A}">
                    <a16:rowId xmlns:a16="http://schemas.microsoft.com/office/drawing/2014/main" val="2838735887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5218356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C238F5-44B9-FC81-F5F6-DD3E096523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FDC83FB-B495-F406-89CC-B7BD1317B26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95960" y="1124465"/>
            <a:ext cx="10800080" cy="5286845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sr-Latn-RS" sz="33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Opis eksperimenta:</a:t>
            </a: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Cilj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eksperimenta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zapisa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Direktan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RAW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 Type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particionoj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tabeli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Backup boot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kao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bezbednosna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mera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Radno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okruženje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 Windows 11</a:t>
            </a:r>
          </a:p>
          <a:p>
            <a:pPr lvl="1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Testirano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Windows 7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XP (VM)</a:t>
            </a:r>
          </a:p>
          <a:p>
            <a:pPr lvl="1"/>
            <a:r>
              <a:rPr lang="nn-NO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Različiti tipovi storage uređaja (eksterni HDD, USB flash)</a:t>
            </a:r>
          </a:p>
          <a:p>
            <a:pPr marL="457200" lvl="1" indent="0">
              <a:buNone/>
            </a:pP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Metodologija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rada</a:t>
            </a:r>
          </a:p>
          <a:p>
            <a:pPr lvl="1"/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Ručna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korišćenjem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HxD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alata</a:t>
            </a:r>
          </a:p>
          <a:p>
            <a:pPr lvl="1"/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Automatizovana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programskim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2100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rešenjem</a:t>
            </a:r>
            <a:r>
              <a:rPr lang="en-US" sz="21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(C/C++)</a:t>
            </a:r>
          </a:p>
          <a:p>
            <a:pPr algn="just"/>
            <a:endParaRPr lang="en-US" i="1" dirty="0"/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F8FE0B4C-F4D4-A408-8C65-A71DD47A2F5B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072552" cy="1124464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3. Sakrivanje particije tvrdog diska – praktična implementacija</a:t>
            </a:r>
            <a:endParaRPr lang="en-US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094294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6D12753-8656-40CB-B8BA-552601D866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951508" y="963828"/>
            <a:ext cx="6252481" cy="5560540"/>
          </a:xfrm>
          <a:ln w="38100">
            <a:noFill/>
          </a:ln>
        </p:spPr>
        <p:txBody>
          <a:bodyPr>
            <a:normAutofit fontScale="92500" lnSpcReduction="20000"/>
          </a:bodyPr>
          <a:lstStyle/>
          <a:p>
            <a:pPr algn="just"/>
            <a:r>
              <a:rPr lang="sr-Latn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HxD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heksadecimalni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editor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RAW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podacima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Direktno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otvaranje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PhysicalDrive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Analiza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particione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tabele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MBR-a je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moguća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isključivo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pokretanjem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alata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administratorskim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privilegijama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Partition Type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MBR-u</a:t>
            </a: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Kreiranje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backup-a boot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svake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Nakon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restarta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,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vidljiva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File Explorer-u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Disk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ostaje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prisutan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Disk Management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alatu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fr-F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je </a:t>
            </a:r>
            <a:r>
              <a:rPr lang="fr-F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reverzibilna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vraćanjem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fr-F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originalne</a:t>
            </a:r>
            <a:r>
              <a:rPr lang="fr-FR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 Type </a:t>
            </a:r>
            <a:r>
              <a:rPr lang="fr-FR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vrednosti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09DE6080-DD89-48FB-86C6-798CAB0615C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en-U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Sakrivanje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pomoću</a:t>
            </a:r>
            <a:r>
              <a:rPr lang="en-U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HxD</a:t>
            </a:r>
            <a:endParaRPr lang="en-US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drawing">
            <a:extLst>
              <a:ext uri="{FF2B5EF4-FFF2-40B4-BE49-F238E27FC236}">
                <a16:creationId xmlns:a16="http://schemas.microsoft.com/office/drawing/2014/main" id="{71F8FF06-0CD7-FDC6-CBD3-0036633195B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57324"/>
          <a:stretch>
            <a:fillRect/>
          </a:stretch>
        </p:blipFill>
        <p:spPr>
          <a:xfrm>
            <a:off x="7797114" y="1053895"/>
            <a:ext cx="3904734" cy="5145841"/>
          </a:xfrm>
          <a:prstGeom prst="rect">
            <a:avLst/>
          </a:prstGeom>
        </p:spPr>
      </p:pic>
      <p:sp>
        <p:nvSpPr>
          <p:cNvPr id="5" name="TextBox 4">
            <a:extLst>
              <a:ext uri="{FF2B5EF4-FFF2-40B4-BE49-F238E27FC236}">
                <a16:creationId xmlns:a16="http://schemas.microsoft.com/office/drawing/2014/main" id="{BBC775B5-8973-8D4F-FF9C-81AF800B3309}"/>
              </a:ext>
            </a:extLst>
          </p:cNvPr>
          <p:cNvSpPr txBox="1"/>
          <p:nvPr/>
        </p:nvSpPr>
        <p:spPr>
          <a:xfrm>
            <a:off x="7797114" y="6199736"/>
            <a:ext cx="430015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Prikaz sektora tvrdog diska u </a:t>
            </a:r>
            <a:r>
              <a:rPr lang="sr-Latn-C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HxD</a:t>
            </a:r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editoru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1965217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1B305F-BA28-88B9-2A74-6EFAA6BBE3B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81E4B45-4101-FAEF-75B2-E95675D3FAD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90871" y="1049000"/>
            <a:ext cx="5181766" cy="5636004"/>
          </a:xfrm>
          <a:ln w="38100">
            <a:noFill/>
          </a:ln>
        </p:spPr>
        <p:txBody>
          <a:bodyPr>
            <a:normAutofit/>
          </a:bodyPr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Particiona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tabela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nalazi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(LBA 0)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Svaka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definisano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Partition Type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polje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Promenom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vrednosti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vidljivost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TFS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: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 0x07 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standardna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NTFS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  0x17 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skrivena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NTFS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FAT 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particija:</a:t>
            </a:r>
          </a:p>
          <a:p>
            <a:pPr marL="457200" lvl="1" indent="0">
              <a:buNone/>
            </a:pP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0x0C → FAT32 LBA</a:t>
            </a:r>
            <a:b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	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0x1C →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skrivena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FAT32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6C9F222F-7BA9-7356-DEB1-28A42FB47928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l-PL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Izmena Partition Type polja u MBR-u</a:t>
            </a:r>
            <a:endParaRPr lang="en-US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436A545F-9C9B-9ECA-576E-E480B434126A}"/>
              </a:ext>
            </a:extLst>
          </p:cNvPr>
          <p:cNvGrpSpPr/>
          <p:nvPr/>
        </p:nvGrpSpPr>
        <p:grpSpPr>
          <a:xfrm>
            <a:off x="6289589" y="1049000"/>
            <a:ext cx="5111540" cy="5800423"/>
            <a:chOff x="6289589" y="1049000"/>
            <a:chExt cx="5111540" cy="5800423"/>
          </a:xfrm>
        </p:grpSpPr>
        <p:pic>
          <p:nvPicPr>
            <p:cNvPr id="5" name="drawing">
              <a:extLst>
                <a:ext uri="{FF2B5EF4-FFF2-40B4-BE49-F238E27FC236}">
                  <a16:creationId xmlns:a16="http://schemas.microsoft.com/office/drawing/2014/main" id="{71EA9FEF-F2F7-A277-A57C-380BBE5EFE9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 l="1" r="64820" b="16501"/>
            <a:stretch>
              <a:fillRect/>
            </a:stretch>
          </p:blipFill>
          <p:spPr>
            <a:xfrm>
              <a:off x="7688158" y="1049000"/>
              <a:ext cx="3712971" cy="4956384"/>
            </a:xfrm>
            <a:prstGeom prst="rect">
              <a:avLst/>
            </a:prstGeom>
          </p:spPr>
        </p:pic>
        <p:cxnSp>
          <p:nvCxnSpPr>
            <p:cNvPr id="7" name="Straight Arrow Connector 6">
              <a:extLst>
                <a:ext uri="{FF2B5EF4-FFF2-40B4-BE49-F238E27FC236}">
                  <a16:creationId xmlns:a16="http://schemas.microsoft.com/office/drawing/2014/main" id="{4E8E2847-BE66-FB49-F28D-9A169A6CA9D0}"/>
                </a:ext>
              </a:extLst>
            </p:cNvPr>
            <p:cNvCxnSpPr>
              <a:cxnSpLocks/>
              <a:stCxn id="8" idx="0"/>
            </p:cNvCxnSpPr>
            <p:nvPr/>
          </p:nvCxnSpPr>
          <p:spPr>
            <a:xfrm flipV="1">
              <a:off x="7543800" y="5128054"/>
              <a:ext cx="1254211" cy="1075038"/>
            </a:xfrm>
            <a:prstGeom prst="straightConnector1">
              <a:avLst/>
            </a:prstGeom>
            <a:ln>
              <a:tailEnd type="triangle"/>
            </a:ln>
          </p:spPr>
          <p:style>
            <a:lnRef idx="1">
              <a:schemeClr val="accent3"/>
            </a:lnRef>
            <a:fillRef idx="0">
              <a:schemeClr val="accent3"/>
            </a:fillRef>
            <a:effectRef idx="0">
              <a:schemeClr val="accent3"/>
            </a:effectRef>
            <a:fontRef idx="minor">
              <a:schemeClr val="tx1"/>
            </a:fontRef>
          </p:style>
        </p:cxnSp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D6B2A4AF-D1AE-2861-A213-C868F749C1A2}"/>
                </a:ext>
              </a:extLst>
            </p:cNvPr>
            <p:cNvSpPr txBox="1"/>
            <p:nvPr/>
          </p:nvSpPr>
          <p:spPr>
            <a:xfrm>
              <a:off x="6289589" y="6203092"/>
              <a:ext cx="2508422" cy="64633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just"/>
              <a:r>
                <a:rPr lang="sr-Latn-RS" dirty="0" err="1">
                  <a:latin typeface="Times New Roman" panose="02020603050405020304" pitchFamily="18" charset="0"/>
                  <a:cs typeface="Times New Roman" panose="02020603050405020304" pitchFamily="18" charset="0"/>
                </a:rPr>
                <a:t>Heksadecimalni</a:t>
              </a:r>
              <a:r>
                <a:rPr lang="sr-Latn-RS" dirty="0">
                  <a:latin typeface="Times New Roman" panose="02020603050405020304" pitchFamily="18" charset="0"/>
                  <a:cs typeface="Times New Roman" panose="02020603050405020304" pitchFamily="18" charset="0"/>
                </a:rPr>
                <a:t> kod za skrivenu NTFS particiju</a:t>
              </a:r>
              <a:endParaRPr lang="en-US" dirty="0"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7435077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60DD4E7-35C5-6BC2-FC25-BFFC200A8A3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74D7B7DE-0423-20F7-E0E4-9EE8A4B5A7BE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Prikaz rezultata</a:t>
            </a:r>
            <a:endParaRPr lang="en-US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9" name="Picture 8">
            <a:extLst>
              <a:ext uri="{FF2B5EF4-FFF2-40B4-BE49-F238E27FC236}">
                <a16:creationId xmlns:a16="http://schemas.microsoft.com/office/drawing/2014/main" id="{70884D08-425D-1AEF-B865-F96BC77FC2F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24611"/>
          <a:stretch>
            <a:fillRect/>
          </a:stretch>
        </p:blipFill>
        <p:spPr>
          <a:xfrm>
            <a:off x="523101" y="1648989"/>
            <a:ext cx="5486400" cy="1628409"/>
          </a:xfrm>
          <a:prstGeom prst="rect">
            <a:avLst/>
          </a:prstGeom>
        </p:spPr>
      </p:pic>
      <p:pic>
        <p:nvPicPr>
          <p:cNvPr id="10" name="drawing">
            <a:extLst>
              <a:ext uri="{FF2B5EF4-FFF2-40B4-BE49-F238E27FC236}">
                <a16:creationId xmlns:a16="http://schemas.microsoft.com/office/drawing/2014/main" id="{EF7D54D3-40E2-1025-6A12-F5FA211D7D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24611"/>
          <a:stretch>
            <a:fillRect/>
          </a:stretch>
        </p:blipFill>
        <p:spPr>
          <a:xfrm>
            <a:off x="6520248" y="1651230"/>
            <a:ext cx="5486400" cy="1626168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96FF301E-F5D9-7F16-7A92-B9598B9FF904}"/>
              </a:ext>
            </a:extLst>
          </p:cNvPr>
          <p:cNvSpPr txBox="1"/>
          <p:nvPr/>
        </p:nvSpPr>
        <p:spPr>
          <a:xfrm>
            <a:off x="1607405" y="945488"/>
            <a:ext cx="3317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Prikaz particija u File </a:t>
            </a:r>
            <a:r>
              <a:rPr lang="sr-Latn-C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Exploreru</a:t>
            </a:r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izvršenog postupka sakrivanja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36D1FD5-4FF5-333B-22F0-2FC5694BEFEB}"/>
              </a:ext>
            </a:extLst>
          </p:cNvPr>
          <p:cNvSpPr txBox="1"/>
          <p:nvPr/>
        </p:nvSpPr>
        <p:spPr>
          <a:xfrm>
            <a:off x="7406329" y="945488"/>
            <a:ext cx="371423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Prikaz particija u File </a:t>
            </a:r>
            <a:r>
              <a:rPr lang="sr-Latn-C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Exploreru</a:t>
            </a:r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nakon izvršenog postupka sakrivanja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14" name="drawing">
            <a:extLst>
              <a:ext uri="{FF2B5EF4-FFF2-40B4-BE49-F238E27FC236}">
                <a16:creationId xmlns:a16="http://schemas.microsoft.com/office/drawing/2014/main" id="{6D37607A-A2B1-D53E-C141-CA048368C5A5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3124200" y="4052626"/>
            <a:ext cx="5943600" cy="2114550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347E5BFE-5A07-F8B0-3C9C-9242C92F28E0}"/>
              </a:ext>
            </a:extLst>
          </p:cNvPr>
          <p:cNvSpPr txBox="1"/>
          <p:nvPr/>
        </p:nvSpPr>
        <p:spPr>
          <a:xfrm>
            <a:off x="3358978" y="6271597"/>
            <a:ext cx="570882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Prikaz particije u Disk Management alatu nakon sakrivanja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358964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F75FC0A-0D40-414B-A8CE-0B3FA23408E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560" y="1503680"/>
            <a:ext cx="11064240" cy="5425440"/>
          </a:xfrm>
        </p:spPr>
        <p:txBody>
          <a:bodyPr>
            <a:normAutofit lnSpcReduction="10000"/>
          </a:bodyPr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razvijen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Microsoft Visual Studio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okruženju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Implementiran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programskom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jeziku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C/C++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Omogućava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direktan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RAW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fizičkom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disku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Čita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prikazuje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sadržaj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 (boot)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Kreira rezervnu kopiju MBR sektora pre svake izmene</a:t>
            </a: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Menja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vrednost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Partition Type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tabeli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Program mora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biti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pokrenut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administratorskim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privilegijama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marL="0" indent="0" algn="just">
              <a:buNone/>
            </a:pP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Putanja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npr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. \\.\PhysicalDrive1)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vrednosti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particionog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tipa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definišu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ručno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kodu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DED61624-CDD8-4299-8D8C-282694EEF9F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PROGRAMSKA IMPLEMENTACIJA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64649216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A3975BE-FA7A-DC77-6FDB-CB1BD6B7D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B349440-89AB-E6BE-A624-8992FF56E7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560" y="1503680"/>
            <a:ext cx="11064240" cy="5243109"/>
          </a:xfrm>
        </p:spPr>
        <p:txBody>
          <a:bodyPr/>
          <a:lstStyle/>
          <a:p>
            <a:pPr algn="just"/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CreateFile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Otvaranje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korišćenjem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Windows API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funkcije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ReadFile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Čitanje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boot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(LBA 0)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sa fizičkog diska u memorijski bafer</a:t>
            </a:r>
          </a:p>
          <a:p>
            <a:pPr algn="just"/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SetFilePointerEx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– Pozicioniranje na određeni sektor</a:t>
            </a:r>
          </a:p>
          <a:p>
            <a:pPr algn="just"/>
            <a:r>
              <a:rPr lang="en-U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BackupSector</a:t>
            </a:r>
            <a:r>
              <a:rPr lang="sr-Latn-R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() 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Kreiranje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rezervne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kopije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MBR-a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WriteSect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() -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Partition Type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vrednosti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(0x07 → 0x17)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lvl="1" algn="just"/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buff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[450] = 0x17;  // NTFS → </a:t>
            </a:r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hidden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NTFS</a:t>
            </a: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Upis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izmenjenog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sektora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nazad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disk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Prikaz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pre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posle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z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mene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C3003969-4BC0-8DE5-E095-72D91B40D3B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Tok izvršavanja razvijenog programa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8432440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18B347-2D1F-D470-689F-03CBD3AABF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1">
            <a:extLst>
              <a:ext uri="{FF2B5EF4-FFF2-40B4-BE49-F238E27FC236}">
                <a16:creationId xmlns:a16="http://schemas.microsoft.com/office/drawing/2014/main" id="{CEFDF20B-2787-735C-10C0-9B065BBBEA5F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Prikaz rezultata</a:t>
            </a:r>
            <a:endParaRPr lang="en-US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F18BB91-AA86-3B89-0196-9F8A88E62369}"/>
              </a:ext>
            </a:extLst>
          </p:cNvPr>
          <p:cNvSpPr txBox="1"/>
          <p:nvPr/>
        </p:nvSpPr>
        <p:spPr>
          <a:xfrm>
            <a:off x="1607405" y="945488"/>
            <a:ext cx="3317791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C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sektor pre sakrivanja particije (prikaz programa)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6BDB19DA-D7EA-1758-635B-F97CE9BCA415}"/>
              </a:ext>
            </a:extLst>
          </p:cNvPr>
          <p:cNvSpPr txBox="1"/>
          <p:nvPr/>
        </p:nvSpPr>
        <p:spPr>
          <a:xfrm>
            <a:off x="8292539" y="922588"/>
            <a:ext cx="1941816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C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Boot</a:t>
            </a:r>
            <a:r>
              <a:rPr lang="sr-Latn-C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sektor nakon sakrivanja particije 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pic>
        <p:nvPicPr>
          <p:cNvPr id="2" name="drawing">
            <a:extLst>
              <a:ext uri="{FF2B5EF4-FFF2-40B4-BE49-F238E27FC236}">
                <a16:creationId xmlns:a16="http://schemas.microsoft.com/office/drawing/2014/main" id="{E9F11674-4E2A-B699-9B3B-A2542CE058C6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>
          <a:xfrm>
            <a:off x="1894700" y="1591819"/>
            <a:ext cx="2743200" cy="5186312"/>
          </a:xfrm>
          <a:prstGeom prst="rect">
            <a:avLst/>
          </a:prstGeom>
        </p:spPr>
      </p:pic>
      <p:pic>
        <p:nvPicPr>
          <p:cNvPr id="3" name="drawing">
            <a:extLst>
              <a:ext uri="{FF2B5EF4-FFF2-40B4-BE49-F238E27FC236}">
                <a16:creationId xmlns:a16="http://schemas.microsoft.com/office/drawing/2014/main" id="{913769E2-10D3-F875-CC44-C3598FC9176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r="77037" b="14448"/>
          <a:stretch>
            <a:fillRect/>
          </a:stretch>
        </p:blipFill>
        <p:spPr>
          <a:xfrm>
            <a:off x="8026859" y="1617746"/>
            <a:ext cx="2473176" cy="5184648"/>
          </a:xfrm>
          <a:prstGeom prst="rect">
            <a:avLst/>
          </a:prstGeom>
        </p:spPr>
      </p:pic>
      <p:cxnSp>
        <p:nvCxnSpPr>
          <p:cNvPr id="6" name="Straight Arrow Connector 5">
            <a:extLst>
              <a:ext uri="{FF2B5EF4-FFF2-40B4-BE49-F238E27FC236}">
                <a16:creationId xmlns:a16="http://schemas.microsoft.com/office/drawing/2014/main" id="{A96C41EE-3467-0F6B-367C-34B36F4A1BD0}"/>
              </a:ext>
            </a:extLst>
          </p:cNvPr>
          <p:cNvCxnSpPr>
            <a:cxnSpLocks/>
            <a:stCxn id="8" idx="3"/>
          </p:cNvCxnSpPr>
          <p:nvPr/>
        </p:nvCxnSpPr>
        <p:spPr>
          <a:xfrm flipV="1">
            <a:off x="7549978" y="5782962"/>
            <a:ext cx="742561" cy="640838"/>
          </a:xfrm>
          <a:prstGeom prst="straightConnector1">
            <a:avLst/>
          </a:prstGeom>
          <a:ln>
            <a:tailEnd type="triangle"/>
          </a:ln>
        </p:spPr>
        <p:style>
          <a:lnRef idx="1">
            <a:schemeClr val="accent3"/>
          </a:lnRef>
          <a:fillRef idx="0">
            <a:schemeClr val="accent3"/>
          </a:fillRef>
          <a:effectRef idx="0">
            <a:schemeClr val="accent3"/>
          </a:effectRef>
          <a:fontRef idx="minor">
            <a:schemeClr val="tx1"/>
          </a:fontRef>
        </p:style>
      </p:cxnSp>
      <p:sp>
        <p:nvSpPr>
          <p:cNvPr id="8" name="TextBox 7">
            <a:extLst>
              <a:ext uri="{FF2B5EF4-FFF2-40B4-BE49-F238E27FC236}">
                <a16:creationId xmlns:a16="http://schemas.microsoft.com/office/drawing/2014/main" id="{5DF058AC-73B2-DEB0-8D55-0FFEDAE32E94}"/>
              </a:ext>
            </a:extLst>
          </p:cNvPr>
          <p:cNvSpPr txBox="1"/>
          <p:nvPr/>
        </p:nvSpPr>
        <p:spPr>
          <a:xfrm>
            <a:off x="5889593" y="5962135"/>
            <a:ext cx="1660385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just"/>
            <a:r>
              <a:rPr lang="sr-Latn-R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Heksadecimalni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kod za skrivenu NTFS particiju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85900748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224A7B-5B85-FF34-28C9-3E4D5676A8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A52DD5E-9454-908E-9B29-01C2DB1FA92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70560" y="1503680"/>
            <a:ext cx="11064240" cy="5425440"/>
          </a:xfrm>
        </p:spPr>
        <p:txBody>
          <a:bodyPr/>
          <a:lstStyle/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Partition Type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polja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MBR-u je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tehnički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ispravna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Savremeni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(7, 10, 11)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imaju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dodatne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bezbednosne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mehanizme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Windows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ignoriše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“hidden” flag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removable media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uređajima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FAT/FAT32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USB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uređajima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uvek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automatski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montiraju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NTFS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različito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tretiraju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zavisnosti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tipa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uređaja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Različito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ponašanje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potvrđeno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testiranjem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više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Windows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okruženja</a:t>
            </a:r>
            <a:endParaRPr 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1557FD75-8981-974C-888B-1206EAB31072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4. OGRANIČENJA i ponašanje </a:t>
            </a:r>
            <a:r>
              <a:rPr lang="sr-Latn-RS" b="1" dirty="0" err="1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windows</a:t>
            </a:r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 os</a:t>
            </a:r>
            <a:endParaRPr lang="en-US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577120F5-21F7-7014-7872-A9BC8BB2C02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79840720"/>
              </p:ext>
            </p:extLst>
          </p:nvPr>
        </p:nvGraphicFramePr>
        <p:xfrm>
          <a:off x="4261669" y="5101709"/>
          <a:ext cx="3668661" cy="1403867"/>
        </p:xfrm>
        <a:graphic>
          <a:graphicData uri="http://schemas.openxmlformats.org/drawingml/2006/table">
            <a:tbl>
              <a:tblPr firstRow="1" firstCol="1">
                <a:tableStyleId>{7DF18680-E054-41AD-8BC1-D1AEF772440D}</a:tableStyleId>
              </a:tblPr>
              <a:tblGrid>
                <a:gridCol w="1615123">
                  <a:extLst>
                    <a:ext uri="{9D8B030D-6E8A-4147-A177-3AD203B41FA5}">
                      <a16:colId xmlns:a16="http://schemas.microsoft.com/office/drawing/2014/main" val="815980451"/>
                    </a:ext>
                  </a:extLst>
                </a:gridCol>
                <a:gridCol w="2053538">
                  <a:extLst>
                    <a:ext uri="{9D8B030D-6E8A-4147-A177-3AD203B41FA5}">
                      <a16:colId xmlns:a16="http://schemas.microsoft.com/office/drawing/2014/main" val="3245439884"/>
                    </a:ext>
                  </a:extLst>
                </a:gridCol>
              </a:tblGrid>
              <a:tr h="259484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Latn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Datotečni</a:t>
                      </a: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sistem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Ponašanje u Windows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1200975832"/>
                  </a:ext>
                </a:extLst>
              </a:tr>
              <a:tr h="499731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FAT/FAT32 (USB)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Latn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Hidden</a:t>
                      </a: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sr-Latn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flag</a:t>
                      </a: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se ignoriše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3617674668"/>
                  </a:ext>
                </a:extLst>
              </a:tr>
              <a:tr h="644652">
                <a:tc>
                  <a:txBody>
                    <a:bodyPr/>
                    <a:lstStyle/>
                    <a:p>
                      <a:pPr>
                        <a:lnSpc>
                          <a:spcPct val="107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NTFS (</a:t>
                      </a:r>
                      <a:r>
                        <a:rPr lang="sr-Latn-RS" sz="1200" dirty="0" err="1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external</a:t>
                      </a: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ea typeface="Calibri" panose="020F0502020204030204" pitchFamily="34" charset="0"/>
                          <a:cs typeface="Times New Roman" panose="02020603050405020304" pitchFamily="18" charset="0"/>
                        </a:rPr>
                        <a:t> HDD)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tc>
                  <a:txBody>
                    <a:bodyPr/>
                    <a:lstStyle/>
                    <a:p>
                      <a:pPr>
                        <a:lnSpc>
                          <a:spcPct val="150000"/>
                        </a:lnSpc>
                        <a:spcAft>
                          <a:spcPts val="800"/>
                        </a:spcAft>
                        <a:buNone/>
                      </a:pPr>
                      <a:r>
                        <a:rPr lang="sr-Latn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Hidden</a:t>
                      </a: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</a:t>
                      </a:r>
                      <a:r>
                        <a:rPr lang="sr-Latn-RS" sz="1200" dirty="0" err="1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flag</a:t>
                      </a:r>
                      <a:r>
                        <a:rPr lang="sr-Latn-RS" sz="1200" dirty="0">
                          <a:effectLst/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 se poštuje</a:t>
                      </a:r>
                      <a:endParaRPr lang="en-US" sz="1100" dirty="0">
                        <a:effectLst/>
                        <a:latin typeface="Times New Roman" panose="02020603050405020304" pitchFamily="18" charset="0"/>
                        <a:ea typeface="Calibri" panose="020F0502020204030204" pitchFamily="34" charset="0"/>
                        <a:cs typeface="Times New Roman" panose="02020603050405020304" pitchFamily="18" charset="0"/>
                      </a:endParaRPr>
                    </a:p>
                  </a:txBody>
                  <a:tcPr marL="68580" marR="68580" marT="0" marB="0"/>
                </a:tc>
                <a:extLst>
                  <a:ext uri="{0D108BD9-81ED-4DB2-BD59-A6C34878D82A}">
                    <a16:rowId xmlns:a16="http://schemas.microsoft.com/office/drawing/2014/main" val="289336290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5814743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859986C-D7E9-43BA-A27A-35F61081C1A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62292" y="1658142"/>
            <a:ext cx="11162348" cy="4966177"/>
          </a:xfrm>
        </p:spPr>
        <p:txBody>
          <a:bodyPr/>
          <a:lstStyle/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pristup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omogućava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analizu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lowlevel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struktura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MBR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particione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tabele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predstavlja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validnu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tehniku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Efekat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zavisi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tipa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uređaja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datotečnog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sr-Latn-RS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istema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Savremeni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Windows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operativni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ograničavaju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primenu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ove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tehnike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NTFS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fiksnim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eksternim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diskovima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se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drugačije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tretiraju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u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odnosu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FAT/FAT32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just"/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Razumevanje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razlike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između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fizičkog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stanja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diska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njegove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interpretacije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od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strane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operativnog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sistema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predstavlja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osnov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digitalne</a:t>
            </a:r>
            <a:r>
              <a:rPr lang="en-US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forenzike</a:t>
            </a:r>
            <a:endParaRPr lang="sr-Latn-R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4" name="Title 1">
            <a:extLst>
              <a:ext uri="{FF2B5EF4-FFF2-40B4-BE49-F238E27FC236}">
                <a16:creationId xmlns:a16="http://schemas.microsoft.com/office/drawing/2014/main" id="{280B8DAD-57C7-4720-A9B3-BE105D01554B}"/>
              </a:ext>
            </a:extLst>
          </p:cNvPr>
          <p:cNvSpPr txBox="1">
            <a:spLocks/>
          </p:cNvSpPr>
          <p:nvPr/>
        </p:nvSpPr>
        <p:spPr>
          <a:xfrm>
            <a:off x="0" y="1"/>
            <a:ext cx="12192000" cy="87376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3600" kern="1200" cap="all" baseline="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sr-Latn-RS" b="1" dirty="0">
                <a:solidFill>
                  <a:schemeClr val="accent5">
                    <a:lumMod val="50000"/>
                  </a:schemeClr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5. ZAKLJUČAK</a:t>
            </a:r>
            <a:endParaRPr lang="en-US" b="1" dirty="0">
              <a:solidFill>
                <a:schemeClr val="accent5">
                  <a:lumMod val="50000"/>
                </a:schemeClr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405823954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45F118B-83D0-02A4-7B6E-969A114EC2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B9087-B808-F3C0-7B7C-2AC0CC7CBD3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0" y="2504441"/>
            <a:ext cx="12192000" cy="1173479"/>
          </a:xfrm>
        </p:spPr>
        <p:txBody>
          <a:bodyPr>
            <a:normAutofit fontScale="90000"/>
          </a:bodyPr>
          <a:lstStyle/>
          <a:p>
            <a:pPr algn="ctr"/>
            <a:r>
              <a:rPr lang="en-US" sz="53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Forenzika</a:t>
            </a:r>
            <a:r>
              <a:rPr lang="en-US" sz="53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5300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storage </a:t>
            </a:r>
            <a:r>
              <a:rPr lang="en-US" sz="5300" b="1" i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medijuma</a:t>
            </a:r>
            <a:br>
              <a:rPr lang="sr-Latn-R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br>
              <a:rPr lang="sr-Latn-RS" b="1" i="1" dirty="0">
                <a:latin typeface="Times New Roman" panose="02020603050405020304" pitchFamily="18" charset="0"/>
                <a:cs typeface="Times New Roman" panose="02020603050405020304" pitchFamily="18" charset="0"/>
              </a:rPr>
            </a:b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RAW </a:t>
            </a:r>
            <a:r>
              <a:rPr lang="sr-Latn-R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pristup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podacima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i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sakrivanje</a:t>
            </a:r>
            <a:r>
              <a:rPr lang="en-US" sz="40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 </a:t>
            </a:r>
            <a:r>
              <a:rPr lang="en-US" sz="4000" b="1" dirty="0" err="1">
                <a:latin typeface="Times New Roman" panose="02020603050405020304" pitchFamily="18" charset="0"/>
                <a:cs typeface="Times New Roman" panose="02020603050405020304" pitchFamily="18" charset="0"/>
              </a:rPr>
              <a:t>particije</a:t>
            </a:r>
            <a:endParaRPr lang="en-US" sz="40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6" name="Subtitle 2">
            <a:extLst>
              <a:ext uri="{FF2B5EF4-FFF2-40B4-BE49-F238E27FC236}">
                <a16:creationId xmlns:a16="http://schemas.microsoft.com/office/drawing/2014/main" id="{09791F55-CB3B-A4F9-B247-6D1DCD6EF90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352424" y="4831398"/>
            <a:ext cx="11341736" cy="1853882"/>
          </a:xfrm>
        </p:spPr>
        <p:txBody>
          <a:bodyPr>
            <a:noAutofit/>
          </a:bodyPr>
          <a:lstStyle/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Profesor: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				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S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tudent: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DR 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BRATISLAV PREDIĆ						dušica milanović</a:t>
            </a:r>
          </a:p>
          <a:p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									br.indeksa: 2128</a:t>
            </a:r>
            <a:r>
              <a:rPr lang="en-U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/</a:t>
            </a:r>
            <a:r>
              <a:rPr lang="sr-Latn-RS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25</a:t>
            </a:r>
            <a:endParaRPr lang="en-US" b="1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24699218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Circuit">
  <a:themeElements>
    <a:clrScheme name="Circuit">
      <a:dk1>
        <a:sysClr val="windowText" lastClr="000000"/>
      </a:dk1>
      <a:lt1>
        <a:sysClr val="window" lastClr="FFFFFF"/>
      </a:lt1>
      <a:dk2>
        <a:srgbClr val="134770"/>
      </a:dk2>
      <a:lt2>
        <a:srgbClr val="82FFFF"/>
      </a:lt2>
      <a:accent1>
        <a:srgbClr val="9ACD4C"/>
      </a:accent1>
      <a:accent2>
        <a:srgbClr val="FAA93A"/>
      </a:accent2>
      <a:accent3>
        <a:srgbClr val="D35940"/>
      </a:accent3>
      <a:accent4>
        <a:srgbClr val="B258D3"/>
      </a:accent4>
      <a:accent5>
        <a:srgbClr val="63A0CC"/>
      </a:accent5>
      <a:accent6>
        <a:srgbClr val="8AC4A7"/>
      </a:accent6>
      <a:hlink>
        <a:srgbClr val="B8FA56"/>
      </a:hlink>
      <a:folHlink>
        <a:srgbClr val="7AF8CC"/>
      </a:folHlink>
    </a:clrScheme>
    <a:fontScheme name="Circuit">
      <a:maj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Tw Cen MT" panose="020B0602020104020603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Circuit">
      <a:fillStyleLst>
        <a:solidFill>
          <a:schemeClr val="phClr"/>
        </a:solidFill>
        <a:gradFill rotWithShape="1">
          <a:gsLst>
            <a:gs pos="0">
              <a:schemeClr val="phClr">
                <a:tint val="58000"/>
                <a:satMod val="108000"/>
                <a:lumMod val="110000"/>
              </a:schemeClr>
            </a:gs>
            <a:gs pos="100000">
              <a:schemeClr val="phClr">
                <a:tint val="81000"/>
                <a:satMod val="109000"/>
                <a:lumMod val="105000"/>
              </a:schemeClr>
            </a:gs>
          </a:gsLst>
          <a:lin ang="5040000" scaled="0"/>
        </a:gradFill>
        <a:gradFill rotWithShape="1">
          <a:gsLst>
            <a:gs pos="0">
              <a:schemeClr val="phClr">
                <a:tint val="94000"/>
                <a:satMod val="105000"/>
                <a:lumMod val="102000"/>
              </a:schemeClr>
            </a:gs>
            <a:gs pos="100000">
              <a:schemeClr val="phClr">
                <a:shade val="74000"/>
                <a:satMod val="128000"/>
                <a:lumMod val="100000"/>
              </a:schemeClr>
            </a:gs>
          </a:gsLst>
          <a:lin ang="5400000" scaled="0"/>
        </a:gradFill>
      </a:fillStyleLst>
      <a:lnStyleLst>
        <a:ln w="9525" cap="flat" cmpd="sng" algn="ctr">
          <a:solidFill>
            <a:schemeClr val="phClr"/>
          </a:solidFill>
          <a:prstDash val="solid"/>
        </a:ln>
        <a:ln w="15875" cap="flat" cmpd="sng" algn="ctr">
          <a:solidFill>
            <a:schemeClr val="phClr"/>
          </a:solidFill>
          <a:prstDash val="solid"/>
        </a:ln>
        <a:ln w="22225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8000"/>
                <a:hueMod val="94000"/>
                <a:satMod val="148000"/>
                <a:lumMod val="150000"/>
              </a:schemeClr>
            </a:gs>
            <a:gs pos="100000">
              <a:schemeClr val="phClr">
                <a:shade val="92000"/>
                <a:hueMod val="104000"/>
                <a:satMod val="140000"/>
                <a:lumMod val="68000"/>
              </a:schemeClr>
            </a:gs>
          </a:gsLst>
          <a:lin ang="5040000" scaled="0"/>
        </a:gradFill>
        <a:blipFill>
          <a:blip xmlns:r="http://schemas.openxmlformats.org/officeDocument/2006/relationships" r:embed="rId1">
            <a:duotone>
              <a:schemeClr val="phClr">
                <a:shade val="88000"/>
                <a:hueMod val="106000"/>
                <a:satMod val="140000"/>
                <a:lumMod val="54000"/>
              </a:schemeClr>
              <a:schemeClr val="phClr">
                <a:tint val="98000"/>
                <a:hueMod val="90000"/>
                <a:satMod val="150000"/>
                <a:lumMod val="160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Circuit" id="{0AC2F7E7-15F5-431C-B2A2-456FE929F56C}" vid="{0911B802-464C-4241-8DD9-B60FF88E379F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TM04033919[[fn=Circuit]]</Template>
  <TotalTime>453</TotalTime>
  <Words>3583</Words>
  <Application>Microsoft Office PowerPoint</Application>
  <PresentationFormat>Widescreen</PresentationFormat>
  <Paragraphs>336</Paragraphs>
  <Slides>21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21</vt:i4>
      </vt:variant>
    </vt:vector>
  </HeadingPairs>
  <TitlesOfParts>
    <vt:vector size="26" baseType="lpstr">
      <vt:lpstr>Arial</vt:lpstr>
      <vt:lpstr>Calibri</vt:lpstr>
      <vt:lpstr>Times New Roman</vt:lpstr>
      <vt:lpstr>Tw Cen MT</vt:lpstr>
      <vt:lpstr>Circuit</vt:lpstr>
      <vt:lpstr>Forenzika storage medijuma  RAW pristup podacima i sakrivanje particije</vt:lpstr>
      <vt:lpstr>Sadržaj prezentacije:</vt:lpstr>
      <vt:lpstr>1. TEMA SEMINARSKOG RADA:</vt:lpstr>
      <vt:lpstr>RAW PRISTUP PODACIMA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Forenzika storage medijuma  RAW pristup podacima i sakrivanje particije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Cisco PacketTracer u dokeru</dc:title>
  <dc:creator>Dusica Milanovic</dc:creator>
  <cp:lastModifiedBy>Dusica Trajkovic</cp:lastModifiedBy>
  <cp:revision>54</cp:revision>
  <dcterms:created xsi:type="dcterms:W3CDTF">2020-03-20T22:46:27Z</dcterms:created>
  <dcterms:modified xsi:type="dcterms:W3CDTF">2026-03-01T20:25:24Z</dcterms:modified>
</cp:coreProperties>
</file>