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259" r:id="rId4"/>
    <p:sldId id="281" r:id="rId5"/>
    <p:sldId id="261" r:id="rId6"/>
    <p:sldId id="283" r:id="rId7"/>
    <p:sldId id="284" r:id="rId8"/>
    <p:sldId id="262" r:id="rId9"/>
    <p:sldId id="264" r:id="rId10"/>
    <p:sldId id="285" r:id="rId11"/>
    <p:sldId id="286" r:id="rId12"/>
    <p:sldId id="278" r:id="rId13"/>
    <p:sldId id="273" r:id="rId14"/>
    <p:sldId id="287" r:id="rId15"/>
    <p:sldId id="288" r:id="rId16"/>
    <p:sldId id="268" r:id="rId17"/>
    <p:sldId id="289" r:id="rId18"/>
    <p:sldId id="290" r:id="rId19"/>
    <p:sldId id="279" r:id="rId20"/>
    <p:sldId id="270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sica Milanovic" initials="DM" lastIdx="1" clrIdx="0">
    <p:extLst>
      <p:ext uri="{19B8F6BF-5375-455C-9EA6-DF929625EA0E}">
        <p15:presenceInfo xmlns:p15="http://schemas.microsoft.com/office/powerpoint/2012/main" userId="S-1-5-21-4059487225-3364380010-2372780548-77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953" autoAdjust="0"/>
  </p:normalViewPr>
  <p:slideViewPr>
    <p:cSldViewPr snapToGrid="0">
      <p:cViewPr varScale="1">
        <p:scale>
          <a:sx n="58" d="100"/>
          <a:sy n="58" d="100"/>
        </p:scale>
        <p:origin x="16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22T20:03:32.143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B4F46-507B-41FF-8F20-C4458D4DADA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28AC9-BAD4-472A-9095-C606D319C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2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40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mog </a:t>
            </a:r>
            <a:r>
              <a:rPr lang="en-US" dirty="0" err="1"/>
              <a:t>seminarskog</a:t>
            </a:r>
            <a:r>
              <a:rPr lang="en-US" dirty="0"/>
              <a:t> rada </a:t>
            </a:r>
            <a:r>
              <a:rPr lang="en-US" dirty="0" err="1"/>
              <a:t>odnosi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forenzičku</a:t>
            </a:r>
            <a:r>
              <a:rPr lang="en-US" dirty="0"/>
              <a:t> </a:t>
            </a:r>
            <a:r>
              <a:rPr lang="en-US" dirty="0" err="1"/>
              <a:t>analizu</a:t>
            </a:r>
            <a:r>
              <a:rPr lang="en-US" dirty="0"/>
              <a:t> storage </a:t>
            </a:r>
            <a:r>
              <a:rPr lang="en-US" dirty="0" err="1"/>
              <a:t>medijuma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posebnim</a:t>
            </a:r>
            <a:r>
              <a:rPr lang="en-US" dirty="0"/>
              <a:t> </a:t>
            </a:r>
            <a:r>
              <a:rPr lang="en-US" dirty="0" err="1"/>
              <a:t>fokusom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RAW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Master Boot Record-a, </a:t>
            </a:r>
            <a:r>
              <a:rPr lang="en-US" dirty="0" err="1"/>
              <a:t>odnosno</a:t>
            </a:r>
            <a:r>
              <a:rPr lang="en-US" dirty="0"/>
              <a:t> MBR-a.</a:t>
            </a:r>
          </a:p>
          <a:p>
            <a:r>
              <a:rPr lang="en-US" dirty="0"/>
              <a:t>U </a:t>
            </a:r>
            <a:r>
              <a:rPr lang="en-US" dirty="0" err="1"/>
              <a:t>teorijskom</a:t>
            </a:r>
            <a:r>
              <a:rPr lang="en-US" dirty="0"/>
              <a:t> </a:t>
            </a:r>
            <a:r>
              <a:rPr lang="en-US" dirty="0" err="1"/>
              <a:t>delu</a:t>
            </a:r>
            <a:r>
              <a:rPr lang="en-US" dirty="0"/>
              <a:t> rada </a:t>
            </a:r>
            <a:r>
              <a:rPr lang="en-US" dirty="0" err="1"/>
              <a:t>analizirala</a:t>
            </a:r>
            <a:r>
              <a:rPr lang="en-US" dirty="0"/>
              <a:t>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organizacije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disku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korišćena</a:t>
            </a:r>
            <a:r>
              <a:rPr lang="en-US" dirty="0"/>
              <a:t> </a:t>
            </a:r>
            <a:r>
              <a:rPr lang="en-US" dirty="0" err="1"/>
              <a:t>datotečna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u Windows </a:t>
            </a:r>
            <a:r>
              <a:rPr lang="en-US" dirty="0" err="1"/>
              <a:t>okruženju</a:t>
            </a:r>
            <a:r>
              <a:rPr lang="en-US" dirty="0"/>
              <a:t> – FAT32 </a:t>
            </a:r>
            <a:r>
              <a:rPr lang="en-US" dirty="0" err="1"/>
              <a:t>i</a:t>
            </a:r>
            <a:r>
              <a:rPr lang="en-US" dirty="0"/>
              <a:t> NTFS –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ciljem</a:t>
            </a:r>
            <a:r>
              <a:rPr lang="en-US" dirty="0"/>
              <a:t> da se </a:t>
            </a:r>
            <a:r>
              <a:rPr lang="en-US" dirty="0" err="1"/>
              <a:t>razume</a:t>
            </a:r>
            <a:r>
              <a:rPr lang="en-US" dirty="0"/>
              <a:t> </a:t>
            </a:r>
            <a:r>
              <a:rPr lang="en-US" dirty="0" err="1"/>
              <a:t>njihovo</a:t>
            </a:r>
            <a:r>
              <a:rPr lang="en-US" dirty="0"/>
              <a:t> </a:t>
            </a:r>
            <a:r>
              <a:rPr lang="en-US" dirty="0" err="1"/>
              <a:t>ponašanje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manipulacije</a:t>
            </a:r>
            <a:r>
              <a:rPr lang="en-US" dirty="0"/>
              <a:t> </a:t>
            </a:r>
            <a:r>
              <a:rPr lang="en-US" dirty="0" err="1"/>
              <a:t>particijama</a:t>
            </a:r>
            <a:r>
              <a:rPr lang="en-US" dirty="0"/>
              <a:t>.</a:t>
            </a:r>
          </a:p>
          <a:p>
            <a:r>
              <a:rPr lang="en-US" dirty="0" err="1"/>
              <a:t>Praktični</a:t>
            </a:r>
            <a:r>
              <a:rPr lang="en-US" dirty="0"/>
              <a:t> deo rada </a:t>
            </a:r>
            <a:r>
              <a:rPr lang="en-US" dirty="0" err="1"/>
              <a:t>obuhvata</a:t>
            </a:r>
            <a:r>
              <a:rPr lang="en-US" dirty="0"/>
              <a:t> </a:t>
            </a:r>
            <a:r>
              <a:rPr lang="en-US" dirty="0" err="1"/>
              <a:t>demonstraciju</a:t>
            </a:r>
            <a:r>
              <a:rPr lang="en-US" dirty="0"/>
              <a:t> </a:t>
            </a:r>
            <a:r>
              <a:rPr lang="en-US" dirty="0" err="1"/>
              <a:t>sakrivanja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načina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ručno</a:t>
            </a:r>
            <a:r>
              <a:rPr lang="en-US" dirty="0"/>
              <a:t>, </a:t>
            </a:r>
            <a:r>
              <a:rPr lang="en-US" dirty="0" err="1"/>
              <a:t>korišćenjem</a:t>
            </a:r>
            <a:r>
              <a:rPr lang="en-US" dirty="0"/>
              <a:t> </a:t>
            </a:r>
            <a:r>
              <a:rPr lang="en-US" dirty="0" err="1"/>
              <a:t>heksadecimalnog</a:t>
            </a:r>
            <a:r>
              <a:rPr lang="en-US" dirty="0"/>
              <a:t> </a:t>
            </a:r>
            <a:r>
              <a:rPr lang="en-US" dirty="0" err="1"/>
              <a:t>editora</a:t>
            </a:r>
            <a:r>
              <a:rPr lang="en-US" dirty="0"/>
              <a:t> </a:t>
            </a:r>
            <a:r>
              <a:rPr lang="en-US" dirty="0" err="1"/>
              <a:t>HxD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drugo</a:t>
            </a:r>
            <a:r>
              <a:rPr lang="en-US" dirty="0"/>
              <a:t> – </a:t>
            </a:r>
            <a:r>
              <a:rPr lang="en-US" dirty="0" err="1"/>
              <a:t>programskim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, </a:t>
            </a:r>
            <a:r>
              <a:rPr lang="en-US" dirty="0" err="1"/>
              <a:t>implementacijom</a:t>
            </a:r>
            <a:r>
              <a:rPr lang="en-US" dirty="0"/>
              <a:t> </a:t>
            </a:r>
            <a:r>
              <a:rPr lang="en-US" dirty="0" err="1"/>
              <a:t>sopstvenog</a:t>
            </a:r>
            <a:r>
              <a:rPr lang="en-US" dirty="0"/>
              <a:t> C++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direktnim</a:t>
            </a:r>
            <a:r>
              <a:rPr lang="en-US" dirty="0"/>
              <a:t> RAW </a:t>
            </a:r>
            <a:r>
              <a:rPr lang="en-US" dirty="0" err="1"/>
              <a:t>pristupom</a:t>
            </a:r>
            <a:r>
              <a:rPr lang="en-US" dirty="0"/>
              <a:t> </a:t>
            </a:r>
            <a:r>
              <a:rPr lang="en-US" dirty="0" err="1"/>
              <a:t>fizičkom</a:t>
            </a:r>
            <a:r>
              <a:rPr lang="en-US" dirty="0"/>
              <a:t> </a:t>
            </a:r>
            <a:r>
              <a:rPr lang="en-US" dirty="0" err="1"/>
              <a:t>disku</a:t>
            </a:r>
            <a:r>
              <a:rPr lang="en-US" dirty="0"/>
              <a:t>.</a:t>
            </a:r>
          </a:p>
          <a:p>
            <a:r>
              <a:rPr lang="en-US" dirty="0" err="1"/>
              <a:t>Posebna</a:t>
            </a:r>
            <a:r>
              <a:rPr lang="en-US" dirty="0"/>
              <a:t> </a:t>
            </a:r>
            <a:r>
              <a:rPr lang="en-US" dirty="0" err="1"/>
              <a:t>pažnja</a:t>
            </a:r>
            <a:r>
              <a:rPr lang="en-US" dirty="0"/>
              <a:t> </a:t>
            </a:r>
            <a:r>
              <a:rPr lang="en-US" dirty="0" err="1"/>
              <a:t>posvećena</a:t>
            </a:r>
            <a:r>
              <a:rPr lang="en-US" dirty="0"/>
              <a:t> je </a:t>
            </a:r>
            <a:r>
              <a:rPr lang="en-US" dirty="0" err="1"/>
              <a:t>analizi</a:t>
            </a:r>
            <a:r>
              <a:rPr lang="en-US" dirty="0"/>
              <a:t> </a:t>
            </a:r>
            <a:r>
              <a:rPr lang="en-US" dirty="0" err="1"/>
              <a:t>ponašanja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Windows </a:t>
            </a:r>
            <a:r>
              <a:rPr lang="en-US" dirty="0" err="1"/>
              <a:t>operativnih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utvrdilo</a:t>
            </a:r>
            <a:r>
              <a:rPr lang="en-US" dirty="0"/>
              <a:t> da li je </a:t>
            </a:r>
            <a:r>
              <a:rPr lang="en-US" dirty="0" err="1"/>
              <a:t>ovakva</a:t>
            </a:r>
            <a:r>
              <a:rPr lang="en-US" dirty="0"/>
              <a:t> </a:t>
            </a:r>
            <a:r>
              <a:rPr lang="en-US" dirty="0" err="1"/>
              <a:t>manipulacija</a:t>
            </a:r>
            <a:r>
              <a:rPr lang="en-US" dirty="0"/>
              <a:t> </a:t>
            </a:r>
            <a:r>
              <a:rPr lang="en-US" dirty="0" err="1"/>
              <a:t>univerzalno</a:t>
            </a:r>
            <a:r>
              <a:rPr lang="en-US" dirty="0"/>
              <a:t> </a:t>
            </a:r>
            <a:r>
              <a:rPr lang="en-US" dirty="0" err="1"/>
              <a:t>primenljiva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88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podrazumeva</a:t>
            </a:r>
            <a:r>
              <a:rPr lang="en-US" dirty="0"/>
              <a:t> </a:t>
            </a:r>
            <a:r>
              <a:rPr lang="en-US" dirty="0" err="1"/>
              <a:t>direktan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sektorima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LBA </a:t>
            </a:r>
            <a:r>
              <a:rPr lang="en-US" dirty="0" err="1"/>
              <a:t>adresama</a:t>
            </a:r>
            <a:r>
              <a:rPr lang="en-US" dirty="0"/>
              <a:t>, bez </a:t>
            </a:r>
            <a:r>
              <a:rPr lang="en-US" dirty="0" err="1"/>
              <a:t>oslanjanja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logičke</a:t>
            </a:r>
            <a:r>
              <a:rPr lang="en-US" dirty="0"/>
              <a:t> </a:t>
            </a:r>
            <a:r>
              <a:rPr lang="en-US" dirty="0" err="1"/>
              <a:t>mehanizme</a:t>
            </a:r>
            <a:r>
              <a:rPr lang="en-US" dirty="0"/>
              <a:t> </a:t>
            </a:r>
            <a:r>
              <a:rPr lang="en-US" dirty="0" err="1"/>
              <a:t>operativnog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r>
              <a:rPr lang="en-US" dirty="0"/>
              <a:t>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standardnog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datotečnog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zaobilazimo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NTFS </a:t>
            </a:r>
            <a:r>
              <a:rPr lang="en-US" dirty="0" err="1"/>
              <a:t>ili</a:t>
            </a:r>
            <a:r>
              <a:rPr lang="en-US" dirty="0"/>
              <a:t> FAT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čitamo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onako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zapisani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disku</a:t>
            </a:r>
            <a:r>
              <a:rPr lang="en-US" dirty="0"/>
              <a:t>.</a:t>
            </a:r>
          </a:p>
          <a:p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videti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ne </a:t>
            </a:r>
            <a:r>
              <a:rPr lang="en-US" dirty="0" err="1"/>
              <a:t>prikazuje</a:t>
            </a:r>
            <a:r>
              <a:rPr lang="en-US" dirty="0"/>
              <a:t> — </a:t>
            </a:r>
            <a:r>
              <a:rPr lang="en-US" dirty="0" err="1"/>
              <a:t>na</a:t>
            </a:r>
            <a:r>
              <a:rPr lang="en-US" dirty="0"/>
              <a:t> primer </a:t>
            </a:r>
            <a:r>
              <a:rPr lang="en-US" dirty="0" err="1"/>
              <a:t>skrivene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, </a:t>
            </a:r>
            <a:r>
              <a:rPr lang="en-US" dirty="0" err="1"/>
              <a:t>obrisane</a:t>
            </a:r>
            <a:r>
              <a:rPr lang="en-US" dirty="0"/>
              <a:t> </a:t>
            </a:r>
            <a:r>
              <a:rPr lang="en-US" dirty="0" err="1"/>
              <a:t>fajlove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neaktivne</a:t>
            </a:r>
            <a:r>
              <a:rPr lang="en-US" dirty="0"/>
              <a:t> </a:t>
            </a:r>
            <a:r>
              <a:rPr lang="en-US" dirty="0" err="1"/>
              <a:t>zapise</a:t>
            </a:r>
            <a:r>
              <a:rPr lang="en-US" dirty="0"/>
              <a:t> u MBR </a:t>
            </a:r>
            <a:r>
              <a:rPr lang="en-US" dirty="0" err="1"/>
              <a:t>tabeli</a:t>
            </a:r>
            <a:r>
              <a:rPr lang="en-US" dirty="0"/>
              <a:t>.</a:t>
            </a:r>
          </a:p>
          <a:p>
            <a:r>
              <a:rPr lang="en-US" dirty="0"/>
              <a:t>RAW </a:t>
            </a:r>
            <a:r>
              <a:rPr lang="en-US" dirty="0" err="1"/>
              <a:t>pristup</a:t>
            </a:r>
            <a:r>
              <a:rPr lang="en-US" dirty="0"/>
              <a:t> ne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datotečnog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jer</a:t>
            </a:r>
            <a:r>
              <a:rPr lang="en-US" dirty="0"/>
              <a:t> se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sektora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ključnim</a:t>
            </a:r>
            <a:r>
              <a:rPr lang="en-US" dirty="0"/>
              <a:t> u </a:t>
            </a:r>
            <a:r>
              <a:rPr lang="en-US" dirty="0" err="1"/>
              <a:t>digitalnoj</a:t>
            </a:r>
            <a:r>
              <a:rPr lang="en-US" dirty="0"/>
              <a:t> </a:t>
            </a:r>
            <a:r>
              <a:rPr lang="en-US" dirty="0" err="1"/>
              <a:t>forenzici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incident response </a:t>
            </a:r>
            <a:r>
              <a:rPr lang="en-US" dirty="0" err="1"/>
              <a:t>procesima</a:t>
            </a:r>
            <a:r>
              <a:rPr lang="en-US" dirty="0"/>
              <a:t>.</a:t>
            </a:r>
          </a:p>
          <a:p>
            <a:r>
              <a:rPr lang="en-US" dirty="0"/>
              <a:t>U </a:t>
            </a:r>
            <a:r>
              <a:rPr lang="en-US" dirty="0" err="1"/>
              <a:t>praktičnom</a:t>
            </a:r>
            <a:r>
              <a:rPr lang="en-US" dirty="0"/>
              <a:t> </a:t>
            </a:r>
            <a:r>
              <a:rPr lang="en-US" dirty="0" err="1"/>
              <a:t>delu</a:t>
            </a:r>
            <a:r>
              <a:rPr lang="en-US" dirty="0"/>
              <a:t> rada </a:t>
            </a:r>
            <a:r>
              <a:rPr lang="en-US" dirty="0" err="1"/>
              <a:t>upravo</a:t>
            </a:r>
            <a:r>
              <a:rPr lang="en-US" dirty="0"/>
              <a:t>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koristila</a:t>
            </a:r>
            <a:r>
              <a:rPr lang="en-US" dirty="0"/>
              <a:t> RAW </a:t>
            </a:r>
            <a:r>
              <a:rPr lang="en-US" dirty="0" err="1"/>
              <a:t>pristup</a:t>
            </a:r>
            <a:r>
              <a:rPr lang="en-US" dirty="0"/>
              <a:t> za </a:t>
            </a:r>
            <a:r>
              <a:rPr lang="en-US" dirty="0" err="1"/>
              <a:t>direktnu</a:t>
            </a:r>
            <a:r>
              <a:rPr lang="en-US" dirty="0"/>
              <a:t> </a:t>
            </a:r>
            <a:r>
              <a:rPr lang="en-US" dirty="0" err="1"/>
              <a:t>izmenu</a:t>
            </a:r>
            <a:r>
              <a:rPr lang="en-US" dirty="0"/>
              <a:t> MBR </a:t>
            </a:r>
            <a:r>
              <a:rPr lang="en-US" dirty="0" err="1"/>
              <a:t>zapisa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demonstrirala</a:t>
            </a:r>
            <a:r>
              <a:rPr lang="en-US" dirty="0"/>
              <a:t> </a:t>
            </a:r>
            <a:r>
              <a:rPr lang="en-US" dirty="0" err="1"/>
              <a:t>razliku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fizičkog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načina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koji ga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interpretira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2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dirty="0"/>
              <a:t>MBR je </a:t>
            </a:r>
            <a:r>
              <a:rPr lang="en-US" dirty="0" err="1"/>
              <a:t>prvi</a:t>
            </a:r>
            <a:r>
              <a:rPr lang="en-US" dirty="0"/>
              <a:t> </a:t>
            </a:r>
            <a:r>
              <a:rPr lang="en-US" dirty="0" err="1"/>
              <a:t>sektor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, </a:t>
            </a:r>
            <a:r>
              <a:rPr lang="en-US" dirty="0" err="1"/>
              <a:t>veličine</a:t>
            </a:r>
            <a:r>
              <a:rPr lang="en-US" dirty="0"/>
              <a:t> 512 </a:t>
            </a:r>
            <a:r>
              <a:rPr lang="en-US" dirty="0" err="1"/>
              <a:t>bajtova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boot </a:t>
            </a:r>
            <a:r>
              <a:rPr lang="en-US" dirty="0" err="1"/>
              <a:t>kod</a:t>
            </a:r>
            <a:r>
              <a:rPr lang="en-US" dirty="0"/>
              <a:t>,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particija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potpis</a:t>
            </a:r>
            <a:r>
              <a:rPr lang="en-US" dirty="0"/>
              <a:t> 0x55AA.</a:t>
            </a:r>
            <a:br>
              <a:rPr lang="en-US" dirty="0"/>
            </a:br>
            <a:r>
              <a:rPr lang="en-US" dirty="0" err="1"/>
              <a:t>Particiona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četiri</a:t>
            </a:r>
            <a:r>
              <a:rPr lang="en-US" dirty="0"/>
              <a:t> </a:t>
            </a:r>
            <a:r>
              <a:rPr lang="en-US" dirty="0" err="1"/>
              <a:t>unosa</a:t>
            </a:r>
            <a:r>
              <a:rPr lang="en-US" dirty="0"/>
              <a:t> po 16 </a:t>
            </a:r>
            <a:r>
              <a:rPr lang="en-US" dirty="0" err="1"/>
              <a:t>bajtova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Izmenom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 Partition Type u </a:t>
            </a:r>
            <a:r>
              <a:rPr lang="en-US" dirty="0" err="1"/>
              <a:t>toj</a:t>
            </a:r>
            <a:r>
              <a:rPr lang="en-US" dirty="0"/>
              <a:t> </a:t>
            </a:r>
            <a:r>
              <a:rPr lang="en-US" dirty="0" err="1"/>
              <a:t>tabeli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sakriti</a:t>
            </a:r>
            <a:r>
              <a:rPr lang="en-US" dirty="0"/>
              <a:t> </a:t>
            </a:r>
            <a:r>
              <a:rPr lang="en-US" dirty="0" err="1"/>
              <a:t>particiju</a:t>
            </a:r>
            <a:r>
              <a:rPr lang="en-US" dirty="0"/>
              <a:t>,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drugačije</a:t>
            </a:r>
            <a:r>
              <a:rPr lang="en-US" dirty="0"/>
              <a:t> </a:t>
            </a:r>
            <a:r>
              <a:rPr lang="en-US" dirty="0" err="1"/>
              <a:t>interpretira</a:t>
            </a:r>
            <a:r>
              <a:rPr lang="en-US" dirty="0"/>
              <a:t> </a:t>
            </a:r>
            <a:r>
              <a:rPr lang="en-US" dirty="0" err="1"/>
              <a:t>njen</a:t>
            </a:r>
            <a:r>
              <a:rPr lang="en-US" dirty="0"/>
              <a:t> tip.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4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8B5A-DBFA-571F-8D9D-A56FAB7B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1B1CE-8A2F-37C1-B134-F2E5B0FF0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24E4B-1487-9EF0-8CE7-9626C7E53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Boot Record (MBR)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particionisanom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veličinu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512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MBR-a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sastoji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dela: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 Code Area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sr-Cyrl-R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bajtovi</a:t>
            </a:r>
            <a:r>
              <a:rPr lang="sr-Cyrl-R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0–445 (446 </a:t>
            </a:r>
            <a:r>
              <a:rPr lang="sr-Cyrl-R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bajtova</a:t>
            </a:r>
            <a:r>
              <a:rPr lang="sr-Cyrl-R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sr-Cyrl-R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deo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programski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pokretanje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(446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Partition Table (MPT)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bajtovi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446-509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rasporedu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(64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Tačno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sr-Cyrl-R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 </a:t>
            </a:r>
            <a:r>
              <a:rPr lang="sr-Cyrl-R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ukupno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64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opisuje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primarnu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proširenu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potpis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bajtovi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510-511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poslednja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0x55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0xAA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označavaju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je disk boot-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abilan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r-Latn-RS" dirty="0"/>
          </a:p>
          <a:p>
            <a:r>
              <a:rPr lang="en-US" dirty="0"/>
              <a:t>U </a:t>
            </a:r>
            <a:r>
              <a:rPr lang="en-US" dirty="0" err="1"/>
              <a:t>forenzičkoj</a:t>
            </a:r>
            <a:r>
              <a:rPr lang="en-US" dirty="0"/>
              <a:t> </a:t>
            </a:r>
            <a:r>
              <a:rPr lang="en-US" dirty="0" err="1"/>
              <a:t>analizi</a:t>
            </a:r>
            <a:r>
              <a:rPr lang="en-US" dirty="0"/>
              <a:t>, </a:t>
            </a:r>
            <a:r>
              <a:rPr lang="en-US" dirty="0" err="1"/>
              <a:t>posebna</a:t>
            </a:r>
            <a:r>
              <a:rPr lang="en-US" dirty="0"/>
              <a:t> </a:t>
            </a:r>
            <a:r>
              <a:rPr lang="en-US" dirty="0" err="1"/>
              <a:t>pažnja</a:t>
            </a:r>
            <a:r>
              <a:rPr lang="en-US" dirty="0"/>
              <a:t> se </a:t>
            </a:r>
            <a:r>
              <a:rPr lang="en-US" dirty="0" err="1"/>
              <a:t>posvećuje</a:t>
            </a:r>
            <a:r>
              <a:rPr lang="en-US" dirty="0"/>
              <a:t> Master Partition Table (MPT)  – </a:t>
            </a:r>
            <a:r>
              <a:rPr lang="en-US" dirty="0" err="1"/>
              <a:t>tabeli</a:t>
            </a:r>
            <a:r>
              <a:rPr lang="en-US" dirty="0"/>
              <a:t> </a:t>
            </a:r>
            <a:r>
              <a:rPr lang="en-US" dirty="0" err="1"/>
              <a:t>particija</a:t>
            </a:r>
            <a:r>
              <a:rPr lang="en-US" dirty="0"/>
              <a:t>,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početku</a:t>
            </a:r>
            <a:r>
              <a:rPr lang="en-US" dirty="0"/>
              <a:t>, </a:t>
            </a:r>
            <a:r>
              <a:rPr lang="en-US" dirty="0" err="1"/>
              <a:t>veličini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tipu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. </a:t>
            </a:r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tabeli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nalazi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offseta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0x1BE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0x1FD,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 deo MBR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koji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analizirala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modifikovala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MPT - predstavlja strukturu podataka na disku koja sadrži informacije o rasporedu particija i omogućava operativnom sistemu da identifikuje i pristupi pojedinačnim particijama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Analizom</a:t>
            </a:r>
            <a:r>
              <a:rPr lang="en-US" dirty="0"/>
              <a:t> </a:t>
            </a:r>
            <a:r>
              <a:rPr lang="en-US" dirty="0" err="1"/>
              <a:t>ovih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identifikovati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izbrisane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skrivene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nelogične</a:t>
            </a:r>
            <a:r>
              <a:rPr lang="en-US" dirty="0"/>
              <a:t> </a:t>
            </a:r>
            <a:r>
              <a:rPr lang="en-US" dirty="0" err="1"/>
              <a:t>granice</a:t>
            </a:r>
            <a:r>
              <a:rPr lang="en-US" dirty="0"/>
              <a:t> </a:t>
            </a:r>
            <a:r>
              <a:rPr lang="en-US" dirty="0" err="1"/>
              <a:t>particija</a:t>
            </a:r>
            <a:r>
              <a:rPr lang="en-US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neslaganja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prijavljenog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stvarnog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.</a:t>
            </a:r>
            <a:endParaRPr lang="sr-Latn-R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68969-E4C2-6567-6C51-654FB7868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92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DC2F-63F3-A162-35DA-5C47002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27D43-D27C-DB8B-5BF9-C5CE0C239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A8DFD-2ED0-01B5-9953-C9E544376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najbitniji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offsetu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0x1BE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četiri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16-bajtna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informacijama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particijama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MBR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potpis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0x55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kraju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sr-Latn-R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prvom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relevantan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</a:t>
            </a:r>
            <a:endParaRPr lang="sr-Latn-R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Na slici vidimo </a:t>
            </a: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Prikaz MBR particione tabele dobijen programskom analizom RAW sektora diska i na njoj se </a:t>
            </a:r>
            <a:r>
              <a:rPr lang="en-US" dirty="0" err="1"/>
              <a:t>vidi</a:t>
            </a:r>
            <a:r>
              <a:rPr lang="en-US" dirty="0"/>
              <a:t> da je Type polje </a:t>
            </a:r>
            <a:r>
              <a:rPr lang="en-US" dirty="0" err="1"/>
              <a:t>inicijalno</a:t>
            </a:r>
            <a:r>
              <a:rPr lang="en-US" dirty="0"/>
              <a:t> 07,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označava</a:t>
            </a:r>
            <a:r>
              <a:rPr lang="en-US" dirty="0"/>
              <a:t> NTFS </a:t>
            </a:r>
            <a:r>
              <a:rPr lang="en-US" dirty="0" err="1"/>
              <a:t>particiju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upravo</a:t>
            </a:r>
            <a:r>
              <a:rPr lang="en-US" dirty="0"/>
              <a:t> ta </a:t>
            </a:r>
            <a:r>
              <a:rPr lang="en-US" dirty="0" err="1"/>
              <a:t>vrednost</a:t>
            </a:r>
            <a:r>
              <a:rPr lang="en-US" dirty="0"/>
              <a:t> je </a:t>
            </a:r>
            <a:r>
              <a:rPr lang="en-US" dirty="0" err="1"/>
              <a:t>promenjena</a:t>
            </a:r>
            <a:r>
              <a:rPr lang="en-US" dirty="0"/>
              <a:t> u 17.</a:t>
            </a:r>
            <a:endParaRPr lang="sr-Latn-C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r-Latn-C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07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označava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NTFS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prikazani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NTFS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 MBR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šemi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particionisanja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0),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počinje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offsetu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446 i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16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bajtova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svakom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16-bajtnom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bajt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odluči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kakvu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particiju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gleda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(FAT, NTFS,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extended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varijante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Cyrl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itd</a:t>
            </a:r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r-Cyrl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Prvi particioni unos (entry #1) sadrži validne metapodatke koji ukazuju na postojanje aktivne particije određenog tipa fajl-sistema, dok zapisi sa vrednostima 0x00 u preostalim particionim unosima (entry #2–#4) ukazuju na to da na disku ne postoje dodatne particije, odnosno da storage uređaj sadrži jednu primarnu particiju.</a:t>
            </a:r>
            <a:endParaRPr lang="sr-Latn-R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r-Latn-R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0C01-4EF1-BD8B-60AC-7766A7CD8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70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fizičke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MBR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sledeći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apstrakcije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 fontAlgn="base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definiše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pristupa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podacima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unutar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operativnom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direktorijumima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poznaje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njihovu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fizičku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 fontAlgn="base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rečima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fizičkih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logičkog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prikaza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fajlova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 fontAlgn="base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fajl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imenom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putanjom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alokacijom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prostora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metapodacima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NTFS se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razlikuju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bezbednosnim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mehanizmima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forenzičkom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značaju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uticaj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manipulacije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dirty="0"/>
          </a:p>
          <a:p>
            <a:r>
              <a:rPr lang="en-US" dirty="0" err="1"/>
              <a:t>Osnovni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svakog</a:t>
            </a:r>
            <a:r>
              <a:rPr lang="en-US" dirty="0"/>
              <a:t> </a:t>
            </a:r>
            <a:r>
              <a:rPr lang="en-US" dirty="0" err="1"/>
              <a:t>datotečnog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datoteke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direktorijumi</a:t>
            </a:r>
            <a:r>
              <a:rPr lang="en-US" dirty="0"/>
              <a:t>. </a:t>
            </a:r>
            <a:r>
              <a:rPr lang="en-US" dirty="0" err="1"/>
              <a:t>Datoteka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logičku</a:t>
            </a:r>
            <a:r>
              <a:rPr lang="en-US" dirty="0"/>
              <a:t> </a:t>
            </a:r>
            <a:r>
              <a:rPr lang="en-US" dirty="0" err="1"/>
              <a:t>celinu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ime</a:t>
            </a:r>
            <a:r>
              <a:rPr lang="en-US" dirty="0"/>
              <a:t>, </a:t>
            </a:r>
            <a:r>
              <a:rPr lang="en-US" dirty="0" err="1"/>
              <a:t>veličinu</a:t>
            </a:r>
            <a:r>
              <a:rPr lang="en-US" dirty="0"/>
              <a:t>, </a:t>
            </a:r>
            <a:r>
              <a:rPr lang="en-US" dirty="0" err="1"/>
              <a:t>vremenske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metapodatke</a:t>
            </a:r>
            <a:r>
              <a:rPr lang="en-US" dirty="0"/>
              <a:t>. </a:t>
            </a:r>
            <a:r>
              <a:rPr lang="en-US" dirty="0" err="1"/>
              <a:t>Direktorijumi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</a:t>
            </a:r>
            <a:r>
              <a:rPr lang="en-US" dirty="0" err="1"/>
              <a:t>hijerarhijsku</a:t>
            </a:r>
            <a:r>
              <a:rPr lang="en-US" dirty="0"/>
              <a:t> </a:t>
            </a:r>
            <a:r>
              <a:rPr lang="en-US" dirty="0" err="1"/>
              <a:t>organizaciju</a:t>
            </a:r>
            <a:r>
              <a:rPr lang="en-US" dirty="0"/>
              <a:t> </a:t>
            </a:r>
            <a:r>
              <a:rPr lang="en-US" dirty="0" err="1"/>
              <a:t>datoteka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služe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grupisanja</a:t>
            </a:r>
            <a:r>
              <a:rPr lang="en-US" dirty="0"/>
              <a:t> </a:t>
            </a:r>
            <a:r>
              <a:rPr lang="en-US" dirty="0" err="1"/>
              <a:t>povezanih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00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karakteristika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korišćenje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alokacije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(FAT),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tome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pripadaju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određenoj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slobodni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u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lanac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čemu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redosledu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sadržaj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sastoji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sledećih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njegovo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učitavanje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povezuje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direktorijuma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direktorijum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poddirektorijumima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region – deo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nalaze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Prilikom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upisa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pronalazi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slobodne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evidentira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njihovo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ulančavanje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Brisanjem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uklanjaju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često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prepisani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FAT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uglavnom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memorijama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memorijskim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karticama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sr-Latn-R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hijerarhija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pokazuje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FAT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od boot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FAT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direktorijuma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fajlova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94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E59A-6567-AAF5-A94C-39F773ECB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B285-E8E4-C41D-9487-FAF0A2B3B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8315F-CDC0-B439-E06B-F11C7E3F8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prevaziđe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obezbedi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bezbednost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efikasnost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razliku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FAT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File Table (MFT)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metapodacima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direktorijum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predstavljeni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MFT-u.</a:t>
            </a:r>
          </a:p>
          <a:p>
            <a:r>
              <a:rPr lang="en-US" dirty="0"/>
              <a:t>Master File Table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srce</a:t>
            </a:r>
            <a:r>
              <a:rPr lang="en-US" dirty="0"/>
              <a:t> NTFS </a:t>
            </a:r>
            <a:r>
              <a:rPr lang="en-US" dirty="0" err="1"/>
              <a:t>datotečnog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 MFT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zapise</a:t>
            </a:r>
            <a:r>
              <a:rPr lang="en-US" dirty="0"/>
              <a:t> o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datotekama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direktorijumima</a:t>
            </a:r>
            <a:r>
              <a:rPr lang="en-US" dirty="0"/>
              <a:t>, </a:t>
            </a:r>
            <a:r>
              <a:rPr lang="en-US" dirty="0" err="1"/>
              <a:t>uključujući</a:t>
            </a:r>
            <a:r>
              <a:rPr lang="en-US" dirty="0"/>
              <a:t> </a:t>
            </a:r>
            <a:r>
              <a:rPr lang="en-US" dirty="0" err="1"/>
              <a:t>njihove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, </a:t>
            </a:r>
            <a:r>
              <a:rPr lang="en-US" dirty="0" err="1"/>
              <a:t>lokaciju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bezbednosne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.</a:t>
            </a:r>
          </a:p>
          <a:p>
            <a:r>
              <a:rPr lang="en-US" dirty="0" err="1"/>
              <a:t>Svaki</a:t>
            </a:r>
            <a:r>
              <a:rPr lang="en-US" dirty="0"/>
              <a:t> MFT </a:t>
            </a:r>
            <a:r>
              <a:rPr lang="en-US" dirty="0" err="1"/>
              <a:t>zapis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fiksnu</a:t>
            </a:r>
            <a:r>
              <a:rPr lang="en-US" dirty="0"/>
              <a:t> </a:t>
            </a:r>
            <a:r>
              <a:rPr lang="en-US" dirty="0" err="1"/>
              <a:t>veličinu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sadržati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atributa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imenu</a:t>
            </a:r>
            <a:r>
              <a:rPr lang="en-US" dirty="0"/>
              <a:t> </a:t>
            </a:r>
            <a:r>
              <a:rPr lang="en-US" dirty="0" err="1"/>
              <a:t>datoteke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bezbednosni</a:t>
            </a:r>
            <a:r>
              <a:rPr lang="en-US" dirty="0"/>
              <a:t> </a:t>
            </a:r>
            <a:r>
              <a:rPr lang="en-US" dirty="0" err="1"/>
              <a:t>deskriptori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žigovi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pokazivači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klastere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.</a:t>
            </a:r>
          </a:p>
          <a:p>
            <a:r>
              <a:rPr lang="en-US" dirty="0"/>
              <a:t>U </a:t>
            </a:r>
            <a:r>
              <a:rPr lang="en-US" dirty="0" err="1"/>
              <a:t>određenim</a:t>
            </a:r>
            <a:r>
              <a:rPr lang="en-US" dirty="0"/>
              <a:t> </a:t>
            </a:r>
            <a:r>
              <a:rPr lang="en-US" dirty="0" err="1"/>
              <a:t>slučajevima</a:t>
            </a:r>
            <a:r>
              <a:rPr lang="en-US" dirty="0"/>
              <a:t>, </a:t>
            </a:r>
            <a:r>
              <a:rPr lang="en-US" dirty="0" err="1"/>
              <a:t>mali</a:t>
            </a:r>
            <a:r>
              <a:rPr lang="en-US" dirty="0"/>
              <a:t> </a:t>
            </a:r>
            <a:r>
              <a:rPr lang="en-US" dirty="0" err="1"/>
              <a:t>fajlovi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u </a:t>
            </a:r>
            <a:r>
              <a:rPr lang="en-US" dirty="0" err="1"/>
              <a:t>potpunosti</a:t>
            </a:r>
            <a:r>
              <a:rPr lang="en-US" dirty="0"/>
              <a:t> </a:t>
            </a:r>
            <a:r>
              <a:rPr lang="en-US" dirty="0" err="1"/>
              <a:t>smešteni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MFT </a:t>
            </a:r>
            <a:r>
              <a:rPr lang="en-US" dirty="0" err="1"/>
              <a:t>zapisa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povećava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r>
              <a:rPr lang="en-US" dirty="0"/>
              <a:t>NTFS </a:t>
            </a:r>
            <a:r>
              <a:rPr lang="en-US" dirty="0" err="1"/>
              <a:t>podržava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naprednih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ga </a:t>
            </a:r>
            <a:r>
              <a:rPr lang="en-US" dirty="0" err="1"/>
              <a:t>čine</a:t>
            </a:r>
            <a:r>
              <a:rPr lang="en-US" dirty="0"/>
              <a:t> </a:t>
            </a:r>
            <a:r>
              <a:rPr lang="en-US" dirty="0" err="1"/>
              <a:t>pogodnim</a:t>
            </a:r>
            <a:r>
              <a:rPr lang="en-US" dirty="0"/>
              <a:t> za </a:t>
            </a:r>
            <a:r>
              <a:rPr lang="en-US" dirty="0" err="1"/>
              <a:t>savremene</a:t>
            </a:r>
            <a:r>
              <a:rPr lang="en-US" dirty="0"/>
              <a:t> </a:t>
            </a:r>
            <a:r>
              <a:rPr lang="en-US" dirty="0" err="1"/>
              <a:t>operativne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podršku</a:t>
            </a:r>
            <a:r>
              <a:rPr lang="en-US" dirty="0"/>
              <a:t> za </a:t>
            </a:r>
            <a:r>
              <a:rPr lang="en-US" dirty="0" err="1"/>
              <a:t>velike</a:t>
            </a:r>
            <a:r>
              <a:rPr lang="en-US" dirty="0"/>
              <a:t> </a:t>
            </a:r>
            <a:r>
              <a:rPr lang="en-US" dirty="0" err="1"/>
              <a:t>datoteke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volumene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kontrolu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dozvole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journaling,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oporavak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enkripciju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kompresiju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r>
              <a:rPr lang="en-US" dirty="0" err="1"/>
              <a:t>Zahvaljujući</a:t>
            </a:r>
            <a:r>
              <a:rPr lang="en-US" dirty="0"/>
              <a:t> </a:t>
            </a:r>
            <a:r>
              <a:rPr lang="en-US" dirty="0" err="1"/>
              <a:t>ovim</a:t>
            </a:r>
            <a:r>
              <a:rPr lang="en-US" dirty="0"/>
              <a:t> </a:t>
            </a:r>
            <a:r>
              <a:rPr lang="en-US" dirty="0" err="1"/>
              <a:t>karakteristikama</a:t>
            </a:r>
            <a:r>
              <a:rPr lang="en-US" dirty="0"/>
              <a:t>, NTFS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poseban</a:t>
            </a:r>
            <a:r>
              <a:rPr lang="en-US" dirty="0"/>
              <a:t> </a:t>
            </a:r>
            <a:r>
              <a:rPr lang="en-US" dirty="0" err="1"/>
              <a:t>značaj</a:t>
            </a:r>
            <a:r>
              <a:rPr lang="en-US" dirty="0"/>
              <a:t> u </a:t>
            </a:r>
            <a:r>
              <a:rPr lang="en-US" dirty="0" err="1"/>
              <a:t>digitalnoj</a:t>
            </a:r>
            <a:r>
              <a:rPr lang="en-US" dirty="0"/>
              <a:t> </a:t>
            </a:r>
            <a:r>
              <a:rPr lang="en-US" dirty="0" err="1"/>
              <a:t>forenzici</a:t>
            </a:r>
            <a:r>
              <a:rPr lang="en-US" dirty="0"/>
              <a:t>,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detaljnu</a:t>
            </a:r>
            <a:r>
              <a:rPr lang="en-US" dirty="0"/>
              <a:t> </a:t>
            </a:r>
            <a:r>
              <a:rPr lang="en-US" dirty="0" err="1"/>
              <a:t>analizu</a:t>
            </a:r>
            <a:r>
              <a:rPr lang="en-US" dirty="0"/>
              <a:t> </a:t>
            </a:r>
            <a:r>
              <a:rPr lang="en-US" dirty="0" err="1"/>
              <a:t>metapodataka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aktivnosti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datotekama</a:t>
            </a:r>
            <a:r>
              <a:rPr lang="en-US" dirty="0"/>
              <a:t>.</a:t>
            </a:r>
          </a:p>
          <a:p>
            <a:r>
              <a:rPr lang="en-US" dirty="0"/>
              <a:t>NTFS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znatno</a:t>
            </a:r>
            <a:r>
              <a:rPr lang="en-US" dirty="0"/>
              <a:t> </a:t>
            </a:r>
            <a:r>
              <a:rPr lang="en-US" dirty="0" err="1"/>
              <a:t>napredniji</a:t>
            </a:r>
            <a:r>
              <a:rPr lang="en-US" dirty="0"/>
              <a:t> </a:t>
            </a:r>
            <a:r>
              <a:rPr lang="en-US" dirty="0" err="1"/>
              <a:t>datotečni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u </a:t>
            </a:r>
            <a:r>
              <a:rPr lang="en-US" dirty="0" err="1"/>
              <a:t>poređenju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FAT-om, </a:t>
            </a:r>
            <a:r>
              <a:rPr lang="en-US" dirty="0" err="1"/>
              <a:t>naročito</a:t>
            </a:r>
            <a:r>
              <a:rPr lang="en-US" dirty="0"/>
              <a:t> u </a:t>
            </a:r>
            <a:r>
              <a:rPr lang="en-US" dirty="0" err="1"/>
              <a:t>pogledu</a:t>
            </a:r>
            <a:r>
              <a:rPr lang="en-US" dirty="0"/>
              <a:t> </a:t>
            </a:r>
            <a:r>
              <a:rPr lang="en-US" dirty="0" err="1"/>
              <a:t>bezbednosti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forenzičke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. </a:t>
            </a:r>
            <a:r>
              <a:rPr lang="en-US" dirty="0" err="1"/>
              <a:t>Ipak</a:t>
            </a:r>
            <a:r>
              <a:rPr lang="en-US" dirty="0"/>
              <a:t>, FAT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primenu</a:t>
            </a:r>
            <a:r>
              <a:rPr lang="en-US" dirty="0"/>
              <a:t> u </a:t>
            </a:r>
            <a:r>
              <a:rPr lang="en-US" dirty="0" err="1"/>
              <a:t>specifičnim</a:t>
            </a:r>
            <a:r>
              <a:rPr lang="en-US" dirty="0"/>
              <a:t> </a:t>
            </a:r>
            <a:r>
              <a:rPr lang="en-US" dirty="0" err="1"/>
              <a:t>slučajevima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jednostavnost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kompatibilnost</a:t>
            </a:r>
            <a:r>
              <a:rPr lang="en-US" dirty="0"/>
              <a:t> od </a:t>
            </a:r>
            <a:r>
              <a:rPr lang="en-US" dirty="0" err="1"/>
              <a:t>većeg</a:t>
            </a:r>
            <a:r>
              <a:rPr lang="en-US" dirty="0"/>
              <a:t> </a:t>
            </a:r>
            <a:r>
              <a:rPr lang="en-US" dirty="0" err="1"/>
              <a:t>značaja</a:t>
            </a:r>
            <a:r>
              <a:rPr lang="en-US" dirty="0"/>
              <a:t> od </a:t>
            </a:r>
            <a:r>
              <a:rPr lang="en-US" dirty="0" err="1"/>
              <a:t>naprednih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DA8CF-2F25-86DB-7B76-919B86906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59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44AA5-5D8E-CEE4-F50E-55E7810E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01949-EB46-3302-B8EF-E31B1DA69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E119F-4F42-7608-7EF4-A8B218F25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 (FAT32) </a:t>
            </a:r>
            <a:r>
              <a:rPr lang="en-US" dirty="0" err="1"/>
              <a:t>i</a:t>
            </a:r>
            <a:r>
              <a:rPr lang="en-US" dirty="0"/>
              <a:t> NTFS </a:t>
            </a:r>
            <a:r>
              <a:rPr lang="en-US" dirty="0" err="1"/>
              <a:t>predstavljaju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fundamentalno</a:t>
            </a:r>
            <a:r>
              <a:rPr lang="en-US" dirty="0"/>
              <a:t> </a:t>
            </a:r>
            <a:r>
              <a:rPr lang="en-US" dirty="0" err="1"/>
              <a:t>različita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organizaciji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upravljanju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storage </a:t>
            </a:r>
            <a:r>
              <a:rPr lang="en-US" dirty="0" err="1"/>
              <a:t>medijumima</a:t>
            </a:r>
            <a:r>
              <a:rPr lang="en-US" dirty="0"/>
              <a:t>. </a:t>
            </a:r>
            <a:r>
              <a:rPr lang="en-US" dirty="0" err="1"/>
              <a:t>Iako</a:t>
            </a:r>
            <a:r>
              <a:rPr lang="en-US" dirty="0"/>
              <a:t> oba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istu</a:t>
            </a:r>
            <a:r>
              <a:rPr lang="en-US" dirty="0"/>
              <a:t> </a:t>
            </a:r>
            <a:r>
              <a:rPr lang="en-US" dirty="0" err="1"/>
              <a:t>osnovnu</a:t>
            </a:r>
            <a:r>
              <a:rPr lang="en-US" dirty="0"/>
              <a:t> </a:t>
            </a:r>
            <a:r>
              <a:rPr lang="en-US" dirty="0" err="1"/>
              <a:t>ulogu</a:t>
            </a:r>
            <a:r>
              <a:rPr lang="en-US" dirty="0"/>
              <a:t> –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– </a:t>
            </a:r>
            <a:r>
              <a:rPr lang="en-US" dirty="0" err="1"/>
              <a:t>njihove</a:t>
            </a:r>
            <a:r>
              <a:rPr lang="en-US" dirty="0"/>
              <a:t> </a:t>
            </a:r>
            <a:r>
              <a:rPr lang="en-US" dirty="0" err="1"/>
              <a:t>unutrašnje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, </a:t>
            </a:r>
            <a:r>
              <a:rPr lang="en-US" dirty="0" err="1"/>
              <a:t>bezbednosni</a:t>
            </a:r>
            <a:r>
              <a:rPr lang="en-US" dirty="0"/>
              <a:t> </a:t>
            </a:r>
            <a:r>
              <a:rPr lang="en-US" dirty="0" err="1"/>
              <a:t>mehanizmi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koji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njima</a:t>
            </a:r>
            <a:r>
              <a:rPr lang="en-US" dirty="0"/>
              <a:t>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značajno</a:t>
            </a:r>
            <a:r>
              <a:rPr lang="en-US" dirty="0"/>
              <a:t> se </a:t>
            </a:r>
            <a:r>
              <a:rPr lang="en-US" dirty="0" err="1"/>
              <a:t>razlikuju</a:t>
            </a:r>
            <a:r>
              <a:rPr lang="en-US" dirty="0"/>
              <a:t>. Ove </a:t>
            </a:r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direktan</a:t>
            </a:r>
            <a:r>
              <a:rPr lang="en-US" dirty="0"/>
              <a:t> </a:t>
            </a:r>
            <a:r>
              <a:rPr lang="en-US" dirty="0" err="1"/>
              <a:t>uticaj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forenzičke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ponašanje</a:t>
            </a:r>
            <a:r>
              <a:rPr lang="en-US" dirty="0"/>
              <a:t> </a:t>
            </a:r>
            <a:r>
              <a:rPr lang="en-US" dirty="0" err="1"/>
              <a:t>operativnog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manipulacije</a:t>
            </a:r>
            <a:r>
              <a:rPr lang="en-US" dirty="0"/>
              <a:t> </a:t>
            </a:r>
            <a:r>
              <a:rPr lang="en-US" dirty="0" err="1"/>
              <a:t>particijama</a:t>
            </a:r>
            <a:r>
              <a:rPr lang="en-US" dirty="0"/>
              <a:t>. U </a:t>
            </a:r>
            <a:r>
              <a:rPr lang="en-US" dirty="0" err="1"/>
              <a:t>Tabeli</a:t>
            </a:r>
            <a:r>
              <a:rPr lang="en-US" dirty="0"/>
              <a:t> 2 </a:t>
            </a:r>
            <a:r>
              <a:rPr lang="en-US" dirty="0" err="1"/>
              <a:t>dat</a:t>
            </a:r>
            <a:r>
              <a:rPr lang="en-US" dirty="0"/>
              <a:t> je </a:t>
            </a:r>
            <a:r>
              <a:rPr lang="en-US" dirty="0" err="1"/>
              <a:t>uporedni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osnovnih</a:t>
            </a:r>
            <a:r>
              <a:rPr lang="en-US" dirty="0"/>
              <a:t> </a:t>
            </a:r>
            <a:r>
              <a:rPr lang="en-US" dirty="0" err="1"/>
              <a:t>karakteristika</a:t>
            </a:r>
            <a:r>
              <a:rPr lang="en-US" dirty="0"/>
              <a:t> ova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čije</a:t>
            </a:r>
            <a:r>
              <a:rPr lang="en-US" dirty="0"/>
              <a:t> je </a:t>
            </a:r>
            <a:r>
              <a:rPr lang="en-US" dirty="0" err="1"/>
              <a:t>ponašanje</a:t>
            </a:r>
            <a:r>
              <a:rPr lang="en-US" dirty="0"/>
              <a:t>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analizirano</a:t>
            </a:r>
            <a:r>
              <a:rPr lang="en-US" dirty="0"/>
              <a:t> u </a:t>
            </a:r>
            <a:r>
              <a:rPr lang="en-US" dirty="0" err="1"/>
              <a:t>praktičnom</a:t>
            </a:r>
            <a:r>
              <a:rPr lang="en-US" dirty="0"/>
              <a:t> </a:t>
            </a:r>
            <a:r>
              <a:rPr lang="en-US" dirty="0" err="1"/>
              <a:t>delu</a:t>
            </a:r>
            <a:r>
              <a:rPr lang="en-US" dirty="0"/>
              <a:t> rada.</a:t>
            </a:r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FF588-A5F7-9170-D5A5-FC60372ED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80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eksperimenta</a:t>
            </a:r>
            <a:r>
              <a:rPr lang="en-US" dirty="0"/>
              <a:t> bio je da se </a:t>
            </a:r>
            <a:r>
              <a:rPr lang="en-US" dirty="0" err="1"/>
              <a:t>proveri</a:t>
            </a:r>
            <a:r>
              <a:rPr lang="en-US" dirty="0"/>
              <a:t> da li je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sakriti</a:t>
            </a:r>
            <a:r>
              <a:rPr lang="en-US" dirty="0"/>
              <a:t> </a:t>
            </a:r>
            <a:r>
              <a:rPr lang="en-US" dirty="0" err="1"/>
              <a:t>particiju</a:t>
            </a:r>
            <a:r>
              <a:rPr lang="en-US" dirty="0"/>
              <a:t> </a:t>
            </a:r>
            <a:r>
              <a:rPr lang="en-US" dirty="0" err="1"/>
              <a:t>direktnom</a:t>
            </a:r>
            <a:r>
              <a:rPr lang="en-US" dirty="0"/>
              <a:t> </a:t>
            </a:r>
            <a:r>
              <a:rPr lang="en-US" dirty="0" err="1"/>
              <a:t>izmenom</a:t>
            </a:r>
            <a:r>
              <a:rPr lang="en-US" dirty="0"/>
              <a:t> MBR </a:t>
            </a:r>
            <a:r>
              <a:rPr lang="en-US" dirty="0" err="1"/>
              <a:t>particione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. </a:t>
            </a:r>
            <a:r>
              <a:rPr lang="en-US" dirty="0" err="1"/>
              <a:t>Eksperiment</a:t>
            </a:r>
            <a:r>
              <a:rPr lang="en-US" dirty="0"/>
              <a:t> je </a:t>
            </a:r>
            <a:r>
              <a:rPr lang="en-US" dirty="0" err="1"/>
              <a:t>izveden</a:t>
            </a:r>
            <a:r>
              <a:rPr lang="en-US" dirty="0"/>
              <a:t> u </a:t>
            </a:r>
            <a:r>
              <a:rPr lang="en-US" dirty="0" err="1"/>
              <a:t>više</a:t>
            </a:r>
            <a:r>
              <a:rPr lang="en-US" dirty="0"/>
              <a:t> Windows </a:t>
            </a:r>
            <a:r>
              <a:rPr lang="en-US" dirty="0" err="1"/>
              <a:t>okruženja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tipovima</a:t>
            </a:r>
            <a:r>
              <a:rPr lang="en-US" dirty="0"/>
              <a:t> </a:t>
            </a:r>
            <a:r>
              <a:rPr lang="en-US" dirty="0" err="1"/>
              <a:t>uređaja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obavezno</a:t>
            </a:r>
            <a:r>
              <a:rPr lang="en-US" dirty="0"/>
              <a:t> </a:t>
            </a:r>
            <a:r>
              <a:rPr lang="en-US" dirty="0" err="1"/>
              <a:t>kreiranje</a:t>
            </a:r>
            <a:r>
              <a:rPr lang="en-US" dirty="0"/>
              <a:t> backup-a pre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sr-Latn-RS" dirty="0"/>
              <a:t>z</a:t>
            </a:r>
            <a:r>
              <a:rPr lang="en-US" dirty="0" err="1"/>
              <a:t>mene</a:t>
            </a:r>
            <a:endParaRPr lang="en-US" dirty="0"/>
          </a:p>
          <a:p>
            <a:endParaRPr lang="en-US" dirty="0"/>
          </a:p>
          <a:p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ovom delu rada prikazan je postupak sakrivanja particije tvrdog diska, sa posebnim fokusom na NTFS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sistem. Eksperiment je realizovan u kontrolisanom okruženju, korišćenjem operativnog sistema Windows 11, koji predstavlja savremeni operativni sistem sa unapređenim bezbednosnim mehanizmima.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Sakrivanje particije realizovano je na dva različita načina: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direktnom izmenom struktura diska pomoću </a:t>
            </a:r>
            <a:r>
              <a:rPr lang="sr-Latn-R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HeX</a:t>
            </a:r>
            <a:r>
              <a:rPr lang="sr-Latn-R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editora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korišćenjem </a:t>
            </a:r>
            <a:r>
              <a:rPr lang="sr-Latn-R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programa razvijenog u programskom jeziku C/C++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koji automatski izvršava potrebne izmene.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 ovog dela rada je da se pokaže kako se manipulacijom </a:t>
            </a:r>
            <a:r>
              <a:rPr lang="sr-Latn-R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low-level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struktura diska može uticati na vidljivost particija u operativnom sistemu, kao i da se identifikuju ograničenja savremenih operativnih sistema u odnosu na starije verzije.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4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r-Latn-R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HxD</a:t>
            </a:r>
            <a:r>
              <a:rPr lang="sr-Latn-R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Latn-R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heksadecimalni</a:t>
            </a:r>
            <a:r>
              <a:rPr lang="sr-Latn-R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editor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predstavlja alat koji omogućava direktan pristup RAW podacima na fizičkom disku, nezavisno od operativnog sistema i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datotečnog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sistema.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HxD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omogućava pregled i izmenu sadržaja diska na bajt-nivou, uključujući i sektore koji nisu vidljivi korisniku.</a:t>
            </a:r>
            <a:r>
              <a:rPr lang="en-US" dirty="0"/>
              <a:t> </a:t>
            </a:r>
            <a:r>
              <a:rPr lang="en-US" dirty="0" err="1"/>
              <a:t>Promenom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učiniti</a:t>
            </a:r>
            <a:r>
              <a:rPr lang="en-US" dirty="0"/>
              <a:t> da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ne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particiju</a:t>
            </a:r>
            <a:r>
              <a:rPr lang="en-US" dirty="0"/>
              <a:t> u File Explorer-u, </a:t>
            </a: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.</a:t>
            </a:r>
            <a:endParaRPr lang="sr-Latn-R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HxD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pokrenut sa administratorskim privilegijama, kako bi bio omogućen direktan pristup fizičkom disku. </a:t>
            </a:r>
            <a:endParaRPr lang="sr-Latn-R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 izvođenja bilo kakvih izmena nad </a:t>
            </a:r>
            <a:r>
              <a:rPr lang="sr-Latn-R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low-level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strukturama diska, neophodno je izvršiti izrada rezervne kopije (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relevantnih podataka. Direktna manipulacija RAW sektorima diska, uključujući izmene Master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 i </a:t>
            </a:r>
            <a:r>
              <a:rPr lang="sr-Latn-R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particione</a:t>
            </a:r>
            <a:r>
              <a:rPr lang="sr-Latn-R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tabele, nosi rizik od gubitka podataka ili neispravnog rada sistema u slučaju greške.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opsegu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adresa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0x1BE do 0x1FD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nalazi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Partition Table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sadrži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karakteristikama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okviru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odgovara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Maxtor (E:),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adresi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0x1E2,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Partition Type.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0x07,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označava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zamenjena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vrednošću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0x17,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skrivenu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96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B593-8544-11EA-62E5-C6C0435C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02D5C-0386-2F74-AB8B-A02176C82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BB986-C1DD-1A8F-BACB-CEBB6731F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MBR </a:t>
            </a:r>
            <a:r>
              <a:rPr lang="en-US" dirty="0" err="1"/>
              <a:t>particionoj</a:t>
            </a:r>
            <a:r>
              <a:rPr lang="en-US" dirty="0"/>
              <a:t> </a:t>
            </a:r>
            <a:r>
              <a:rPr lang="en-US" dirty="0" err="1"/>
              <a:t>tabeli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particija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polje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njen</a:t>
            </a:r>
            <a:r>
              <a:rPr lang="en-US" dirty="0"/>
              <a:t> tip.</a:t>
            </a:r>
            <a:r>
              <a:rPr lang="sr-Latn-RS" dirty="0"/>
              <a:t> To sam objašnjavala na 7.slajdu.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NTFS </a:t>
            </a:r>
            <a:r>
              <a:rPr lang="en-US" dirty="0" err="1"/>
              <a:t>particija</a:t>
            </a:r>
            <a:r>
              <a:rPr lang="en-US" dirty="0"/>
              <a:t> ta </a:t>
            </a:r>
            <a:r>
              <a:rPr lang="en-US" dirty="0" err="1"/>
              <a:t>vrednost</a:t>
            </a:r>
            <a:r>
              <a:rPr lang="en-US" dirty="0"/>
              <a:t> je 0x07. </a:t>
            </a:r>
            <a:r>
              <a:rPr lang="en-US" dirty="0" err="1"/>
              <a:t>Promenom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u 0x17, </a:t>
            </a:r>
            <a:r>
              <a:rPr lang="en-US" dirty="0" err="1"/>
              <a:t>particija</a:t>
            </a:r>
            <a:r>
              <a:rPr lang="en-US" dirty="0"/>
              <a:t> se </a:t>
            </a:r>
            <a:r>
              <a:rPr lang="en-US" dirty="0" err="1"/>
              <a:t>označava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skrivena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dovodi</a:t>
            </a:r>
            <a:r>
              <a:rPr lang="en-US" dirty="0"/>
              <a:t> do toga da je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ne </a:t>
            </a:r>
            <a:r>
              <a:rPr lang="en-US" dirty="0" err="1"/>
              <a:t>montira</a:t>
            </a:r>
            <a:r>
              <a:rPr lang="en-US" dirty="0"/>
              <a:t> u File Explorer-u.</a:t>
            </a:r>
            <a:endParaRPr lang="sr-Latn-RS" dirty="0"/>
          </a:p>
          <a:p>
            <a:endParaRPr lang="sr-Latn-RS" dirty="0"/>
          </a:p>
          <a:p>
            <a:r>
              <a:rPr lang="en-US" dirty="0"/>
              <a:t>Ova </a:t>
            </a:r>
            <a:r>
              <a:rPr lang="en-US" dirty="0" err="1"/>
              <a:t>izmena</a:t>
            </a:r>
            <a:r>
              <a:rPr lang="en-US" dirty="0"/>
              <a:t> ne </a:t>
            </a:r>
            <a:r>
              <a:rPr lang="en-US" dirty="0" err="1"/>
              <a:t>briše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menja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koji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interpretira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34AF-AE2A-BBCE-2B04-7521CECF2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48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474D-368D-27ED-86B0-060930CBC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D70EF-9ADE-E9A7-400A-5EDACC89D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A31C7-3C4C-8816-20BE-0EC8E848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 </a:t>
            </a:r>
            <a:r>
              <a:rPr lang="en-US" dirty="0" err="1"/>
              <a:t>levoj</a:t>
            </a:r>
            <a:r>
              <a:rPr lang="en-US" dirty="0"/>
              <a:t> </a:t>
            </a:r>
            <a:r>
              <a:rPr lang="en-US" dirty="0" err="1"/>
              <a:t>strani</a:t>
            </a:r>
            <a:r>
              <a:rPr lang="en-US" dirty="0"/>
              <a:t> se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pre </a:t>
            </a:r>
            <a:r>
              <a:rPr lang="en-US" dirty="0" err="1"/>
              <a:t>izmene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particija</a:t>
            </a:r>
            <a:r>
              <a:rPr lang="en-US" dirty="0"/>
              <a:t> </a:t>
            </a:r>
            <a:r>
              <a:rPr lang="en-US" dirty="0" err="1"/>
              <a:t>normalno</a:t>
            </a:r>
            <a:r>
              <a:rPr lang="en-US" dirty="0"/>
              <a:t> </a:t>
            </a:r>
            <a:r>
              <a:rPr lang="en-US" dirty="0" err="1"/>
              <a:t>dostupna</a:t>
            </a:r>
            <a:r>
              <a:rPr lang="en-US" dirty="0"/>
              <a:t> </a:t>
            </a:r>
            <a:r>
              <a:rPr lang="en-US" dirty="0" err="1"/>
              <a:t>korisniku</a:t>
            </a:r>
            <a:r>
              <a:rPr lang="en-US" dirty="0"/>
              <a:t>.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Partition Type </a:t>
            </a:r>
            <a:r>
              <a:rPr lang="en-US" dirty="0" err="1"/>
              <a:t>vrednosti</a:t>
            </a:r>
            <a:r>
              <a:rPr lang="en-US" dirty="0"/>
              <a:t> u MBR-u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restarta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particija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prikazana</a:t>
            </a:r>
            <a:r>
              <a:rPr lang="en-US" dirty="0"/>
              <a:t> u File Explorer-u </a:t>
            </a:r>
            <a:r>
              <a:rPr lang="en-US" dirty="0" err="1"/>
              <a:t>ali</a:t>
            </a:r>
            <a:r>
              <a:rPr lang="en-US" dirty="0"/>
              <a:t> je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prisutna</a:t>
            </a:r>
            <a:r>
              <a:rPr lang="en-US" dirty="0"/>
              <a:t> u Disk Management </a:t>
            </a:r>
            <a:r>
              <a:rPr lang="en-US" dirty="0" err="1"/>
              <a:t>alatu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C31AD-A77A-3D27-1E7B-CF4F0B578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04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Glavni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automatizacija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postupka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sakrivanja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koji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prethodno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realizovan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manuelno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pomoću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heksadecimalnog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editora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Program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omogućava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prikaz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sektora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karakteristike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Master Boot Record-u. Na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obezbeđena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automatizovana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kontrolisana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postupka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sakrivanja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sr-Latn-R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okviru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programske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posebna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pažnja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posvećena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bezbednosti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Program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automatski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poseban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direktorijum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rezervne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kopije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okviru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čuva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backup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izvođenja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kakvih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Na taj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obezbeđena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mogućnost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povratka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prethodno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slučaju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greške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izvršavanja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sr-Latn-RS" dirty="0"/>
          </a:p>
          <a:p>
            <a:r>
              <a:rPr lang="en-US" dirty="0"/>
              <a:t>Program pored same </a:t>
            </a:r>
            <a:r>
              <a:rPr lang="en-US" dirty="0" err="1"/>
              <a:t>izmene</a:t>
            </a:r>
            <a:r>
              <a:rPr lang="en-US" dirty="0"/>
              <a:t> MBR </a:t>
            </a:r>
            <a:r>
              <a:rPr lang="en-US" dirty="0" err="1"/>
              <a:t>zapisa</a:t>
            </a:r>
            <a:r>
              <a:rPr lang="en-US" dirty="0"/>
              <a:t> </a:t>
            </a:r>
            <a:r>
              <a:rPr lang="en-US" dirty="0" err="1"/>
              <a:t>najpre</a:t>
            </a:r>
            <a:r>
              <a:rPr lang="en-US" dirty="0"/>
              <a:t> </a:t>
            </a:r>
            <a:r>
              <a:rPr lang="en-US" dirty="0" err="1"/>
              <a:t>kreira</a:t>
            </a:r>
            <a:r>
              <a:rPr lang="en-US" dirty="0"/>
              <a:t> </a:t>
            </a:r>
            <a:r>
              <a:rPr lang="en-US" dirty="0" err="1"/>
              <a:t>rezervnu</a:t>
            </a:r>
            <a:r>
              <a:rPr lang="en-US" dirty="0"/>
              <a:t> </a:t>
            </a:r>
            <a:r>
              <a:rPr lang="en-US" dirty="0" err="1"/>
              <a:t>kopiju</a:t>
            </a:r>
            <a:r>
              <a:rPr lang="en-US" dirty="0"/>
              <a:t> boot </a:t>
            </a:r>
            <a:r>
              <a:rPr lang="en-US" dirty="0" err="1"/>
              <a:t>sektora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obezbeđuje</a:t>
            </a:r>
            <a:r>
              <a:rPr lang="en-US" dirty="0"/>
              <a:t> </a:t>
            </a:r>
            <a:r>
              <a:rPr lang="en-US" dirty="0" err="1"/>
              <a:t>mogućnost</a:t>
            </a:r>
            <a:r>
              <a:rPr lang="en-US" dirty="0"/>
              <a:t> </a:t>
            </a:r>
            <a:r>
              <a:rPr lang="sr-Latn-RS" dirty="0"/>
              <a:t>po</a:t>
            </a:r>
            <a:r>
              <a:rPr lang="en-US" dirty="0" err="1"/>
              <a:t>vraćaja</a:t>
            </a:r>
            <a:r>
              <a:rPr lang="en-US" dirty="0"/>
              <a:t> </a:t>
            </a:r>
            <a:r>
              <a:rPr lang="en-US" dirty="0" err="1"/>
              <a:t>originalnog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. </a:t>
            </a:r>
            <a:r>
              <a:rPr lang="en-US" dirty="0" err="1"/>
              <a:t>Ovakav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je u </a:t>
            </a:r>
            <a:r>
              <a:rPr lang="en-US" dirty="0" err="1"/>
              <a:t>skladu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osnovnim</a:t>
            </a:r>
            <a:r>
              <a:rPr lang="en-US" dirty="0"/>
              <a:t> </a:t>
            </a:r>
            <a:r>
              <a:rPr lang="en-US" dirty="0" err="1"/>
              <a:t>principima</a:t>
            </a:r>
            <a:r>
              <a:rPr lang="en-US" dirty="0"/>
              <a:t> </a:t>
            </a:r>
            <a:r>
              <a:rPr lang="en-US" dirty="0" err="1"/>
              <a:t>digitalne</a:t>
            </a:r>
            <a:r>
              <a:rPr lang="en-US" dirty="0"/>
              <a:t> </a:t>
            </a:r>
            <a:r>
              <a:rPr lang="en-US" dirty="0" err="1"/>
              <a:t>forenzike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10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Razvijeni</a:t>
            </a:r>
            <a:r>
              <a:rPr lang="en-US" dirty="0"/>
              <a:t> program </a:t>
            </a:r>
            <a:r>
              <a:rPr lang="en-US" dirty="0" err="1"/>
              <a:t>funkcionalno</a:t>
            </a:r>
            <a:r>
              <a:rPr lang="en-US" dirty="0"/>
              <a:t> </a:t>
            </a:r>
            <a:r>
              <a:rPr lang="en-US" dirty="0" err="1"/>
              <a:t>replicira</a:t>
            </a:r>
            <a:r>
              <a:rPr lang="en-US" dirty="0"/>
              <a:t> </a:t>
            </a:r>
            <a:r>
              <a:rPr lang="en-US" dirty="0" err="1"/>
              <a:t>postupak</a:t>
            </a:r>
            <a:r>
              <a:rPr lang="en-US" dirty="0"/>
              <a:t> koji se </a:t>
            </a:r>
            <a:r>
              <a:rPr lang="en-US" dirty="0" err="1"/>
              <a:t>izvodi</a:t>
            </a:r>
            <a:r>
              <a:rPr lang="en-US" dirty="0"/>
              <a:t> </a:t>
            </a:r>
            <a:r>
              <a:rPr lang="en-US" dirty="0" err="1"/>
              <a:t>heksadecimalnim</a:t>
            </a:r>
            <a:r>
              <a:rPr lang="en-US" dirty="0"/>
              <a:t> </a:t>
            </a:r>
            <a:r>
              <a:rPr lang="en-US" dirty="0" err="1"/>
              <a:t>editorom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kontrolisan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ponovljiv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. Program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fizičkom</a:t>
            </a:r>
            <a:r>
              <a:rPr lang="en-US" dirty="0"/>
              <a:t> </a:t>
            </a:r>
            <a:r>
              <a:rPr lang="en-US" dirty="0" err="1"/>
              <a:t>disku</a:t>
            </a:r>
            <a:r>
              <a:rPr lang="en-US" dirty="0"/>
              <a:t>, </a:t>
            </a:r>
            <a:r>
              <a:rPr lang="en-US" dirty="0" err="1"/>
              <a:t>očitava</a:t>
            </a:r>
            <a:r>
              <a:rPr lang="en-US" dirty="0"/>
              <a:t> MBR </a:t>
            </a:r>
            <a:r>
              <a:rPr lang="en-US" dirty="0" err="1"/>
              <a:t>sektor</a:t>
            </a:r>
            <a:r>
              <a:rPr lang="en-US" dirty="0"/>
              <a:t>, </a:t>
            </a:r>
            <a:r>
              <a:rPr lang="en-US" dirty="0" err="1"/>
              <a:t>kreira</a:t>
            </a:r>
            <a:r>
              <a:rPr lang="en-US" dirty="0"/>
              <a:t> </a:t>
            </a:r>
            <a:r>
              <a:rPr lang="en-US" dirty="0" err="1"/>
              <a:t>rezervnu</a:t>
            </a:r>
            <a:r>
              <a:rPr lang="en-US" dirty="0"/>
              <a:t> </a:t>
            </a:r>
            <a:r>
              <a:rPr lang="en-US" dirty="0" err="1"/>
              <a:t>kopiju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menja</a:t>
            </a:r>
            <a:r>
              <a:rPr lang="en-US" dirty="0"/>
              <a:t> </a:t>
            </a:r>
            <a:r>
              <a:rPr lang="en-US" dirty="0" err="1"/>
              <a:t>karakteristiku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 u MBR </a:t>
            </a:r>
            <a:r>
              <a:rPr lang="en-US" dirty="0" err="1"/>
              <a:t>tabeli</a:t>
            </a:r>
            <a:r>
              <a:rPr lang="en-US" dirty="0"/>
              <a:t>. </a:t>
            </a:r>
            <a:r>
              <a:rPr lang="en-US" dirty="0" err="1"/>
              <a:t>Izmena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administratorske</a:t>
            </a:r>
            <a:r>
              <a:rPr lang="en-US" dirty="0"/>
              <a:t> </a:t>
            </a:r>
            <a:r>
              <a:rPr lang="en-US" dirty="0" err="1"/>
              <a:t>privilegije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49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CD6E0-256D-FA85-5227-2381137D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BC9CB-4F7B-64A2-088D-DC18F9C2D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81B4B-8921-F928-B9D7-0870626A9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 </a:t>
            </a:r>
            <a:r>
              <a:rPr lang="en-US" dirty="0" err="1"/>
              <a:t>levoj</a:t>
            </a:r>
            <a:r>
              <a:rPr lang="en-US" dirty="0"/>
              <a:t> </a:t>
            </a:r>
            <a:r>
              <a:rPr lang="en-US" dirty="0" err="1"/>
              <a:t>strani</a:t>
            </a:r>
            <a:r>
              <a:rPr lang="en-US" dirty="0"/>
              <a:t> se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pre </a:t>
            </a:r>
            <a:r>
              <a:rPr lang="en-US" dirty="0" err="1"/>
              <a:t>izmene</a:t>
            </a:r>
            <a:r>
              <a:rPr lang="sr-Latn-RS" dirty="0"/>
              <a:t>, a na desnoj promenu </a:t>
            </a:r>
            <a:r>
              <a:rPr lang="en-US" dirty="0"/>
              <a:t>Partition Type </a:t>
            </a:r>
            <a:r>
              <a:rPr lang="sr-Latn-RS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C6EF6-7EF3-2021-BA44-A3DA9515B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86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Iako</a:t>
            </a:r>
            <a:r>
              <a:rPr lang="en-US" dirty="0"/>
              <a:t> je </a:t>
            </a:r>
            <a:r>
              <a:rPr lang="en-US" dirty="0" err="1"/>
              <a:t>izmena</a:t>
            </a:r>
            <a:r>
              <a:rPr lang="en-US" dirty="0"/>
              <a:t> MBR </a:t>
            </a:r>
            <a:r>
              <a:rPr lang="en-US" dirty="0" err="1"/>
              <a:t>particione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izvršena</a:t>
            </a:r>
            <a:r>
              <a:rPr lang="en-US" dirty="0"/>
              <a:t> </a:t>
            </a:r>
            <a:r>
              <a:rPr lang="en-US" dirty="0" err="1"/>
              <a:t>korektno</a:t>
            </a:r>
            <a:r>
              <a:rPr lang="en-US" dirty="0"/>
              <a:t>, </a:t>
            </a:r>
            <a:r>
              <a:rPr lang="en-US" dirty="0" err="1"/>
              <a:t>savremeni</a:t>
            </a:r>
            <a:r>
              <a:rPr lang="en-US" dirty="0"/>
              <a:t> Windows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mehanizme</a:t>
            </a:r>
            <a:r>
              <a:rPr lang="en-US" dirty="0"/>
              <a:t> koji </a:t>
            </a:r>
            <a:r>
              <a:rPr lang="en-US" dirty="0" err="1"/>
              <a:t>utiču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vidljivost</a:t>
            </a:r>
            <a:r>
              <a:rPr lang="en-US" dirty="0"/>
              <a:t> </a:t>
            </a:r>
            <a:r>
              <a:rPr lang="en-US" dirty="0" err="1"/>
              <a:t>particija</a:t>
            </a:r>
            <a:r>
              <a:rPr lang="en-US" dirty="0"/>
              <a:t>.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removable media </a:t>
            </a:r>
            <a:r>
              <a:rPr lang="en-US" dirty="0" err="1"/>
              <a:t>uređaja</a:t>
            </a:r>
            <a:r>
              <a:rPr lang="en-US" dirty="0"/>
              <a:t>, Windows </a:t>
            </a:r>
            <a:r>
              <a:rPr lang="en-US" dirty="0" err="1"/>
              <a:t>ignoriše</a:t>
            </a:r>
            <a:r>
              <a:rPr lang="en-US" dirty="0"/>
              <a:t> hidden partition type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montira</a:t>
            </a:r>
            <a:r>
              <a:rPr lang="en-US" dirty="0"/>
              <a:t> </a:t>
            </a:r>
            <a:r>
              <a:rPr lang="en-US" dirty="0" err="1"/>
              <a:t>particiju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onemogućava</a:t>
            </a:r>
            <a:r>
              <a:rPr lang="en-US" dirty="0"/>
              <a:t> </a:t>
            </a:r>
            <a:r>
              <a:rPr lang="en-US" dirty="0" err="1"/>
              <a:t>sakrivanje</a:t>
            </a:r>
            <a:r>
              <a:rPr lang="en-US" dirty="0"/>
              <a:t> </a:t>
            </a:r>
            <a:r>
              <a:rPr lang="en-US" dirty="0" err="1"/>
              <a:t>korišćenjem</a:t>
            </a:r>
            <a:r>
              <a:rPr lang="en-US" dirty="0"/>
              <a:t> MBR </a:t>
            </a:r>
            <a:r>
              <a:rPr lang="en-US" dirty="0" err="1"/>
              <a:t>izmene</a:t>
            </a:r>
            <a:r>
              <a:rPr lang="en-US" dirty="0"/>
              <a:t>.</a:t>
            </a:r>
            <a:endParaRPr lang="sr-Latn-RS" dirty="0"/>
          </a:p>
          <a:p>
            <a:endParaRPr lang="sr-Latn-RS" dirty="0"/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Eksperiment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dodatno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sproveden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FAT32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USB flash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MBR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korektno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 Type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offsetu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450,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heksadecimalna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0x0C (FAT32 LBA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zamenjuje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vrednošću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0x1C,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označava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skrivenu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FAT32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Ova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predstavlja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ispravnu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modifikaciju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Međutim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prilikom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izvođenja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eksperimenta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uočen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onemogućavaju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uspešnu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postupka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savremenim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Windows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operativnim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Na USB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Windows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operativni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prepoznaje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removable media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skrivene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ignoriše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operativni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automatski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dodeljuje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slovo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čega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ostaje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vidljiva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File Explorer-u,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uprkos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korektno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izvršenoj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MBR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 bi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proverilo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li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uočena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posledica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datotečnog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unapređenih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bezbednosnih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mehanizama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operativnog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eksperiment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dodatno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testiran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virtuelnom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okruženju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svrhu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kreirane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virtuelne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mašine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operativnim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Windows 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Windows XP.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92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66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28AC9-BAD4-472A-9095-C606D319C32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3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3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5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5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1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9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6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8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1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2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29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6448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02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04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1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55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1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F1281-E1A6-4171-9532-849ECA001A5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E3C76-F46C-4D50-8F37-C07A4515E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94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9C62-3EB0-4B7B-ADF8-865AAA3BE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04441"/>
            <a:ext cx="12192000" cy="117347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Forenzika</a:t>
            </a: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 </a:t>
            </a:r>
            <a:r>
              <a:rPr lang="en-US" sz="5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medijuma</a:t>
            </a:r>
            <a:br>
              <a:rPr lang="sr-Latn-R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sr-Latn-R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</a:t>
            </a:r>
            <a:r>
              <a:rPr lang="sr-Latn-R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D188FF8-4986-4244-BA38-849906C2C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4" y="4831398"/>
            <a:ext cx="11341736" cy="185388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Profesor: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tudent: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BRATISLAV PREDIĆ						dušica milanović</a:t>
            </a:r>
          </a:p>
          <a:p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br.indeksa: 2128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416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A99E-5153-48EF-9477-57D135D4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3760"/>
          </a:xfrm>
        </p:spPr>
        <p:txBody>
          <a:bodyPr/>
          <a:lstStyle/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Sadržaj prezentacije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41D44-BCB5-4C67-8303-3E07BD65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1168400"/>
            <a:ext cx="10759440" cy="556087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sr-Latn-R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Tema seminarskog rada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Osnovni pojmovi tvrdog diska: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sr-Latn-R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R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sektor i Master </a:t>
            </a:r>
            <a:r>
              <a:rPr lang="sr-Latn-R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R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sr-Latn-R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(MBR)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sr-Latn-R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sr-Latn-R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sr-Latn-R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Sakrivanje particije tvrdog diska – praktična implementacija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Ograničenja</a:t>
            </a:r>
            <a:r>
              <a:rPr lang="sr-Latn-R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ponašanje Windows OS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51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B0BD5-FA19-40D9-AFE8-5E3AAB4FA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306" y="2208847"/>
            <a:ext cx="10593388" cy="262731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 rada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obuhvata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forenzičku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medijuma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posebnim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 Boot Record-a (MBR).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okviru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analizirani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 (FAT32)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NTFS,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njihovo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prilikom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Praktični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deo rada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obuhvata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demonstraciju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heksadecimalnog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editora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HxD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programskog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direktnim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operativnih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DEC4F1-7C74-41F3-A3EA-C1653FB9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3760"/>
          </a:xfrm>
        </p:spPr>
        <p:txBody>
          <a:bodyPr/>
          <a:lstStyle/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TEMA SEMINARSKOG RADA: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7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FCBE-77E7-2846-B0BE-937E3E0D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3C71-51DE-C099-BF77-0918864D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243" y="1803540"/>
            <a:ext cx="8127842" cy="393953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Direktan pristup sektorima diska (LBA)</a:t>
            </a:r>
          </a:p>
          <a:p>
            <a:pPr lvl="1"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Zaobilazi logičke strukture/mehanizme OS-a</a:t>
            </a:r>
          </a:p>
          <a:p>
            <a:pPr lvl="1"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Omogućava uvid u skrivene i obrisane podatke</a:t>
            </a:r>
          </a:p>
          <a:p>
            <a:pPr lvl="1"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zavisi od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datotečnog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</a:t>
            </a:r>
          </a:p>
          <a:p>
            <a:pPr lvl="1"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Ključan za digitalnu forenziku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incident response-u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praktičnom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 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zapisa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otkrivanje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neslaganja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C9F035-F5AA-5385-E211-6C57C6E7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3760"/>
          </a:xfrm>
        </p:spPr>
        <p:txBody>
          <a:bodyPr/>
          <a:lstStyle/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PRISTUP PODACIMA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22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CE78E-178E-4BB3-AC1A-593A4444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599" y="1499449"/>
            <a:ext cx="4691217" cy="39635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particionisanog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(LBA 0)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Definiše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vidljivost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Kritična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tačka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forenzičke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forenzičke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manipulacije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036DD3-2435-4DF9-9B87-46E5EC7C52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Master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mbr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49E576-77FE-61DE-FF49-44BC160D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07" y="1499449"/>
            <a:ext cx="4322439" cy="38591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83D3EC-0860-9819-8356-F868A4C5901D}"/>
              </a:ext>
            </a:extLst>
          </p:cNvPr>
          <p:cNvSpPr txBox="1"/>
          <p:nvPr/>
        </p:nvSpPr>
        <p:spPr>
          <a:xfrm>
            <a:off x="6930500" y="5486399"/>
            <a:ext cx="316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Master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45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F3CC-BEC0-2C17-4A1E-B58F77AC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8808-44B6-B36D-525E-CB8C67A52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599" y="1499450"/>
            <a:ext cx="4691217" cy="3282616"/>
          </a:xfrm>
        </p:spPr>
        <p:txBody>
          <a:bodyPr>
            <a:normAutofit/>
          </a:bodyPr>
          <a:lstStyle/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Veličina 512B</a:t>
            </a:r>
          </a:p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MBR-a:</a:t>
            </a:r>
          </a:p>
          <a:p>
            <a:pPr lvl="1" algn="just"/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bajtovi 0-455 (446 bajtova)</a:t>
            </a:r>
          </a:p>
          <a:p>
            <a:pPr lvl="1" algn="just"/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(MPT)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bajtovi 446-509</a:t>
            </a:r>
          </a:p>
          <a:p>
            <a:pPr lvl="1" algn="just"/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potpis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bajtovi 510-511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692687-045D-94BE-2B9C-A6F7ED2109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mbr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BB2FD-52D2-FF30-F7C6-31D4D27FF7DC}"/>
              </a:ext>
            </a:extLst>
          </p:cNvPr>
          <p:cNvSpPr txBox="1"/>
          <p:nvPr/>
        </p:nvSpPr>
        <p:spPr>
          <a:xfrm>
            <a:off x="7246325" y="4782066"/>
            <a:ext cx="316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MBR sektora (LBA 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8C0D24-DC95-BD36-98DC-BA365AF23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445721"/>
              </p:ext>
            </p:extLst>
          </p:nvPr>
        </p:nvGraphicFramePr>
        <p:xfrm>
          <a:off x="6611186" y="1805457"/>
          <a:ext cx="4430731" cy="2706131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1311033">
                  <a:extLst>
                    <a:ext uri="{9D8B030D-6E8A-4147-A177-3AD203B41FA5}">
                      <a16:colId xmlns:a16="http://schemas.microsoft.com/office/drawing/2014/main" val="815980451"/>
                    </a:ext>
                  </a:extLst>
                </a:gridCol>
                <a:gridCol w="766102">
                  <a:extLst>
                    <a:ext uri="{9D8B030D-6E8A-4147-A177-3AD203B41FA5}">
                      <a16:colId xmlns:a16="http://schemas.microsoft.com/office/drawing/2014/main" val="2106773861"/>
                    </a:ext>
                  </a:extLst>
                </a:gridCol>
                <a:gridCol w="2353596">
                  <a:extLst>
                    <a:ext uri="{9D8B030D-6E8A-4147-A177-3AD203B41FA5}">
                      <a16:colId xmlns:a16="http://schemas.microsoft.com/office/drawing/2014/main" val="3245439884"/>
                    </a:ext>
                  </a:extLst>
                </a:gridCol>
              </a:tblGrid>
              <a:tr h="6308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Cyrl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Offset</a:t>
                      </a: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sr-Cyrl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hex</a:t>
                      </a: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Veličina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Opis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0975832"/>
                  </a:ext>
                </a:extLst>
              </a:tr>
              <a:tr h="6308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 – 0x1BD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 B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 code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7674668"/>
                  </a:ext>
                </a:extLst>
              </a:tr>
              <a:tr h="8137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Cyrl-R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0x1BE – 0x1FD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B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Cyrl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Partition</a:t>
                      </a: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Cyrl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(4 × 16 B)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3362900"/>
                  </a:ext>
                </a:extLst>
              </a:tr>
              <a:tr h="6308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0x1FE – 0x1FF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MBR </a:t>
                      </a:r>
                      <a:r>
                        <a:rPr lang="sr-Cyrl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</a:t>
                      </a:r>
                      <a:r>
                        <a:rPr lang="sr-Cyrl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(55 AA)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0146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61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996C-CB48-F984-7767-F93464C0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436D3-2FA6-AA67-B11D-8C9803CCC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69" y="1561111"/>
            <a:ext cx="5666636" cy="500011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r>
              <a:rPr lang="sr-Cyrl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sr-Cyrl-R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unosa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Svaki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16B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unos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opisuje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particiju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tipično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sr-Cyrl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#1 -</a:t>
            </a:r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sr-Cyrl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Cyrl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označava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aktivna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#2 - partition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NTFS, FAT32, “hidden”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varijante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.),</a:t>
            </a:r>
          </a:p>
          <a:p>
            <a:pPr lvl="1" algn="just"/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sr-Cyrl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#3 - </a:t>
            </a:r>
            <a:r>
              <a:rPr lang="sr-Cyrl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sr-Cyrl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LBA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gde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Cyrl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počinje</a:t>
            </a:r>
            <a:r>
              <a:rPr lang="sr-Cyrl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#4 - size in sectors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veličina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izražena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tačno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definisanom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offsetu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sektora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(decimalno: 450,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0x1C2)</a:t>
            </a:r>
          </a:p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0x07 – označava NTFS particiju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DF557-33F2-2A50-0BB1-91D7FE6438B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 (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mpt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4F42A6-28FD-A307-FF08-B921303527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51"/>
          <a:stretch>
            <a:fillRect/>
          </a:stretch>
        </p:blipFill>
        <p:spPr>
          <a:xfrm>
            <a:off x="6440715" y="2594916"/>
            <a:ext cx="5372341" cy="227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859A-7FE0-48FE-B084-BBEFC8B08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769" y="2278311"/>
            <a:ext cx="8148870" cy="2301378"/>
          </a:xfrm>
        </p:spPr>
        <p:txBody>
          <a:bodyPr>
            <a:normAutofit/>
          </a:bodyPr>
          <a:lstStyle/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Definišu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način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direktorijumima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Skrivaju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lokaciju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korisnika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Razlikuju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bezbednosti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forenzičkom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značaju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E17E8F-7524-4B31-A683-FD121FBAFAA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sistem (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ntfs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3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FA6BB-D365-424F-8C2A-5E121A4C2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9" y="1277139"/>
            <a:ext cx="6598507" cy="516073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(File Allocation Table)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obuhvata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varijante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FAT12, FAT16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FAT32</a:t>
            </a:r>
            <a:r>
              <a:rPr lang="sr-Latn-R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datotečnog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alokacije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(FAT), 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kojoj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evidencija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tome koji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klasteri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pripadaju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određenoj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datoteci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koji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klasteri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slobodni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r-Latn-R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sastoji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sledećih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komponenti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datotečnom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potrebne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njegovo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učitavanje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 algn="just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povezuje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klastere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 algn="just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direktorijuma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direktorijum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koji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poddirektorijumima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 algn="just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region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nalaze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stvarni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EE2212-B3D9-4741-B996-D14974587EF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sistem</a:t>
            </a:r>
            <a:endParaRPr lang="en-US" i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2B9C4EF8-E802-C255-FB48-AC317E718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891" b="15224"/>
          <a:stretch>
            <a:fillRect/>
          </a:stretch>
        </p:blipFill>
        <p:spPr>
          <a:xfrm>
            <a:off x="7608570" y="1277139"/>
            <a:ext cx="3761814" cy="43954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BD1E0C-973B-DB2C-F03E-FCD1AE1B8484}"/>
              </a:ext>
            </a:extLst>
          </p:cNvPr>
          <p:cNvSpPr txBox="1"/>
          <p:nvPr/>
        </p:nvSpPr>
        <p:spPr>
          <a:xfrm>
            <a:off x="7765709" y="5795318"/>
            <a:ext cx="34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Hijerarhija FAT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datotečnog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17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B349-78CB-C773-C945-331BC4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26F11-73B1-F10F-6F5E-AFF87C226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9" y="2150899"/>
            <a:ext cx="5906529" cy="42499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Technology File System)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predstavlja s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avremeni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Windows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okruženju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File Table (MFT)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upravljanje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metapodatke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direktorijumima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Podržava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bezbednosne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mehanizme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27764D-B4A5-6A91-1141-A0953F61D3F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ntfs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datotečni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sitem</a:t>
            </a:r>
            <a:endParaRPr lang="en-US" i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21265-BF9B-A84D-4207-0CC170432E66}"/>
              </a:ext>
            </a:extLst>
          </p:cNvPr>
          <p:cNvSpPr txBox="1"/>
          <p:nvPr/>
        </p:nvSpPr>
        <p:spPr>
          <a:xfrm>
            <a:off x="7500551" y="5795318"/>
            <a:ext cx="371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Hijerarhija NTFS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datotečnog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1F04B-9252-931F-6940-C38E5D05B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68" y="1493051"/>
            <a:ext cx="3755352" cy="387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99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5E4F-55A6-D365-E6B1-8CDE9092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2085-CF39-29AE-0759-448277B14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605" y="1601651"/>
            <a:ext cx="5123934" cy="365469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unutrašnje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mogućnosti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(FAT32)</a:t>
            </a:r>
            <a:r>
              <a:rPr lang="sr-Latn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jednostavan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kompatibilan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bez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napredne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kontrole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</a:t>
            </a:r>
            <a:r>
              <a:rPr lang="sr-Latn-R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napredan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bezbedan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bogati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metapodaci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tretman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operativnog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FAT32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USB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uređajima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ostaju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vidljive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ignoriše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partition type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FAT32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eksternim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diskovima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uspešno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sakrivaju</a:t>
            </a:r>
            <a:endParaRPr lang="sr-Latn-R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Razlike nisu u MBR zapisu, već u načinu na koji Windows tumači uređaj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BE7611-37BC-D521-3433-E22CEBC86C09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761835" cy="908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ntfs</a:t>
            </a:r>
            <a:endParaRPr lang="en-US" i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484B5-6902-E3A4-3DE8-9FE0830DC024}"/>
              </a:ext>
            </a:extLst>
          </p:cNvPr>
          <p:cNvSpPr txBox="1"/>
          <p:nvPr/>
        </p:nvSpPr>
        <p:spPr>
          <a:xfrm>
            <a:off x="6320462" y="5780418"/>
            <a:ext cx="5066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C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Uporedni prikaz FAT (FAT32) i NTFS </a:t>
            </a:r>
            <a:r>
              <a:rPr lang="sr-Latn-C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datotečnih</a:t>
            </a:r>
            <a:r>
              <a:rPr lang="sr-Latn-C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C5E06F-B791-E690-0140-4ABBDEBAA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460072"/>
              </p:ext>
            </p:extLst>
          </p:nvPr>
        </p:nvGraphicFramePr>
        <p:xfrm>
          <a:off x="6320462" y="1224554"/>
          <a:ext cx="5123934" cy="4408892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1707978">
                  <a:extLst>
                    <a:ext uri="{9D8B030D-6E8A-4147-A177-3AD203B41FA5}">
                      <a16:colId xmlns:a16="http://schemas.microsoft.com/office/drawing/2014/main" val="2491983071"/>
                    </a:ext>
                  </a:extLst>
                </a:gridCol>
                <a:gridCol w="1707978">
                  <a:extLst>
                    <a:ext uri="{9D8B030D-6E8A-4147-A177-3AD203B41FA5}">
                      <a16:colId xmlns:a16="http://schemas.microsoft.com/office/drawing/2014/main" val="757177005"/>
                    </a:ext>
                  </a:extLst>
                </a:gridCol>
                <a:gridCol w="1707978">
                  <a:extLst>
                    <a:ext uri="{9D8B030D-6E8A-4147-A177-3AD203B41FA5}">
                      <a16:colId xmlns:a16="http://schemas.microsoft.com/office/drawing/2014/main" val="3110841651"/>
                    </a:ext>
                  </a:extLst>
                </a:gridCol>
              </a:tblGrid>
              <a:tr h="20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Karakteristika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 (FAT32)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NTFS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469151234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datotečnog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Jednostavan, legacy datotečni sistem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Savremeni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datotečni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107078184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Centralna struktura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 tabela (File Allocation Table)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Master File Table (MFT)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953666740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Organizacija datoteka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Lančano povezani klasteri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Zapisi sa atributima u MFT-u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3708811106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Maksimalna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veličina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datoteke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Ograničena (do 4 GB)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Praktično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neograničena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466928138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Podrška za velike volumene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Ograničena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Podržaba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824319449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Bezbednosni mehanizmi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Nisu podržani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ACL, dozvole, audit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865087740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Journaling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Nije podržan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Podržan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1212154786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Oporavak nakon greške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Ograničen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Napredan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3493503831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Fragmentacija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Visoka sklonost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Manja sklonost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3383256110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Metapodaci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Minimalni 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Opsežni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231109416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Mogućnost smeštanja podataka u metapodatke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Nije podržana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Podržana (resident files)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1693419102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Tipična primena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 fleš memorije, memorijske kartice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Sistemski i eksterni hard diskovi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803523137"/>
                  </a:ext>
                </a:extLst>
              </a:tr>
              <a:tr h="1799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Forenzički značaj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Ograničen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Visok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1061785944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Poštovanje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hidden partition type u Windows OS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Ignoriše se na USB uređajima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Poštuje se na fiksnim i eksternim diskovima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867726717"/>
                  </a:ext>
                </a:extLst>
              </a:tr>
              <a:tr h="3684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Ponašanje u praktičnom delu rada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Particija ostaje vidljiva u File Explorer-u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Particija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postaje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skrivena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29" marR="55029" marT="0" marB="0" anchor="ctr"/>
                </a:tc>
                <a:extLst>
                  <a:ext uri="{0D108BD9-81ED-4DB2-BD59-A6C34878D82A}">
                    <a16:rowId xmlns:a16="http://schemas.microsoft.com/office/drawing/2014/main" val="2838735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18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38F5-44B9-FC81-F5F6-DD3E0965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C83FB-B495-F406-89CC-B7BD1317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124465"/>
            <a:ext cx="10800080" cy="52868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sr-Latn-R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Opis eksperimenta: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eksperimenta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zapisa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particionoj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boot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bezbednosna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okruženje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Windows 11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Testirano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XP (VM)</a:t>
            </a:r>
          </a:p>
          <a:p>
            <a:pPr lvl="1"/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Različiti tipovi storage uređaja (eksterni HDD, USB flash)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Metodologija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</a:t>
            </a:r>
          </a:p>
          <a:p>
            <a:pPr lvl="1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Ručna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HxD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alata</a:t>
            </a:r>
          </a:p>
          <a:p>
            <a:pPr lvl="1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Automatizovana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programskim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(C/C++)</a:t>
            </a:r>
          </a:p>
          <a:p>
            <a:pPr algn="just"/>
            <a:endParaRPr lang="en-US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FE0B4C-F4D4-A408-8C65-A71DD47A2F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072552" cy="1124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Sakrivanje particije tvrdog diska – praktična implementacija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42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2753-8656-40CB-B8BA-552601D8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508" y="963828"/>
            <a:ext cx="6252481" cy="5560540"/>
          </a:xfrm>
          <a:ln w="38100">
            <a:noFill/>
          </a:ln>
        </p:spPr>
        <p:txBody>
          <a:bodyPr>
            <a:normAutofit fontScale="92500" lnSpcReduction="20000"/>
          </a:bodyPr>
          <a:lstStyle/>
          <a:p>
            <a:pPr algn="just"/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HxD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heksadecimalni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otvaranje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PhysicalDrive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MBR-a 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isključivo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pokretanjem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privilegijama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MBR-u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Kreiranje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backup-a boot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vidljiva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File Explorer-u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ostaje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prisutan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Disk Management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reverzibilna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vraćanjem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Type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DE6080-DD89-48FB-86C6-798CAB0615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Sakrivanje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pomoću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HxD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71F8FF06-0CD7-FDC6-CBD3-003663319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324"/>
          <a:stretch>
            <a:fillRect/>
          </a:stretch>
        </p:blipFill>
        <p:spPr>
          <a:xfrm>
            <a:off x="7797114" y="1053895"/>
            <a:ext cx="3904734" cy="5145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C775B5-8973-8D4F-FF9C-81AF800B3309}"/>
              </a:ext>
            </a:extLst>
          </p:cNvPr>
          <p:cNvSpPr txBox="1"/>
          <p:nvPr/>
        </p:nvSpPr>
        <p:spPr>
          <a:xfrm>
            <a:off x="7797114" y="6199736"/>
            <a:ext cx="430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Prikaz sektora tvrdog diska u </a:t>
            </a:r>
            <a:r>
              <a:rPr lang="sr-Latn-C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HxD</a:t>
            </a:r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652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305F-BA28-88B9-2A74-6EFAA6B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4B45-4101-FAEF-75B2-E95675D3F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871" y="1049000"/>
            <a:ext cx="5181766" cy="5636004"/>
          </a:xfrm>
          <a:ln w="38100">
            <a:noFill/>
          </a:ln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Particiona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nalazi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(LBA 0)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definisano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polje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Promenom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vidljivost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0x07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NTFS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0x17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skrivena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NTFS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particija:</a:t>
            </a:r>
          </a:p>
          <a:p>
            <a:pPr marL="457200" lvl="1" indent="0">
              <a:buNone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0x0C → FAT32 LBA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0x1C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skrivena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FAT32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9F222F-7BA9-7356-DEB1-28A42FB47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Izmena Partition Type polja u MBR-u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6A545F-9C9B-9ECA-576E-E480B434126A}"/>
              </a:ext>
            </a:extLst>
          </p:cNvPr>
          <p:cNvGrpSpPr/>
          <p:nvPr/>
        </p:nvGrpSpPr>
        <p:grpSpPr>
          <a:xfrm>
            <a:off x="6289589" y="1049000"/>
            <a:ext cx="5111540" cy="5800423"/>
            <a:chOff x="6289589" y="1049000"/>
            <a:chExt cx="5111540" cy="5800423"/>
          </a:xfrm>
        </p:grpSpPr>
        <p:pic>
          <p:nvPicPr>
            <p:cNvPr id="5" name="drawing">
              <a:extLst>
                <a:ext uri="{FF2B5EF4-FFF2-40B4-BE49-F238E27FC236}">
                  <a16:creationId xmlns:a16="http://schemas.microsoft.com/office/drawing/2014/main" id="{71EA9FEF-F2F7-A277-A57C-380BBE5EF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" r="64820" b="16501"/>
            <a:stretch>
              <a:fillRect/>
            </a:stretch>
          </p:blipFill>
          <p:spPr>
            <a:xfrm>
              <a:off x="7688158" y="1049000"/>
              <a:ext cx="3712971" cy="4956384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E8E2847-BE66-FB49-F28D-9A169A6CA9D0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7543800" y="5128054"/>
              <a:ext cx="1254211" cy="10750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B2A4AF-D1AE-2861-A213-C868F749C1A2}"/>
                </a:ext>
              </a:extLst>
            </p:cNvPr>
            <p:cNvSpPr txBox="1"/>
            <p:nvPr/>
          </p:nvSpPr>
          <p:spPr>
            <a:xfrm>
              <a:off x="6289589" y="6203092"/>
              <a:ext cx="25084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sr-Latn-R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Heksadecimalni</a:t>
              </a:r>
              <a:r>
                <a:rPr lang="sr-Latn-R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kod za skrivenu NTFS particiju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50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D4E7-35C5-6BC2-FC25-BFFC200A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D7B7DE-0423-20F7-E0E4-9EE8A4B5A7B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Prikaz rezultata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884D08-425D-1AEF-B865-F96BC77FC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11"/>
          <a:stretch>
            <a:fillRect/>
          </a:stretch>
        </p:blipFill>
        <p:spPr>
          <a:xfrm>
            <a:off x="523101" y="1648989"/>
            <a:ext cx="5486400" cy="1628409"/>
          </a:xfrm>
          <a:prstGeom prst="rect">
            <a:avLst/>
          </a:prstGeom>
        </p:spPr>
      </p:pic>
      <p:pic>
        <p:nvPicPr>
          <p:cNvPr id="10" name="drawing">
            <a:extLst>
              <a:ext uri="{FF2B5EF4-FFF2-40B4-BE49-F238E27FC236}">
                <a16:creationId xmlns:a16="http://schemas.microsoft.com/office/drawing/2014/main" id="{EF7D54D3-40E2-1025-6A12-F5FA211D7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4611"/>
          <a:stretch>
            <a:fillRect/>
          </a:stretch>
        </p:blipFill>
        <p:spPr>
          <a:xfrm>
            <a:off x="6520248" y="1651230"/>
            <a:ext cx="5486400" cy="1626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FF301E-F5D9-7F16-7A92-B9598B9FF904}"/>
              </a:ext>
            </a:extLst>
          </p:cNvPr>
          <p:cNvSpPr txBox="1"/>
          <p:nvPr/>
        </p:nvSpPr>
        <p:spPr>
          <a:xfrm>
            <a:off x="1607405" y="945488"/>
            <a:ext cx="3317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Prikaz particija u File </a:t>
            </a:r>
            <a:r>
              <a:rPr lang="sr-Latn-C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Exploreru</a:t>
            </a:r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izvršenog postupka sakrivanja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6D1FD5-4FF5-333B-22F0-2FC5694BEFEB}"/>
              </a:ext>
            </a:extLst>
          </p:cNvPr>
          <p:cNvSpPr txBox="1"/>
          <p:nvPr/>
        </p:nvSpPr>
        <p:spPr>
          <a:xfrm>
            <a:off x="7406329" y="945488"/>
            <a:ext cx="3714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Prikaz particija u File </a:t>
            </a:r>
            <a:r>
              <a:rPr lang="sr-Latn-C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Exploreru</a:t>
            </a:r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nakon izvršenog postupka sakrivanja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drawing">
            <a:extLst>
              <a:ext uri="{FF2B5EF4-FFF2-40B4-BE49-F238E27FC236}">
                <a16:creationId xmlns:a16="http://schemas.microsoft.com/office/drawing/2014/main" id="{6D37607A-A2B1-D53E-C141-CA048368C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4200" y="4052626"/>
            <a:ext cx="5943600" cy="2114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7E5BFE-5A07-F8B0-3C9C-9242C92F28E0}"/>
              </a:ext>
            </a:extLst>
          </p:cNvPr>
          <p:cNvSpPr txBox="1"/>
          <p:nvPr/>
        </p:nvSpPr>
        <p:spPr>
          <a:xfrm>
            <a:off x="3358978" y="6271597"/>
            <a:ext cx="570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Prikaz particije u Disk Management alatu nakon sakrivanja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5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FC0A-0D40-414B-A8CE-0B3FA234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503680"/>
            <a:ext cx="11064240" cy="54254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razvijen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Microsoft Visual Studio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okruženju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Implementiran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programskom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jeziku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C/C++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(boot)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Kreira rezervnu kopiju MBR sektora pre svake izmene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Menja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tabeli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mora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pokrenut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privilegijama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\\.\PhysicalDrive1)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particionog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definišu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ručno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D61624-CDD8-4299-8D8C-282694EEF9F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PROGRAMSKA IMPLEMENTACIJA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9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75BE-FA7A-DC77-6FDB-CB1BD6B7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49440-89AB-E6BE-A624-8992FF56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503680"/>
            <a:ext cx="11064240" cy="5243109"/>
          </a:xfrm>
        </p:spPr>
        <p:txBody>
          <a:bodyPr/>
          <a:lstStyle/>
          <a:p>
            <a:pPr algn="just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CreateFile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Otvaranje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API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funkcije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Čitanje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(LBA 0)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fizičkog diska u memorijski bafer</a:t>
            </a:r>
          </a:p>
          <a:p>
            <a:pPr algn="just"/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SetFilePointerEx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Pozicioniranje na određeni sektor</a:t>
            </a:r>
          </a:p>
          <a:p>
            <a:pPr algn="just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BackupSector</a:t>
            </a:r>
            <a:r>
              <a:rPr lang="sr-Latn-R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Kreiranje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kopije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MBR-a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WriteSect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(0x07 → 0x17)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[450] = 0x17;  // NTFS → </a:t>
            </a:r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NTFS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izmenjenog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003969-4BC0-8DE5-E095-72D91B40D3B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 izvršavanja razvijenog programa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324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B347-2D1F-D470-689F-03CBD3AA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FDF20B-2787-735C-10C0-9B065BBBEA5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Prikaz rezultata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8BB91-AA86-3B89-0196-9F8A88E62369}"/>
              </a:ext>
            </a:extLst>
          </p:cNvPr>
          <p:cNvSpPr txBox="1"/>
          <p:nvPr/>
        </p:nvSpPr>
        <p:spPr>
          <a:xfrm>
            <a:off x="1607405" y="945488"/>
            <a:ext cx="3317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C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sektor pre sakrivanja particije (prikaz programa)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B19DA-D7EA-1758-635B-F97CE9BCA415}"/>
              </a:ext>
            </a:extLst>
          </p:cNvPr>
          <p:cNvSpPr txBox="1"/>
          <p:nvPr/>
        </p:nvSpPr>
        <p:spPr>
          <a:xfrm>
            <a:off x="8292539" y="922588"/>
            <a:ext cx="1941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C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sr-Latn-C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sektor nakon sakrivanja particije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E9F11674-4E2A-B699-9B3B-A2542CE05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4700" y="1591819"/>
            <a:ext cx="2743200" cy="5186312"/>
          </a:xfrm>
          <a:prstGeom prst="rect">
            <a:avLst/>
          </a:prstGeom>
        </p:spPr>
      </p:pic>
      <p:pic>
        <p:nvPicPr>
          <p:cNvPr id="3" name="drawing">
            <a:extLst>
              <a:ext uri="{FF2B5EF4-FFF2-40B4-BE49-F238E27FC236}">
                <a16:creationId xmlns:a16="http://schemas.microsoft.com/office/drawing/2014/main" id="{913769E2-10D3-F875-CC44-C3598FC917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7037" b="14448"/>
          <a:stretch>
            <a:fillRect/>
          </a:stretch>
        </p:blipFill>
        <p:spPr>
          <a:xfrm>
            <a:off x="8026859" y="1617746"/>
            <a:ext cx="2473176" cy="518464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6C41EE-3467-0F6B-367C-34B36F4A1BD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549978" y="5782962"/>
            <a:ext cx="742561" cy="640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F058AC-73B2-DEB0-8D55-0FFEDAE32E94}"/>
              </a:ext>
            </a:extLst>
          </p:cNvPr>
          <p:cNvSpPr txBox="1"/>
          <p:nvPr/>
        </p:nvSpPr>
        <p:spPr>
          <a:xfrm>
            <a:off x="5889593" y="5962135"/>
            <a:ext cx="1660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Heksadecimalni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kod za skrivenu NTFS particiju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900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4A7B-5B85-FF34-28C9-3E4D5676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DD5E-9454-908E-9B29-01C2DB1FA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503680"/>
            <a:ext cx="11064240" cy="542544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MBR-u 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tehnički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ispravna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Savremeni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(7, 10, 11)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dodatne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bezbednosne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mehanizme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ignoriše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“hidden” flag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removable media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uređajima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FAT/FAT32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uređajima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automatski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montiraju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tretiraju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zavisnosti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uređaja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potvrđeno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testiranjem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okruženja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57FD75-8981-974C-888B-1206EAB3107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OGRANIČENJA i ponašanje </a:t>
            </a:r>
            <a:r>
              <a:rPr lang="sr-Latn-RS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</a:t>
            </a:r>
            <a:endParaRPr 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7120F5-21F7-7014-7872-A9BC8BB2C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840720"/>
              </p:ext>
            </p:extLst>
          </p:nvPr>
        </p:nvGraphicFramePr>
        <p:xfrm>
          <a:off x="4261669" y="5101709"/>
          <a:ext cx="3668661" cy="1403867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1615123">
                  <a:extLst>
                    <a:ext uri="{9D8B030D-6E8A-4147-A177-3AD203B41FA5}">
                      <a16:colId xmlns:a16="http://schemas.microsoft.com/office/drawing/2014/main" val="815980451"/>
                    </a:ext>
                  </a:extLst>
                </a:gridCol>
                <a:gridCol w="2053538">
                  <a:extLst>
                    <a:ext uri="{9D8B030D-6E8A-4147-A177-3AD203B41FA5}">
                      <a16:colId xmlns:a16="http://schemas.microsoft.com/office/drawing/2014/main" val="3245439884"/>
                    </a:ext>
                  </a:extLst>
                </a:gridCol>
              </a:tblGrid>
              <a:tr h="2594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Latn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Datotečni</a:t>
                      </a: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sistem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Ponašanje u Windows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0975832"/>
                  </a:ext>
                </a:extLst>
              </a:tr>
              <a:tr h="4997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FAT/FAT32 (USB)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Latn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Hidden</a:t>
                      </a: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Latn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</a:t>
                      </a: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 ignoriše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7674668"/>
                  </a:ext>
                </a:extLst>
              </a:tr>
              <a:tr h="644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NTFS (</a:t>
                      </a:r>
                      <a:r>
                        <a:rPr lang="sr-Latn-RS" sz="12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external</a:t>
                      </a: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HDD)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r-Latn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Hidden</a:t>
                      </a: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r-Latn-R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</a:t>
                      </a:r>
                      <a:r>
                        <a:rPr lang="sr-Latn-R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 poštuje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336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474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9986C-D7E9-43BA-A27A-35F61081C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292" y="1658142"/>
            <a:ext cx="11162348" cy="4966177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predstavlja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uređaja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datotečnog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istema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Savremeni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operativni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ograničavaju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tehnike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fiksnim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eksternim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diskovima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drugačije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tretiraju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FAT/FAT32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Razumevanje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njegove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operativnog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predstavlja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forenzike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0B8DAD-57C7-4720-A9B3-BE105D01554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7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ZAKLJUČAK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39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118B-83D0-02A4-7B6E-969A114E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9087-B808-F3C0-7B7C-2AC0CC7CB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04441"/>
            <a:ext cx="12192000" cy="117347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Forenzika</a:t>
            </a: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sz="5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medijuma</a:t>
            </a:r>
            <a:br>
              <a:rPr lang="sr-Latn-R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sr-Latn-R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</a:t>
            </a:r>
            <a:r>
              <a:rPr lang="sr-Latn-R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pristup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podacima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sakrivanje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particije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9791F55-CB3B-A4F9-B247-6D1DCD6EF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4" y="4831398"/>
            <a:ext cx="11341736" cy="185388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Profesor: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tudent: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BRATISLAV PREDIĆ						dušica milanović</a:t>
            </a:r>
          </a:p>
          <a:p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br.indeksa: 2128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99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423</TotalTime>
  <Words>3891</Words>
  <Application>Microsoft Office PowerPoint</Application>
  <PresentationFormat>Widescreen</PresentationFormat>
  <Paragraphs>334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Tw Cen MT</vt:lpstr>
      <vt:lpstr>Circuit</vt:lpstr>
      <vt:lpstr>Forenzika storage medijuma  RAW pristup podacima i sakrivanje particije</vt:lpstr>
      <vt:lpstr>Sadržaj prezentacije:</vt:lpstr>
      <vt:lpstr>1. TEMA SEMINARSKOG RADA:</vt:lpstr>
      <vt:lpstr>RAW PRISTUP PODACIMA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Forenzika storage medijuma  RAW pristup podacima i sakrivanje particije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PacketTracer u dokeru</dc:title>
  <dc:creator>Dusica Milanovic</dc:creator>
  <cp:lastModifiedBy>Dusica Trajkovic</cp:lastModifiedBy>
  <cp:revision>50</cp:revision>
  <dcterms:created xsi:type="dcterms:W3CDTF">2020-03-20T22:46:27Z</dcterms:created>
  <dcterms:modified xsi:type="dcterms:W3CDTF">2026-02-28T22:38:55Z</dcterms:modified>
</cp:coreProperties>
</file>